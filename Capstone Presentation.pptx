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3" r:id="rId8"/>
    <p:sldId id="265" r:id="rId9"/>
    <p:sldId id="258" r:id="rId10"/>
    <p:sldId id="257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7FDC1-69D3-D0CE-A637-9CE362028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435320-D473-28A9-CE8A-81D201663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39D32-6EC3-8693-B1CE-A2A52E38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2A813-3785-DF6D-5DC8-710A9D59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923A50-DF4E-C9F5-20F4-9B83746B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5951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47F67-BF47-7019-F8C6-53700305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96BBDD-123E-A13C-BD97-E96273DAF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77460C-9B49-C0AB-1235-C0CCEBC3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B881E6-D6D4-6AD0-6025-89E7441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440A31-FC45-D650-4D28-08AED495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581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8B5B1-739C-FA68-0485-5DF00774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9D35F9-3D84-4819-D7D8-03479D49F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A14741-70A8-E092-CAB2-AF2F1C97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344367-7511-91FB-827F-B6DC1F78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2394B0-1FC0-2576-AE38-B6D82B20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355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DD4E5-9A09-9450-4193-39DA647A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52607F-2CD6-CB64-9636-69E90137A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A3F5C-B575-9350-E94E-50AF5490E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EB8F6F-E0EC-541D-C514-4736E45CC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8A414A-10AD-7F37-B69C-6AFE50737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225365-4197-6FBB-671E-C854FBB4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8640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7AD1AD-29F6-4BA1-9FE9-DEE7C5FF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1C2409-D963-C485-E461-B5C0B9AD6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C3EE5B-B8AA-2F2E-183C-9D70706CB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652BE5-80FF-1060-10E4-2A1950160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5A01EF-089F-94D9-91BA-9B6D7DC6D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E688D6-4E60-156C-E79D-DDB0D7D0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AB7CDEB-B41F-CF7B-E48D-9AE90AF9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B94838F-390A-F0CB-9FDF-624B8E50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026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15683-BFC3-9FEE-5C6F-C3DDC251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F13953-1FD9-B66B-182A-7990DEB3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E867A0-6A57-8762-3F85-ECD05F6A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833AFA-C597-8725-627D-B914BC56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9305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E19470-376A-1D48-E3D0-12AC67B8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E2EB31-1655-0D1C-506C-E3AC2272F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A3F83D-A5D7-82F7-3E7D-C87F22B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9469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148AD-8713-91BF-F531-CCA2751CA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667F8D-7671-17FE-D0EC-61A5175BF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A2E36D-2843-E073-D350-2C04BE942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A7BC57-A121-3AFD-8ED9-BED84DE3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03AB0C-3EC4-45FF-23DE-D6C92D62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AB3811-FB64-62F5-11BD-6F98658E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5467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DF52C-8DC6-CB10-CC24-0029AC70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AB179CA-00F9-73CE-048D-C29A7F74C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D2EBEC-3ABA-AAC6-738C-05644538F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8CA33A-4936-1EFE-B81D-DD08BCAA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D2B643-F7B1-37F0-8EAF-C0E94BFB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01ED47-2F6C-48F6-A068-0EE5C82B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8880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96B778-C0FC-581E-54E5-B4DF7859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DE63D4-1F7F-67FA-5CA5-72BA05FAB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6097D6-9A10-6D5E-F217-16DB8E21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0B7EBE-0021-F9EE-8B7D-FC7C9299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E31D10-76EB-5002-511B-881C6D67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12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896D22A-C57B-4F91-30CE-9266381C6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5BEA0A-3751-E473-D49F-FAD186B13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B3CB48-BEE2-6D0E-8949-73A931AC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6C87A1-E748-A1EE-6648-1365439A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27B83F-B5D2-9E84-3970-3E26881D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346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714EB5-68B6-3C25-10D2-E7C9498D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A020C3-1CAD-D5A8-56DF-757E81A5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F32AA1-070C-D317-5AE0-071CD594F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A2A49-CCDC-4D72-BC24-98430E0D28A5}" type="datetimeFigureOut">
              <a:rPr lang="de-AT" smtClean="0"/>
              <a:t>23.09.2025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B8CC4B-BE73-F1F3-36FD-92FAB2B13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8EAB7D-B6E6-06A8-6CF7-CE31325D2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96713-922B-40F6-898C-F9E27CD48C1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2579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E801562-EFBD-984B-B494-8A77D03E684B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8423C52-511E-3835-6573-75350097D578}"/>
              </a:ext>
            </a:extLst>
          </p:cNvPr>
          <p:cNvSpPr txBox="1"/>
          <p:nvPr/>
        </p:nvSpPr>
        <p:spPr>
          <a:xfrm>
            <a:off x="377371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b="1" dirty="0"/>
              <a:t>Phase 1: Exploration &amp; Development (.</a:t>
            </a:r>
            <a:r>
              <a:rPr lang="de-AT" b="1" dirty="0" err="1"/>
              <a:t>ipynb</a:t>
            </a:r>
            <a:r>
              <a:rPr lang="de-AT" b="1" dirty="0"/>
              <a:t>)</a:t>
            </a:r>
          </a:p>
          <a:p>
            <a:pPr>
              <a:buNone/>
            </a:pPr>
            <a:r>
              <a:rPr lang="de-AT" dirty="0"/>
              <a:t>✓ </a:t>
            </a:r>
            <a:r>
              <a:rPr lang="de-AT" b="1" dirty="0"/>
              <a:t>Data Ingestion</a:t>
            </a:r>
            <a:r>
              <a:rPr lang="de-AT" dirty="0"/>
              <a:t> (ja, korrekter Begriff!) - Datenquellen klären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EDA</a:t>
            </a:r>
            <a:r>
              <a:rPr lang="de-AT" dirty="0"/>
              <a:t> - Verstehen der Daten, </a:t>
            </a:r>
            <a:r>
              <a:rPr lang="de-AT" dirty="0" err="1"/>
              <a:t>Outliers</a:t>
            </a:r>
            <a:r>
              <a:rPr lang="de-AT" dirty="0"/>
              <a:t>, Verteilungen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Feature Engineering</a:t>
            </a:r>
            <a:r>
              <a:rPr lang="de-AT" dirty="0"/>
              <a:t> - Experimentieren mit Transformationen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Model Building</a:t>
            </a:r>
            <a:r>
              <a:rPr lang="de-AT" dirty="0"/>
              <a:t> - Verschiedene Algorithmen testen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Hyperparameter Tuning</a:t>
            </a:r>
            <a:r>
              <a:rPr lang="de-AT" dirty="0"/>
              <a:t> - </a:t>
            </a:r>
            <a:r>
              <a:rPr lang="de-AT" dirty="0" err="1"/>
              <a:t>GridSearch</a:t>
            </a:r>
            <a:r>
              <a:rPr lang="de-AT" dirty="0"/>
              <a:t>, </a:t>
            </a:r>
            <a:r>
              <a:rPr lang="de-AT" dirty="0" err="1"/>
              <a:t>RandomSearch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Cross Validation</a:t>
            </a:r>
            <a:r>
              <a:rPr lang="de-AT" dirty="0"/>
              <a:t> - Robustheit prüfen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Model </a:t>
            </a:r>
            <a:r>
              <a:rPr lang="de-AT" b="1" dirty="0" err="1"/>
              <a:t>Calibration</a:t>
            </a:r>
            <a:r>
              <a:rPr lang="de-AT" dirty="0"/>
              <a:t> - Finale Performance-Optimierung</a:t>
            </a:r>
          </a:p>
          <a:p>
            <a:pPr>
              <a:buNone/>
            </a:pPr>
            <a:r>
              <a:rPr lang="de-AT" b="1" dirty="0"/>
              <a:t>Phase 2: </a:t>
            </a:r>
            <a:r>
              <a:rPr lang="de-AT" b="1" dirty="0" err="1"/>
              <a:t>Production</a:t>
            </a:r>
            <a:r>
              <a:rPr lang="de-AT" b="1" dirty="0"/>
              <a:t> (.</a:t>
            </a:r>
            <a:r>
              <a:rPr lang="de-AT" b="1" dirty="0" err="1"/>
              <a:t>py</a:t>
            </a:r>
            <a:r>
              <a:rPr lang="de-AT" b="1" dirty="0"/>
              <a:t> Files)</a:t>
            </a:r>
          </a:p>
          <a:p>
            <a:pPr>
              <a:buNone/>
            </a:pPr>
            <a:r>
              <a:rPr lang="de-AT" dirty="0"/>
              <a:t>✓ </a:t>
            </a:r>
            <a:r>
              <a:rPr lang="de-AT" b="1" dirty="0" err="1"/>
              <a:t>Codifizierung</a:t>
            </a:r>
            <a:r>
              <a:rPr lang="de-AT" dirty="0"/>
              <a:t> der besten Lösungen aus Phase 1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Automatisierung</a:t>
            </a:r>
            <a:r>
              <a:rPr lang="de-AT" dirty="0"/>
              <a:t> des finalen Workflows</a:t>
            </a:r>
            <a:br>
              <a:rPr lang="de-AT" dirty="0"/>
            </a:br>
            <a:r>
              <a:rPr lang="de-AT" dirty="0"/>
              <a:t>✓ </a:t>
            </a:r>
            <a:r>
              <a:rPr lang="de-AT" b="1" dirty="0"/>
              <a:t>Reproduzierbarkeit</a:t>
            </a:r>
            <a:r>
              <a:rPr lang="de-AT" dirty="0"/>
              <a:t> für neue Daten</a:t>
            </a:r>
          </a:p>
        </p:txBody>
      </p:sp>
    </p:spTree>
    <p:extLst>
      <p:ext uri="{BB962C8B-B14F-4D97-AF65-F5344CB8AC3E}">
        <p14:creationId xmlns:p14="http://schemas.microsoft.com/office/powerpoint/2010/main" val="234331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51FF6-3FF5-83BA-8F2C-217CE81B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BFBC00D-23B6-215F-742B-040F2E70A4ED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EDC0D91-993E-91BE-9A08-14809E5C0439}"/>
              </a:ext>
            </a:extLst>
          </p:cNvPr>
          <p:cNvSpPr txBox="1"/>
          <p:nvPr/>
        </p:nvSpPr>
        <p:spPr>
          <a:xfrm>
            <a:off x="377370" y="1443841"/>
            <a:ext cx="111820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b="1" dirty="0"/>
              <a:t>🗂️  ROHE CSV-DATEIEN (2015-2025)</a:t>
            </a:r>
          </a:p>
          <a:p>
            <a:pPr>
              <a:buNone/>
            </a:pPr>
            <a:r>
              <a:rPr lang="de-AT" b="1" dirty="0"/>
              <a:t>│   ├─ Day </a:t>
            </a:r>
            <a:r>
              <a:rPr lang="de-AT" b="1" dirty="0" err="1"/>
              <a:t>Ahead</a:t>
            </a:r>
            <a:r>
              <a:rPr lang="de-AT" b="1" dirty="0"/>
              <a:t> Preise_M15_2015_English.csv</a:t>
            </a:r>
          </a:p>
          <a:p>
            <a:pPr>
              <a:buNone/>
            </a:pPr>
            <a:r>
              <a:rPr lang="de-AT" b="1" dirty="0"/>
              <a:t>│   ├─ Day </a:t>
            </a:r>
            <a:r>
              <a:rPr lang="de-AT" b="1" dirty="0" err="1"/>
              <a:t>Ahead</a:t>
            </a:r>
            <a:r>
              <a:rPr lang="de-AT" b="1" dirty="0"/>
              <a:t> Preise_M15_2016_English.csv</a:t>
            </a:r>
          </a:p>
          <a:p>
            <a:pPr>
              <a:buNone/>
            </a:pPr>
            <a:r>
              <a:rPr lang="de-AT" b="1" dirty="0"/>
              <a:t>│   ├─ ...</a:t>
            </a:r>
          </a:p>
          <a:p>
            <a:pPr>
              <a:buNone/>
            </a:pPr>
            <a:r>
              <a:rPr lang="de-AT" b="1" dirty="0"/>
              <a:t>│   └─ Day </a:t>
            </a:r>
            <a:r>
              <a:rPr lang="de-AT" b="1" dirty="0" err="1"/>
              <a:t>Ahead</a:t>
            </a:r>
            <a:r>
              <a:rPr lang="de-AT" b="1" dirty="0"/>
              <a:t> Preise_M15_2025_English.csv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│   Struktur: [Time </a:t>
            </a:r>
            <a:r>
              <a:rPr lang="de-AT" b="1" dirty="0" err="1"/>
              <a:t>from</a:t>
            </a:r>
            <a:r>
              <a:rPr lang="de-AT" b="1" dirty="0"/>
              <a:t> | EXAA Austria EUR/MWh | MC </a:t>
            </a:r>
            <a:r>
              <a:rPr lang="de-AT" b="1" dirty="0" err="1"/>
              <a:t>Auction</a:t>
            </a:r>
            <a:r>
              <a:rPr lang="de-AT" b="1" dirty="0"/>
              <a:t> Austria EUR/MWh | ...]</a:t>
            </a:r>
          </a:p>
          <a:p>
            <a:pPr>
              <a:buNone/>
            </a:pPr>
            <a:r>
              <a:rPr lang="de-AT" b="1" dirty="0"/>
              <a:t>│   Problem: Inkonsistente Spalten, verschiedene Encodings, Mixed </a:t>
            </a:r>
            <a:r>
              <a:rPr lang="de-AT" b="1" dirty="0" err="1"/>
              <a:t>Missing</a:t>
            </a:r>
            <a:r>
              <a:rPr lang="de-AT" b="1" dirty="0"/>
              <a:t> Values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▼ [</a:t>
            </a:r>
            <a:r>
              <a:rPr lang="de-AT" b="1" dirty="0" err="1"/>
              <a:t>discover_electricity_files</a:t>
            </a:r>
            <a:r>
              <a:rPr lang="de-AT" b="1" dirty="0"/>
              <a:t>()]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📋 FILE INFO LIST</a:t>
            </a:r>
          </a:p>
          <a:p>
            <a:pPr>
              <a:buNone/>
            </a:pPr>
            <a:r>
              <a:rPr lang="de-AT" b="1" dirty="0"/>
              <a:t>│   [{'</a:t>
            </a:r>
            <a:r>
              <a:rPr lang="de-AT" b="1" dirty="0" err="1"/>
              <a:t>year</a:t>
            </a:r>
            <a:r>
              <a:rPr lang="de-AT" b="1" dirty="0"/>
              <a:t>': 2015, '</a:t>
            </a:r>
            <a:r>
              <a:rPr lang="de-AT" b="1" dirty="0" err="1"/>
              <a:t>filename</a:t>
            </a:r>
            <a:r>
              <a:rPr lang="de-AT" b="1" dirty="0"/>
              <a:t>': '...', '</a:t>
            </a:r>
            <a:r>
              <a:rPr lang="de-AT" b="1" dirty="0" err="1"/>
              <a:t>path</a:t>
            </a:r>
            <a:r>
              <a:rPr lang="de-AT" b="1" dirty="0"/>
              <a:t>': '...'}, </a:t>
            </a:r>
          </a:p>
          <a:p>
            <a:pPr>
              <a:buNone/>
            </a:pPr>
            <a:r>
              <a:rPr lang="de-AT" b="1" dirty="0"/>
              <a:t>│    {'</a:t>
            </a:r>
            <a:r>
              <a:rPr lang="de-AT" b="1" dirty="0" err="1"/>
              <a:t>year</a:t>
            </a:r>
            <a:r>
              <a:rPr lang="de-AT" b="1" dirty="0"/>
              <a:t>': 2016, '</a:t>
            </a:r>
            <a:r>
              <a:rPr lang="de-AT" b="1" dirty="0" err="1"/>
              <a:t>filename</a:t>
            </a:r>
            <a:r>
              <a:rPr lang="de-AT" b="1" dirty="0"/>
              <a:t>': '...', '</a:t>
            </a:r>
            <a:r>
              <a:rPr lang="de-AT" b="1" dirty="0" err="1"/>
              <a:t>path</a:t>
            </a:r>
            <a:r>
              <a:rPr lang="de-AT" b="1" dirty="0"/>
              <a:t>': '...'}, ...]</a:t>
            </a:r>
          </a:p>
          <a:p>
            <a:pPr>
              <a:buNone/>
            </a:pPr>
            <a:r>
              <a:rPr lang="de-AT" b="1" dirty="0"/>
              <a:t>│</a:t>
            </a:r>
          </a:p>
        </p:txBody>
      </p:sp>
    </p:spTree>
    <p:extLst>
      <p:ext uri="{BB962C8B-B14F-4D97-AF65-F5344CB8AC3E}">
        <p14:creationId xmlns:p14="http://schemas.microsoft.com/office/powerpoint/2010/main" val="366783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CB4B4-45C3-7C8D-76CF-41FEB2E9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844C6D7-048B-45BD-B2E9-4BCCFE49255B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1080BB5-9E02-6092-8971-6BDB31311864}"/>
              </a:ext>
            </a:extLst>
          </p:cNvPr>
          <p:cNvSpPr txBox="1"/>
          <p:nvPr/>
        </p:nvSpPr>
        <p:spPr>
          <a:xfrm>
            <a:off x="873425" y="1425280"/>
            <a:ext cx="99872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b="1" dirty="0"/>
              <a:t>▼ [</a:t>
            </a:r>
            <a:r>
              <a:rPr lang="de-AT" b="1" dirty="0" err="1"/>
              <a:t>load_all_electricity_files</a:t>
            </a:r>
            <a:r>
              <a:rPr lang="de-AT" b="1" dirty="0"/>
              <a:t>()]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🧹 LOADED FILES DICT (pro Jahr)</a:t>
            </a:r>
          </a:p>
          <a:p>
            <a:pPr>
              <a:buNone/>
            </a:pPr>
            <a:r>
              <a:rPr lang="de-AT" b="1" dirty="0"/>
              <a:t>│   {2015: (</a:t>
            </a:r>
            <a:r>
              <a:rPr lang="de-AT" b="1" dirty="0" err="1"/>
              <a:t>df_clean</a:t>
            </a:r>
            <a:r>
              <a:rPr lang="de-AT" b="1" dirty="0"/>
              <a:t>, </a:t>
            </a:r>
            <a:r>
              <a:rPr lang="de-AT" b="1" dirty="0" err="1"/>
              <a:t>metadata</a:t>
            </a:r>
            <a:r>
              <a:rPr lang="de-AT" b="1" dirty="0"/>
              <a:t>),</a:t>
            </a:r>
          </a:p>
          <a:p>
            <a:pPr>
              <a:buNone/>
            </a:pPr>
            <a:r>
              <a:rPr lang="de-AT" b="1" dirty="0"/>
              <a:t>│    2016: (</a:t>
            </a:r>
            <a:r>
              <a:rPr lang="de-AT" b="1" dirty="0" err="1"/>
              <a:t>df_clean</a:t>
            </a:r>
            <a:r>
              <a:rPr lang="de-AT" b="1" dirty="0"/>
              <a:t>, </a:t>
            </a:r>
            <a:r>
              <a:rPr lang="de-AT" b="1" dirty="0" err="1"/>
              <a:t>metadata</a:t>
            </a:r>
            <a:r>
              <a:rPr lang="de-AT" b="1" dirty="0"/>
              <a:t>), ...}</a:t>
            </a:r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Transformationen:</a:t>
            </a:r>
          </a:p>
          <a:p>
            <a:pPr>
              <a:buNone/>
            </a:pPr>
            <a:r>
              <a:rPr lang="de-AT" b="1" dirty="0"/>
              <a:t>│   ├─ UTF-8/cp1252 Encoding </a:t>
            </a:r>
            <a:r>
              <a:rPr lang="de-AT" b="1" dirty="0" err="1"/>
              <a:t>Fallback</a:t>
            </a:r>
            <a:endParaRPr lang="de-AT" b="1" dirty="0"/>
          </a:p>
          <a:p>
            <a:pPr>
              <a:buNone/>
            </a:pPr>
            <a:r>
              <a:rPr lang="de-AT" b="1" dirty="0"/>
              <a:t>│   ├─ </a:t>
            </a:r>
            <a:r>
              <a:rPr lang="de-AT" b="1" dirty="0" err="1"/>
              <a:t>standardize_missing_values</a:t>
            </a:r>
            <a:r>
              <a:rPr lang="de-AT" b="1" dirty="0"/>
              <a:t>() → </a:t>
            </a:r>
            <a:r>
              <a:rPr lang="de-AT" b="1" dirty="0" err="1"/>
              <a:t>NaN</a:t>
            </a:r>
            <a:r>
              <a:rPr lang="de-AT" b="1" dirty="0"/>
              <a:t> Standardisierung</a:t>
            </a:r>
          </a:p>
          <a:p>
            <a:pPr>
              <a:buNone/>
            </a:pPr>
            <a:r>
              <a:rPr lang="de-AT" b="1" dirty="0"/>
              <a:t>│   ├─ </a:t>
            </a:r>
            <a:r>
              <a:rPr lang="de-AT" b="1" dirty="0" err="1"/>
              <a:t>pd.to_datetime</a:t>
            </a:r>
            <a:r>
              <a:rPr lang="de-AT" b="1" dirty="0"/>
              <a:t>() → Zeit-Spalten konvertiert</a:t>
            </a:r>
          </a:p>
          <a:p>
            <a:pPr>
              <a:buNone/>
            </a:pPr>
            <a:r>
              <a:rPr lang="de-AT" b="1" dirty="0"/>
              <a:t>│   └─ Metadaten extrahiert (</a:t>
            </a:r>
            <a:r>
              <a:rPr lang="de-AT" b="1" dirty="0" err="1"/>
              <a:t>rows</a:t>
            </a:r>
            <a:r>
              <a:rPr lang="de-AT" b="1" dirty="0"/>
              <a:t>, </a:t>
            </a:r>
            <a:r>
              <a:rPr lang="de-AT" b="1" dirty="0" err="1"/>
              <a:t>columns</a:t>
            </a:r>
            <a:r>
              <a:rPr lang="de-AT" b="1" dirty="0"/>
              <a:t>, </a:t>
            </a:r>
            <a:r>
              <a:rPr lang="de-AT" b="1" dirty="0" err="1"/>
              <a:t>price_columns</a:t>
            </a:r>
            <a:r>
              <a:rPr lang="de-AT" b="1" dirty="0"/>
              <a:t>, </a:t>
            </a:r>
            <a:r>
              <a:rPr lang="de-AT" b="1" dirty="0" err="1"/>
              <a:t>date_range</a:t>
            </a:r>
            <a:r>
              <a:rPr lang="de-AT" b="1" dirty="0"/>
              <a:t>)</a:t>
            </a:r>
          </a:p>
          <a:p>
            <a:pPr>
              <a:buNone/>
            </a:pPr>
            <a:r>
              <a:rPr lang="de-AT" b="1" dirty="0"/>
              <a:t>│</a:t>
            </a:r>
          </a:p>
        </p:txBody>
      </p:sp>
    </p:spTree>
    <p:extLst>
      <p:ext uri="{BB962C8B-B14F-4D97-AF65-F5344CB8AC3E}">
        <p14:creationId xmlns:p14="http://schemas.microsoft.com/office/powerpoint/2010/main" val="242424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770BB-7FB2-556A-1823-63605A48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9E68B1-4321-571E-388C-C81A84AE1FA1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3CB4B86-8570-5EEC-F63E-45A31BD12600}"/>
              </a:ext>
            </a:extLst>
          </p:cNvPr>
          <p:cNvSpPr txBox="1"/>
          <p:nvPr/>
        </p:nvSpPr>
        <p:spPr>
          <a:xfrm>
            <a:off x="873425" y="1425280"/>
            <a:ext cx="99872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b="1" dirty="0"/>
              <a:t>▼ [</a:t>
            </a:r>
            <a:r>
              <a:rPr lang="de-AT" b="1" dirty="0" err="1"/>
              <a:t>extract_hybrid_price_columns</a:t>
            </a:r>
            <a:r>
              <a:rPr lang="de-AT" b="1" dirty="0"/>
              <a:t>()]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📊 PROCESSED FILES DICT (standardisierte Preise)</a:t>
            </a:r>
          </a:p>
          <a:p>
            <a:pPr>
              <a:buNone/>
            </a:pPr>
            <a:r>
              <a:rPr lang="de-AT" b="1" dirty="0"/>
              <a:t>│   {2015: </a:t>
            </a:r>
            <a:r>
              <a:rPr lang="de-AT" b="1" dirty="0" err="1"/>
              <a:t>df_prices</a:t>
            </a:r>
            <a:r>
              <a:rPr lang="de-AT" b="1" dirty="0"/>
              <a:t>, 2016: </a:t>
            </a:r>
            <a:r>
              <a:rPr lang="de-AT" b="1" dirty="0" err="1"/>
              <a:t>df_prices</a:t>
            </a:r>
            <a:r>
              <a:rPr lang="de-AT" b="1" dirty="0"/>
              <a:t>, ...}</a:t>
            </a:r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Struktur pro Jahr: [</a:t>
            </a:r>
            <a:r>
              <a:rPr lang="de-AT" b="1" dirty="0" err="1"/>
              <a:t>timestamp</a:t>
            </a:r>
            <a:r>
              <a:rPr lang="de-AT" b="1" dirty="0"/>
              <a:t> | </a:t>
            </a:r>
            <a:r>
              <a:rPr lang="de-AT" b="1" dirty="0" err="1"/>
              <a:t>price_exaa_raw</a:t>
            </a:r>
            <a:r>
              <a:rPr lang="de-AT" b="1" dirty="0"/>
              <a:t> | </a:t>
            </a:r>
            <a:r>
              <a:rPr lang="de-AT" b="1" dirty="0" err="1"/>
              <a:t>price_mc_raw</a:t>
            </a:r>
            <a:r>
              <a:rPr lang="de-AT" b="1" dirty="0"/>
              <a:t>]</a:t>
            </a:r>
          </a:p>
          <a:p>
            <a:pPr>
              <a:buNone/>
            </a:pPr>
            <a:r>
              <a:rPr lang="de-AT" b="1" dirty="0"/>
              <a:t>│   ├─ 2015-2022: </a:t>
            </a:r>
            <a:r>
              <a:rPr lang="de-AT" b="1" dirty="0" err="1"/>
              <a:t>price_exaa_raw</a:t>
            </a:r>
            <a:r>
              <a:rPr lang="de-AT" b="1" dirty="0"/>
              <a:t> gefüllt, </a:t>
            </a:r>
            <a:r>
              <a:rPr lang="de-AT" b="1" dirty="0" err="1"/>
              <a:t>price_mc_raw</a:t>
            </a:r>
            <a:r>
              <a:rPr lang="de-AT" b="1" dirty="0"/>
              <a:t> = </a:t>
            </a:r>
            <a:r>
              <a:rPr lang="de-AT" b="1" dirty="0" err="1"/>
              <a:t>NaN</a:t>
            </a:r>
            <a:endParaRPr lang="de-AT" b="1" dirty="0"/>
          </a:p>
          <a:p>
            <a:pPr>
              <a:buNone/>
            </a:pPr>
            <a:r>
              <a:rPr lang="de-AT" b="1" dirty="0"/>
              <a:t>│   ├─ 2020-2022: Beide gefüllt (Überlappungsperiode)</a:t>
            </a:r>
          </a:p>
          <a:p>
            <a:pPr>
              <a:buNone/>
            </a:pPr>
            <a:r>
              <a:rPr lang="de-AT" b="1" dirty="0"/>
              <a:t>│   └─ 2023-2025: </a:t>
            </a:r>
            <a:r>
              <a:rPr lang="de-AT" b="1" dirty="0" err="1"/>
              <a:t>price_exaa_raw</a:t>
            </a:r>
            <a:r>
              <a:rPr lang="de-AT" b="1" dirty="0"/>
              <a:t> = </a:t>
            </a:r>
            <a:r>
              <a:rPr lang="de-AT" b="1" dirty="0" err="1"/>
              <a:t>NaN</a:t>
            </a:r>
            <a:r>
              <a:rPr lang="de-AT" b="1" dirty="0"/>
              <a:t>, </a:t>
            </a:r>
            <a:r>
              <a:rPr lang="de-AT" b="1" dirty="0" err="1"/>
              <a:t>price_mc_raw</a:t>
            </a:r>
            <a:r>
              <a:rPr lang="de-AT" b="1" dirty="0"/>
              <a:t> gefüllt</a:t>
            </a:r>
          </a:p>
          <a:p>
            <a:pPr>
              <a:buNone/>
            </a:pPr>
            <a:r>
              <a:rPr lang="de-AT" b="1" dirty="0"/>
              <a:t>│</a:t>
            </a:r>
          </a:p>
        </p:txBody>
      </p:sp>
    </p:spTree>
    <p:extLst>
      <p:ext uri="{BB962C8B-B14F-4D97-AF65-F5344CB8AC3E}">
        <p14:creationId xmlns:p14="http://schemas.microsoft.com/office/powerpoint/2010/main" val="33718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84BC-3E57-87DC-9874-F1A6BCBB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A31AEAE-B297-5B6C-6ACD-3898ACED87EF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1D868F9-AF5A-8EBC-CB2E-593C7AD217DA}"/>
              </a:ext>
            </a:extLst>
          </p:cNvPr>
          <p:cNvSpPr txBox="1"/>
          <p:nvPr/>
        </p:nvSpPr>
        <p:spPr>
          <a:xfrm>
            <a:off x="873425" y="1425280"/>
            <a:ext cx="99872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b="1" dirty="0"/>
              <a:t>▼ [</a:t>
            </a:r>
            <a:r>
              <a:rPr lang="de-AT" b="1" dirty="0" err="1"/>
              <a:t>create_time_aggregations</a:t>
            </a:r>
            <a:r>
              <a:rPr lang="de-AT" b="1" dirty="0"/>
              <a:t>()]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📈 AGGREGATED FILES DICT (3 Zeitebenen pro Jahr)</a:t>
            </a:r>
          </a:p>
          <a:p>
            <a:pPr>
              <a:buNone/>
            </a:pPr>
            <a:r>
              <a:rPr lang="de-AT" b="1" dirty="0"/>
              <a:t>│   {2015: {'</a:t>
            </a:r>
            <a:r>
              <a:rPr lang="de-AT" b="1" dirty="0" err="1"/>
              <a:t>daily</a:t>
            </a:r>
            <a:r>
              <a:rPr lang="de-AT" b="1" dirty="0"/>
              <a:t>': </a:t>
            </a:r>
            <a:r>
              <a:rPr lang="de-AT" b="1" dirty="0" err="1"/>
              <a:t>df_daily</a:t>
            </a:r>
            <a:r>
              <a:rPr lang="de-AT" b="1" dirty="0"/>
              <a:t>, '</a:t>
            </a:r>
            <a:r>
              <a:rPr lang="de-AT" b="1" dirty="0" err="1"/>
              <a:t>weekly</a:t>
            </a:r>
            <a:r>
              <a:rPr lang="de-AT" b="1" dirty="0"/>
              <a:t>': </a:t>
            </a:r>
            <a:r>
              <a:rPr lang="de-AT" b="1" dirty="0" err="1"/>
              <a:t>df_weekly</a:t>
            </a:r>
            <a:r>
              <a:rPr lang="de-AT" b="1" dirty="0"/>
              <a:t>, '</a:t>
            </a:r>
            <a:r>
              <a:rPr lang="de-AT" b="1" dirty="0" err="1"/>
              <a:t>monthly</a:t>
            </a:r>
            <a:r>
              <a:rPr lang="de-AT" b="1" dirty="0"/>
              <a:t>': </a:t>
            </a:r>
            <a:r>
              <a:rPr lang="de-AT" b="1" dirty="0" err="1"/>
              <a:t>df_monthly</a:t>
            </a:r>
            <a:r>
              <a:rPr lang="de-AT" b="1" dirty="0"/>
              <a:t>},</a:t>
            </a:r>
          </a:p>
          <a:p>
            <a:pPr>
              <a:buNone/>
            </a:pPr>
            <a:r>
              <a:rPr lang="de-AT" b="1" dirty="0"/>
              <a:t>│    2016: {'</a:t>
            </a:r>
            <a:r>
              <a:rPr lang="de-AT" b="1" dirty="0" err="1"/>
              <a:t>daily</a:t>
            </a:r>
            <a:r>
              <a:rPr lang="de-AT" b="1" dirty="0"/>
              <a:t>': </a:t>
            </a:r>
            <a:r>
              <a:rPr lang="de-AT" b="1" dirty="0" err="1"/>
              <a:t>df_daily</a:t>
            </a:r>
            <a:r>
              <a:rPr lang="de-AT" b="1" dirty="0"/>
              <a:t>, '</a:t>
            </a:r>
            <a:r>
              <a:rPr lang="de-AT" b="1" dirty="0" err="1"/>
              <a:t>weekly</a:t>
            </a:r>
            <a:r>
              <a:rPr lang="de-AT" b="1" dirty="0"/>
              <a:t>': </a:t>
            </a:r>
            <a:r>
              <a:rPr lang="de-AT" b="1" dirty="0" err="1"/>
              <a:t>df_weekly</a:t>
            </a:r>
            <a:r>
              <a:rPr lang="de-AT" b="1" dirty="0"/>
              <a:t>, '</a:t>
            </a:r>
            <a:r>
              <a:rPr lang="de-AT" b="1" dirty="0" err="1"/>
              <a:t>monthly</a:t>
            </a:r>
            <a:r>
              <a:rPr lang="de-AT" b="1" dirty="0"/>
              <a:t>': </a:t>
            </a:r>
            <a:r>
              <a:rPr lang="de-AT" b="1" dirty="0" err="1"/>
              <a:t>df_monthly</a:t>
            </a:r>
            <a:r>
              <a:rPr lang="de-AT" b="1" dirty="0"/>
              <a:t>}, ...}</a:t>
            </a:r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15-Min Rohdaten → Aggregierte Zeitreihen:</a:t>
            </a:r>
          </a:p>
          <a:p>
            <a:pPr>
              <a:buNone/>
            </a:pPr>
            <a:r>
              <a:rPr lang="de-AT" b="1" dirty="0"/>
              <a:t>│   ├─ DAILY: </a:t>
            </a:r>
            <a:r>
              <a:rPr lang="de-AT" b="1" dirty="0" err="1"/>
              <a:t>resample</a:t>
            </a:r>
            <a:r>
              <a:rPr lang="de-AT" b="1" dirty="0"/>
              <a:t>('D') → 96 Datenpunkte/Tag → Tagesmittel</a:t>
            </a:r>
          </a:p>
          <a:p>
            <a:pPr>
              <a:buNone/>
            </a:pPr>
            <a:r>
              <a:rPr lang="de-AT" b="1" dirty="0"/>
              <a:t>│   ├─ WEEKLY: </a:t>
            </a:r>
            <a:r>
              <a:rPr lang="de-AT" b="1" dirty="0" err="1"/>
              <a:t>resample</a:t>
            </a:r>
            <a:r>
              <a:rPr lang="de-AT" b="1" dirty="0"/>
              <a:t>('W-MON') → 672 Datenpunkte/Woche → Wochenmittel  </a:t>
            </a:r>
          </a:p>
          <a:p>
            <a:pPr>
              <a:buNone/>
            </a:pPr>
            <a:r>
              <a:rPr lang="de-AT" b="1" dirty="0"/>
              <a:t>│   └─ MONTHLY: </a:t>
            </a:r>
            <a:r>
              <a:rPr lang="de-AT" b="1" dirty="0" err="1"/>
              <a:t>resample</a:t>
            </a:r>
            <a:r>
              <a:rPr lang="de-AT" b="1" dirty="0"/>
              <a:t>('MS') → ~2976 Datenpunkte/Monat → Monatsmittel</a:t>
            </a:r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Spalten: [date | </a:t>
            </a:r>
            <a:r>
              <a:rPr lang="de-AT" b="1" dirty="0" err="1"/>
              <a:t>price_exaa_mean</a:t>
            </a:r>
            <a:r>
              <a:rPr lang="de-AT" b="1" dirty="0"/>
              <a:t> | </a:t>
            </a:r>
            <a:r>
              <a:rPr lang="de-AT" b="1" dirty="0" err="1"/>
              <a:t>price_exaa_count</a:t>
            </a:r>
            <a:r>
              <a:rPr lang="de-AT" b="1" dirty="0"/>
              <a:t> | </a:t>
            </a:r>
            <a:r>
              <a:rPr lang="de-AT" b="1" dirty="0" err="1"/>
              <a:t>price_mc_mean</a:t>
            </a:r>
            <a:r>
              <a:rPr lang="de-AT" b="1" dirty="0"/>
              <a:t> | </a:t>
            </a:r>
            <a:r>
              <a:rPr lang="de-AT" b="1" dirty="0" err="1"/>
              <a:t>price_mc_count</a:t>
            </a:r>
            <a:r>
              <a:rPr lang="de-AT" b="1" dirty="0"/>
              <a:t> | </a:t>
            </a:r>
            <a:r>
              <a:rPr lang="de-AT" b="1" dirty="0" err="1"/>
              <a:t>aggregation_level</a:t>
            </a:r>
            <a:r>
              <a:rPr lang="de-AT" b="1" dirty="0"/>
              <a:t>]</a:t>
            </a:r>
          </a:p>
          <a:p>
            <a:pPr>
              <a:buNone/>
            </a:pPr>
            <a:r>
              <a:rPr lang="de-AT" b="1" dirty="0"/>
              <a:t>│</a:t>
            </a:r>
          </a:p>
        </p:txBody>
      </p:sp>
    </p:spTree>
    <p:extLst>
      <p:ext uri="{BB962C8B-B14F-4D97-AF65-F5344CB8AC3E}">
        <p14:creationId xmlns:p14="http://schemas.microsoft.com/office/powerpoint/2010/main" val="261099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AA78-F2CB-084C-4AD4-69F574AF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64A5B9A-D8DE-B5C4-E0EA-EFE66C458648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AE0EABB-D6D2-3393-7D64-43E613C69D02}"/>
              </a:ext>
            </a:extLst>
          </p:cNvPr>
          <p:cNvSpPr txBox="1"/>
          <p:nvPr/>
        </p:nvSpPr>
        <p:spPr>
          <a:xfrm>
            <a:off x="959689" y="769672"/>
            <a:ext cx="998723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b="1" dirty="0"/>
              <a:t>▼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📋 FINALES LONG-FORMAT DATASET</a:t>
            </a:r>
          </a:p>
          <a:p>
            <a:pPr>
              <a:buNone/>
            </a:pPr>
            <a:r>
              <a:rPr lang="de-AT" b="1" dirty="0"/>
              <a:t>│   Struktur: [date | </a:t>
            </a:r>
            <a:r>
              <a:rPr lang="de-AT" b="1" dirty="0" err="1"/>
              <a:t>year</a:t>
            </a:r>
            <a:r>
              <a:rPr lang="de-AT" b="1" dirty="0"/>
              <a:t> | </a:t>
            </a:r>
            <a:r>
              <a:rPr lang="de-AT" b="1" dirty="0" err="1"/>
              <a:t>month</a:t>
            </a:r>
            <a:r>
              <a:rPr lang="de-AT" b="1" dirty="0"/>
              <a:t> | </a:t>
            </a:r>
            <a:r>
              <a:rPr lang="de-AT" b="1" dirty="0" err="1"/>
              <a:t>quarter</a:t>
            </a:r>
            <a:r>
              <a:rPr lang="de-AT" b="1" dirty="0"/>
              <a:t> | </a:t>
            </a:r>
            <a:r>
              <a:rPr lang="de-AT" b="1" dirty="0" err="1"/>
              <a:t>week</a:t>
            </a:r>
            <a:r>
              <a:rPr lang="de-AT" b="1" dirty="0"/>
              <a:t> | </a:t>
            </a:r>
            <a:r>
              <a:rPr lang="de-AT" b="1" dirty="0" err="1"/>
              <a:t>aggregation_level</a:t>
            </a:r>
            <a:r>
              <a:rPr lang="de-AT" b="1" dirty="0"/>
              <a:t> | </a:t>
            </a:r>
          </a:p>
          <a:p>
            <a:pPr>
              <a:buNone/>
            </a:pPr>
            <a:r>
              <a:rPr lang="de-AT" b="1" dirty="0"/>
              <a:t>│              </a:t>
            </a:r>
            <a:r>
              <a:rPr lang="de-AT" b="1" dirty="0" err="1"/>
              <a:t>price_exaa_mean</a:t>
            </a:r>
            <a:r>
              <a:rPr lang="de-AT" b="1" dirty="0"/>
              <a:t> | </a:t>
            </a:r>
            <a:r>
              <a:rPr lang="de-AT" b="1" dirty="0" err="1"/>
              <a:t>price_mc_auction_mean</a:t>
            </a:r>
            <a:r>
              <a:rPr lang="de-AT" b="1" dirty="0"/>
              <a:t> | </a:t>
            </a:r>
          </a:p>
          <a:p>
            <a:pPr>
              <a:buNone/>
            </a:pPr>
            <a:r>
              <a:rPr lang="de-AT" b="1" dirty="0"/>
              <a:t>│              </a:t>
            </a:r>
            <a:r>
              <a:rPr lang="de-AT" b="1" dirty="0" err="1"/>
              <a:t>price_count_exaa</a:t>
            </a:r>
            <a:r>
              <a:rPr lang="de-AT" b="1" dirty="0"/>
              <a:t> | </a:t>
            </a:r>
            <a:r>
              <a:rPr lang="de-AT" b="1" dirty="0" err="1"/>
              <a:t>price_count_mc</a:t>
            </a:r>
            <a:r>
              <a:rPr lang="de-AT" b="1" dirty="0"/>
              <a:t> | </a:t>
            </a:r>
          </a:p>
          <a:p>
            <a:pPr>
              <a:buNone/>
            </a:pPr>
            <a:r>
              <a:rPr lang="de-AT" b="1" dirty="0"/>
              <a:t>│              </a:t>
            </a:r>
            <a:r>
              <a:rPr lang="de-AT" b="1" dirty="0" err="1"/>
              <a:t>data_completeness</a:t>
            </a:r>
            <a:r>
              <a:rPr lang="de-AT" b="1" dirty="0"/>
              <a:t> | </a:t>
            </a:r>
            <a:r>
              <a:rPr lang="de-AT" b="1" dirty="0" err="1"/>
              <a:t>month_name</a:t>
            </a:r>
            <a:r>
              <a:rPr lang="de-AT" b="1" dirty="0"/>
              <a:t>]</a:t>
            </a:r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Beispiel-Zeilen:</a:t>
            </a:r>
          </a:p>
          <a:p>
            <a:pPr>
              <a:buNone/>
            </a:pPr>
            <a:r>
              <a:rPr lang="de-AT" b="1" dirty="0"/>
              <a:t>│   2015-01-01 | 2015 | 1 | 1 | 1 | </a:t>
            </a:r>
            <a:r>
              <a:rPr lang="de-AT" b="1" dirty="0" err="1"/>
              <a:t>daily</a:t>
            </a:r>
            <a:r>
              <a:rPr lang="de-AT" b="1" dirty="0"/>
              <a:t> | 45 | </a:t>
            </a:r>
            <a:r>
              <a:rPr lang="de-AT" b="1" dirty="0" err="1"/>
              <a:t>NaN</a:t>
            </a:r>
            <a:r>
              <a:rPr lang="de-AT" b="1" dirty="0"/>
              <a:t> | 96 | 0 | 100.0 | </a:t>
            </a:r>
            <a:r>
              <a:rPr lang="de-AT" b="1" dirty="0" err="1"/>
              <a:t>January</a:t>
            </a:r>
            <a:endParaRPr lang="de-AT" b="1" dirty="0"/>
          </a:p>
          <a:p>
            <a:pPr>
              <a:buNone/>
            </a:pPr>
            <a:r>
              <a:rPr lang="de-AT" b="1" dirty="0"/>
              <a:t>│   2015-01-01 | 2015 | 1 | 1 | 1 | </a:t>
            </a:r>
            <a:r>
              <a:rPr lang="de-AT" b="1" dirty="0" err="1"/>
              <a:t>weekly</a:t>
            </a:r>
            <a:r>
              <a:rPr lang="de-AT" b="1" dirty="0"/>
              <a:t> | 42 | </a:t>
            </a:r>
            <a:r>
              <a:rPr lang="de-AT" b="1" dirty="0" err="1"/>
              <a:t>NaN</a:t>
            </a:r>
            <a:r>
              <a:rPr lang="de-AT" b="1" dirty="0"/>
              <a:t> | 672 | 0 | 100.0 | </a:t>
            </a:r>
            <a:r>
              <a:rPr lang="de-AT" b="1" dirty="0" err="1"/>
              <a:t>January</a:t>
            </a:r>
            <a:endParaRPr lang="de-AT" b="1" dirty="0"/>
          </a:p>
          <a:p>
            <a:pPr>
              <a:buNone/>
            </a:pPr>
            <a:r>
              <a:rPr lang="de-AT" b="1" dirty="0"/>
              <a:t>│   2015-01-01 | 2015 | 1 | 1 | 1 | </a:t>
            </a:r>
            <a:r>
              <a:rPr lang="de-AT" b="1" dirty="0" err="1"/>
              <a:t>monthly</a:t>
            </a:r>
            <a:r>
              <a:rPr lang="de-AT" b="1" dirty="0"/>
              <a:t> | 38 | </a:t>
            </a:r>
            <a:r>
              <a:rPr lang="de-AT" b="1" dirty="0" err="1"/>
              <a:t>NaN</a:t>
            </a:r>
            <a:r>
              <a:rPr lang="de-AT" b="1" dirty="0"/>
              <a:t> | 2976 | 0 | 98.5 | </a:t>
            </a:r>
            <a:r>
              <a:rPr lang="de-AT" b="1" dirty="0" err="1"/>
              <a:t>January</a:t>
            </a:r>
            <a:endParaRPr lang="de-AT" b="1" dirty="0"/>
          </a:p>
          <a:p>
            <a:pPr>
              <a:buNone/>
            </a:pPr>
            <a:r>
              <a:rPr lang="de-AT" b="1" dirty="0"/>
              <a:t>│   2023-01-01 | 2023 | 1 | 1 | 1 | </a:t>
            </a:r>
            <a:r>
              <a:rPr lang="de-AT" b="1" dirty="0" err="1"/>
              <a:t>daily</a:t>
            </a:r>
            <a:r>
              <a:rPr lang="de-AT" b="1" dirty="0"/>
              <a:t> | </a:t>
            </a:r>
            <a:r>
              <a:rPr lang="de-AT" b="1" dirty="0" err="1"/>
              <a:t>NaN</a:t>
            </a:r>
            <a:r>
              <a:rPr lang="de-AT" b="1" dirty="0"/>
              <a:t> | 67 | 0 | 96 | 100.0 | </a:t>
            </a:r>
            <a:r>
              <a:rPr lang="de-AT" b="1" dirty="0" err="1"/>
              <a:t>January</a:t>
            </a:r>
            <a:endParaRPr lang="de-AT" b="1" dirty="0"/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Dimensionen: ~33.000 Zeilen (11 Jahre × 3 Aggregationen × ~1000 Zeitperioden)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▼ [CSV Export]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💾 ELECTRICITY_CONSOLIDATED.CSV</a:t>
            </a:r>
          </a:p>
          <a:p>
            <a:pPr>
              <a:buNone/>
            </a:pPr>
            <a:r>
              <a:rPr lang="de-AT" b="1" dirty="0"/>
              <a:t>│   → Bereit für Machine Learning, Predictive Analytics, Tableau</a:t>
            </a:r>
          </a:p>
          <a:p>
            <a:pPr>
              <a:buNone/>
            </a:pPr>
            <a:r>
              <a:rPr lang="de-AT" b="1" dirty="0"/>
              <a:t>│   → Einheitliches Format für alle Jahre (2015-2025)</a:t>
            </a:r>
          </a:p>
          <a:p>
            <a:pPr>
              <a:buNone/>
            </a:pPr>
            <a:r>
              <a:rPr lang="de-AT" b="1" dirty="0"/>
              <a:t>│   → Drei Zeitauflösungen in einem Dataset</a:t>
            </a:r>
          </a:p>
          <a:p>
            <a:pPr>
              <a:buNone/>
            </a:pPr>
            <a:r>
              <a:rPr lang="de-AT" b="1" dirty="0"/>
              <a:t>│   → Vollständige Datendokumentation</a:t>
            </a:r>
            <a:endParaRPr lang="de-AT" dirty="0"/>
          </a:p>
          <a:p>
            <a:pPr>
              <a:buNone/>
            </a:pPr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306232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1539B-EFD1-209E-B367-A91F952D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627D811-D134-104F-4919-9C0B685E1387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A6F800D-42E9-E125-0F11-793F75058A4E}"/>
              </a:ext>
            </a:extLst>
          </p:cNvPr>
          <p:cNvSpPr txBox="1"/>
          <p:nvPr/>
        </p:nvSpPr>
        <p:spPr>
          <a:xfrm>
            <a:off x="873425" y="1425280"/>
            <a:ext cx="99872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b="1" dirty="0"/>
              <a:t>▼ [</a:t>
            </a:r>
            <a:r>
              <a:rPr lang="de-AT" b="1" dirty="0" err="1"/>
              <a:t>transform_to_long_format</a:t>
            </a:r>
            <a:r>
              <a:rPr lang="de-AT" b="1" dirty="0"/>
              <a:t>()]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r>
              <a:rPr lang="de-AT" b="1" dirty="0"/>
              <a:t>🔄 LONG FORMAT TRANSFORMATION (alle Jahre kombiniert)</a:t>
            </a:r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Transformationen:</a:t>
            </a:r>
          </a:p>
          <a:p>
            <a:pPr>
              <a:buNone/>
            </a:pPr>
            <a:r>
              <a:rPr lang="de-AT" b="1" dirty="0"/>
              <a:t>│   ├─ Zeit-Features: </a:t>
            </a:r>
            <a:r>
              <a:rPr lang="de-AT" b="1" dirty="0" err="1"/>
              <a:t>year</a:t>
            </a:r>
            <a:r>
              <a:rPr lang="de-AT" b="1" dirty="0"/>
              <a:t>, </a:t>
            </a:r>
            <a:r>
              <a:rPr lang="de-AT" b="1" dirty="0" err="1"/>
              <a:t>month</a:t>
            </a:r>
            <a:r>
              <a:rPr lang="de-AT" b="1" dirty="0"/>
              <a:t>, </a:t>
            </a:r>
            <a:r>
              <a:rPr lang="de-AT" b="1" dirty="0" err="1"/>
              <a:t>quarter</a:t>
            </a:r>
            <a:r>
              <a:rPr lang="de-AT" b="1" dirty="0"/>
              <a:t>, </a:t>
            </a:r>
            <a:r>
              <a:rPr lang="de-AT" b="1" dirty="0" err="1"/>
              <a:t>week</a:t>
            </a:r>
            <a:r>
              <a:rPr lang="de-AT" b="1" dirty="0"/>
              <a:t>, </a:t>
            </a:r>
            <a:r>
              <a:rPr lang="de-AT" b="1" dirty="0" err="1"/>
              <a:t>month_name</a:t>
            </a:r>
            <a:endParaRPr lang="de-AT" b="1" dirty="0"/>
          </a:p>
          <a:p>
            <a:pPr>
              <a:buNone/>
            </a:pPr>
            <a:r>
              <a:rPr lang="de-AT" b="1" dirty="0"/>
              <a:t>│   ├─ Preisrundung: .</a:t>
            </a:r>
            <a:r>
              <a:rPr lang="de-AT" b="1" dirty="0" err="1"/>
              <a:t>round</a:t>
            </a:r>
            <a:r>
              <a:rPr lang="de-AT" b="1" dirty="0"/>
              <a:t>().</a:t>
            </a:r>
            <a:r>
              <a:rPr lang="de-AT" b="1" dirty="0" err="1"/>
              <a:t>astype</a:t>
            </a:r>
            <a:r>
              <a:rPr lang="de-AT" b="1" dirty="0"/>
              <a:t>('Int64')</a:t>
            </a:r>
          </a:p>
          <a:p>
            <a:pPr>
              <a:buNone/>
            </a:pPr>
            <a:r>
              <a:rPr lang="de-AT" b="1" dirty="0"/>
              <a:t>│   ├─ Spalten-Umbenennung: </a:t>
            </a:r>
            <a:r>
              <a:rPr lang="de-AT" b="1" dirty="0" err="1"/>
              <a:t>price_mc_mean</a:t>
            </a:r>
            <a:r>
              <a:rPr lang="de-AT" b="1" dirty="0"/>
              <a:t> → </a:t>
            </a:r>
            <a:r>
              <a:rPr lang="de-AT" b="1" dirty="0" err="1"/>
              <a:t>price_mc_auction_mean</a:t>
            </a:r>
            <a:endParaRPr lang="de-AT" b="1" dirty="0"/>
          </a:p>
          <a:p>
            <a:pPr>
              <a:buNone/>
            </a:pPr>
            <a:r>
              <a:rPr lang="de-AT" b="1" dirty="0"/>
              <a:t>│   ├─ Datenvollständigkeit: (</a:t>
            </a:r>
            <a:r>
              <a:rPr lang="de-AT" b="1" dirty="0" err="1"/>
              <a:t>count</a:t>
            </a:r>
            <a:r>
              <a:rPr lang="de-AT" b="1" dirty="0"/>
              <a:t> / </a:t>
            </a:r>
            <a:r>
              <a:rPr lang="de-AT" b="1" dirty="0" err="1"/>
              <a:t>expected_intervals</a:t>
            </a:r>
            <a:r>
              <a:rPr lang="de-AT" b="1" dirty="0"/>
              <a:t>) * 100</a:t>
            </a:r>
          </a:p>
          <a:p>
            <a:pPr>
              <a:buNone/>
            </a:pPr>
            <a:r>
              <a:rPr lang="de-AT" b="1" dirty="0"/>
              <a:t>│   └─ ISO-Datumsformat: YYYY-MM-DD</a:t>
            </a:r>
          </a:p>
          <a:p>
            <a:pPr>
              <a:buNone/>
            </a:pPr>
            <a:r>
              <a:rPr lang="de-AT" b="1" dirty="0"/>
              <a:t>│   </a:t>
            </a:r>
          </a:p>
          <a:p>
            <a:pPr>
              <a:buNone/>
            </a:pPr>
            <a:r>
              <a:rPr lang="de-AT" b="1" dirty="0"/>
              <a:t>│   </a:t>
            </a:r>
            <a:r>
              <a:rPr lang="de-AT" b="1" dirty="0" err="1"/>
              <a:t>Concatenation</a:t>
            </a:r>
            <a:r>
              <a:rPr lang="de-AT" b="1" dirty="0"/>
              <a:t>: </a:t>
            </a:r>
            <a:r>
              <a:rPr lang="de-AT" b="1" dirty="0" err="1"/>
              <a:t>pd.concat</a:t>
            </a:r>
            <a:r>
              <a:rPr lang="de-AT" b="1" dirty="0"/>
              <a:t>() alle Jahre + Sortierung</a:t>
            </a:r>
          </a:p>
          <a:p>
            <a:pPr>
              <a:buNone/>
            </a:pPr>
            <a:r>
              <a:rPr lang="de-AT" b="1" dirty="0"/>
              <a:t>│</a:t>
            </a:r>
          </a:p>
          <a:p>
            <a:pPr>
              <a:buNone/>
            </a:pPr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427815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CBFEC-9164-A3FA-E9E1-09810E331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A7E2345-239D-6E0B-BAFC-1F1B698C028E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7CBA3F8-A62D-8C8A-5322-11DF9670A615}"/>
              </a:ext>
            </a:extLst>
          </p:cNvPr>
          <p:cNvSpPr txBox="1"/>
          <p:nvPr/>
        </p:nvSpPr>
        <p:spPr>
          <a:xfrm>
            <a:off x="899303" y="1055800"/>
            <a:ext cx="7856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Dimensionsreduktion</a:t>
            </a:r>
          </a:p>
          <a:p>
            <a:r>
              <a:rPr lang="de-AT" dirty="0"/>
              <a:t>Rohdaten: 11 Jahre × ~35.000 Zeilen/Jahr × ~20 Spalten = ~7.7M Datenpunkte</a:t>
            </a:r>
          </a:p>
          <a:p>
            <a:r>
              <a:rPr lang="de-AT" dirty="0"/>
              <a:t>Finale Daten: ~33.000 Zeilen × 12 Spalten = ~400K strukturierte Datenpunkte</a:t>
            </a:r>
          </a:p>
          <a:p>
            <a:r>
              <a:rPr lang="de-AT" b="1" dirty="0"/>
              <a:t>Zahlen stimmen so nicht! Von </a:t>
            </a:r>
            <a:r>
              <a:rPr lang="de-AT" b="1"/>
              <a:t>Claude erfunden</a:t>
            </a:r>
            <a:endParaRPr lang="de-AT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16C7B66-B263-5491-C88C-DC62BC49F990}"/>
              </a:ext>
            </a:extLst>
          </p:cNvPr>
          <p:cNvSpPr txBox="1"/>
          <p:nvPr/>
        </p:nvSpPr>
        <p:spPr>
          <a:xfrm>
            <a:off x="899304" y="2698486"/>
            <a:ext cx="60945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Qualitätskontrolle durch die Pipeline</a:t>
            </a:r>
          </a:p>
          <a:p>
            <a:r>
              <a:rPr lang="de-AT" dirty="0" err="1"/>
              <a:t>Missing</a:t>
            </a:r>
            <a:r>
              <a:rPr lang="de-AT" dirty="0"/>
              <a:t> Values → Standardisiert zu </a:t>
            </a:r>
            <a:r>
              <a:rPr lang="de-AT" dirty="0" err="1"/>
              <a:t>NaN</a:t>
            </a:r>
            <a:endParaRPr lang="de-AT" dirty="0"/>
          </a:p>
          <a:p>
            <a:r>
              <a:rPr lang="de-AT" dirty="0"/>
              <a:t>Encoding </a:t>
            </a:r>
            <a:r>
              <a:rPr lang="de-AT" dirty="0" err="1"/>
              <a:t>Issues</a:t>
            </a:r>
            <a:r>
              <a:rPr lang="de-AT" dirty="0"/>
              <a:t> → UTF-8/cp1252 </a:t>
            </a:r>
            <a:r>
              <a:rPr lang="de-AT" dirty="0" err="1"/>
              <a:t>Fallback</a:t>
            </a:r>
            <a:r>
              <a:rPr lang="de-AT" dirty="0"/>
              <a:t>  </a:t>
            </a:r>
          </a:p>
          <a:p>
            <a:r>
              <a:rPr lang="de-AT" dirty="0"/>
              <a:t>Inkonsistente Spalten → Einheitlich standardisiert</a:t>
            </a:r>
          </a:p>
          <a:p>
            <a:r>
              <a:rPr lang="de-AT" dirty="0"/>
              <a:t>Multi-Resolution → 3 Aggregationslevel verfügbar</a:t>
            </a:r>
          </a:p>
          <a:p>
            <a:r>
              <a:rPr lang="de-AT" dirty="0"/>
              <a:t>Data </a:t>
            </a:r>
            <a:r>
              <a:rPr lang="de-AT" dirty="0" err="1"/>
              <a:t>Completeness</a:t>
            </a:r>
            <a:r>
              <a:rPr lang="de-AT" dirty="0"/>
              <a:t> → Prozentuale Vollständigkeit dokumentiert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523535D-C36A-B1D3-C4DC-6A3BACE6F845}"/>
              </a:ext>
            </a:extLst>
          </p:cNvPr>
          <p:cNvSpPr txBox="1"/>
          <p:nvPr/>
        </p:nvSpPr>
        <p:spPr>
          <a:xfrm>
            <a:off x="899304" y="4836218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Format-Evolution:</a:t>
            </a:r>
          </a:p>
          <a:p>
            <a:r>
              <a:rPr lang="de-AT" dirty="0"/>
              <a:t>Wide Format (Jahr für Jahr) → Long Format (alle Jahre)</a:t>
            </a:r>
          </a:p>
          <a:p>
            <a:r>
              <a:rPr lang="de-AT" dirty="0"/>
              <a:t>15-Minuten-Auflösung → Daily/Weekly/Monthly Optionen</a:t>
            </a:r>
          </a:p>
          <a:p>
            <a:r>
              <a:rPr lang="de-AT" dirty="0"/>
              <a:t>Absolute Werte → Mittelwerte + Datenpunkt-Counts</a:t>
            </a:r>
          </a:p>
          <a:p>
            <a:r>
              <a:rPr lang="de-AT" dirty="0"/>
              <a:t>Separate Dateien → Ein einheitliches Dataset</a:t>
            </a:r>
          </a:p>
        </p:txBody>
      </p:sp>
    </p:spTree>
    <p:extLst>
      <p:ext uri="{BB962C8B-B14F-4D97-AF65-F5344CB8AC3E}">
        <p14:creationId xmlns:p14="http://schemas.microsoft.com/office/powerpoint/2010/main" val="3280419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123B-2B71-07CE-82C9-2FAEA933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20DCB52-2028-5C9A-37DF-AE809F13A741}"/>
              </a:ext>
            </a:extLst>
          </p:cNvPr>
          <p:cNvSpPr txBox="1"/>
          <p:nvPr/>
        </p:nvSpPr>
        <p:spPr>
          <a:xfrm>
            <a:off x="1818968" y="521110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Experimental/EDA Logik aus </a:t>
            </a:r>
            <a:r>
              <a:rPr lang="de-AT" dirty="0" err="1"/>
              <a:t>ipynb</a:t>
            </a:r>
            <a:r>
              <a:rPr lang="de-AT" dirty="0"/>
              <a:t> zu </a:t>
            </a:r>
            <a:r>
              <a:rPr lang="de-AT" dirty="0" err="1"/>
              <a:t>produktion</a:t>
            </a:r>
            <a:r>
              <a:rPr lang="de-AT" dirty="0"/>
              <a:t> .</a:t>
            </a:r>
            <a:r>
              <a:rPr lang="de-AT" dirty="0" err="1"/>
              <a:t>py</a:t>
            </a:r>
            <a:r>
              <a:rPr lang="de-AT" dirty="0"/>
              <a:t> am Beispiel von Coffee </a:t>
            </a:r>
            <a:r>
              <a:rPr lang="de-AT" dirty="0" err="1"/>
              <a:t>Handson</a:t>
            </a:r>
            <a:r>
              <a:rPr lang="de-AT" dirty="0"/>
              <a:t> ML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1578AEC-9269-78D8-E201-A3E7473EFB0C}"/>
              </a:ext>
            </a:extLst>
          </p:cNvPr>
          <p:cNvSpPr txBox="1"/>
          <p:nvPr/>
        </p:nvSpPr>
        <p:spPr>
          <a:xfrm>
            <a:off x="652206" y="1151780"/>
            <a:ext cx="68175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Core feature </a:t>
            </a:r>
            <a:r>
              <a:rPr lang="de-AT" dirty="0" err="1"/>
              <a:t>engineering</a:t>
            </a:r>
            <a:r>
              <a:rPr lang="de-AT" dirty="0"/>
              <a:t> and </a:t>
            </a:r>
            <a:r>
              <a:rPr lang="de-AT" dirty="0" err="1"/>
              <a:t>imputation</a:t>
            </a:r>
            <a:r>
              <a:rPr lang="de-AT" dirty="0"/>
              <a:t> </a:t>
            </a:r>
            <a:r>
              <a:rPr lang="de-AT" dirty="0" err="1"/>
              <a:t>functions</a:t>
            </a:r>
            <a:endParaRPr lang="de-AT" dirty="0"/>
          </a:p>
          <a:p>
            <a:pPr marL="342900" indent="-342900">
              <a:buAutoNum type="arabicPeriod"/>
            </a:pPr>
            <a:r>
              <a:rPr lang="en-US" dirty="0"/>
              <a:t>LOG TRANSFORM </a:t>
            </a:r>
            <a:r>
              <a:rPr lang="en-US" dirty="0" err="1"/>
              <a:t>altitude_mean_meters</a:t>
            </a:r>
            <a:r>
              <a:rPr lang="en-US" dirty="0"/>
              <a:t> TO </a:t>
            </a:r>
            <a:r>
              <a:rPr lang="de-AT" dirty="0" err="1"/>
              <a:t>altitude_mean_log</a:t>
            </a:r>
            <a:endParaRPr lang="de-AT" dirty="0"/>
          </a:p>
          <a:p>
            <a:pPr marL="342900" indent="-342900">
              <a:buAutoNum type="arabicPeriod"/>
            </a:pPr>
            <a:r>
              <a:rPr lang="de-AT" dirty="0"/>
              <a:t>DROP UNECESSARY COLUMNS</a:t>
            </a:r>
          </a:p>
          <a:p>
            <a:pPr marL="342900" indent="-342900">
              <a:buAutoNum type="arabicPeriod"/>
            </a:pPr>
            <a:r>
              <a:rPr lang="de-AT" dirty="0"/>
              <a:t>REPLACE MISSING VALUES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mean</a:t>
            </a:r>
            <a:endParaRPr lang="de-AT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6760161-CD5B-D1EE-319F-77245D3B20A4}"/>
              </a:ext>
            </a:extLst>
          </p:cNvPr>
          <p:cNvSpPr txBox="1"/>
          <p:nvPr/>
        </p:nvSpPr>
        <p:spPr>
          <a:xfrm>
            <a:off x="652206" y="4893420"/>
            <a:ext cx="81392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Core </a:t>
            </a:r>
            <a:r>
              <a:rPr lang="de-AT" dirty="0" err="1"/>
              <a:t>prediction</a:t>
            </a:r>
            <a:r>
              <a:rPr lang="de-AT" dirty="0"/>
              <a:t> </a:t>
            </a:r>
            <a:r>
              <a:rPr lang="de-AT" dirty="0" err="1"/>
              <a:t>functions</a:t>
            </a:r>
            <a:endParaRPr lang="de-AT" dirty="0"/>
          </a:p>
          <a:p>
            <a:pPr marL="342900" indent="-342900">
              <a:buAutoNum type="arabicPeriod"/>
            </a:pPr>
            <a:r>
              <a:rPr lang="de-AT" dirty="0"/>
              <a:t>IMPORT FEATURE ENGINEERING() </a:t>
            </a:r>
            <a:r>
              <a:rPr lang="de-AT" dirty="0" err="1"/>
              <a:t>functions</a:t>
            </a:r>
            <a:endParaRPr lang="de-AT" dirty="0"/>
          </a:p>
          <a:p>
            <a:pPr marL="342900" indent="-342900">
              <a:buAutoNum type="arabicPeriod"/>
            </a:pPr>
            <a:r>
              <a:rPr lang="de-AT" dirty="0"/>
              <a:t>LOAD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paths</a:t>
            </a:r>
            <a:r>
              <a:rPr lang="de-AT" dirty="0"/>
              <a:t> &amp; test-file </a:t>
            </a:r>
            <a:r>
              <a:rPr lang="de-AT" dirty="0" err="1"/>
              <a:t>paths</a:t>
            </a:r>
            <a:r>
              <a:rPr lang="de-AT" dirty="0"/>
              <a:t> FROM </a:t>
            </a:r>
            <a:r>
              <a:rPr lang="de-AT" dirty="0" err="1"/>
              <a:t>command</a:t>
            </a:r>
            <a:r>
              <a:rPr lang="de-AT" dirty="0"/>
              <a:t> </a:t>
            </a:r>
            <a:r>
              <a:rPr lang="de-AT" dirty="0" err="1"/>
              <a:t>line</a:t>
            </a:r>
            <a:r>
              <a:rPr lang="de-AT" dirty="0"/>
              <a:t> </a:t>
            </a:r>
            <a:r>
              <a:rPr lang="de-AT" dirty="0" err="1"/>
              <a:t>arguments</a:t>
            </a:r>
            <a:endParaRPr lang="de-AT" dirty="0"/>
          </a:p>
          <a:p>
            <a:pPr marL="342900" indent="-342900">
              <a:buAutoNum type="arabicPeriod"/>
            </a:pPr>
            <a:r>
              <a:rPr lang="de-AT" dirty="0"/>
              <a:t>LOAD </a:t>
            </a:r>
            <a:r>
              <a:rPr lang="de-AT" dirty="0" err="1"/>
              <a:t>pre-trained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FROM </a:t>
            </a:r>
            <a:r>
              <a:rPr lang="de-AT" dirty="0" err="1"/>
              <a:t>disk</a:t>
            </a:r>
            <a:endParaRPr lang="de-AT" dirty="0"/>
          </a:p>
          <a:p>
            <a:pPr marL="342900" indent="-342900">
              <a:buAutoNum type="arabicPeriod"/>
            </a:pPr>
            <a:r>
              <a:rPr lang="de-AT" dirty="0"/>
              <a:t>LOAD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FROM </a:t>
            </a:r>
            <a:r>
              <a:rPr lang="de-AT" dirty="0" err="1"/>
              <a:t>disk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FEATURE ENGINEERING() on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data</a:t>
            </a:r>
            <a:endParaRPr lang="de-AT" dirty="0"/>
          </a:p>
          <a:p>
            <a:pPr marL="342900" indent="-342900">
              <a:buAutoNum type="arabicPeriod"/>
            </a:pPr>
            <a:r>
              <a:rPr lang="de-AT" dirty="0" err="1"/>
              <a:t>Testing</a:t>
            </a:r>
            <a:r>
              <a:rPr lang="de-AT" dirty="0"/>
              <a:t> </a:t>
            </a:r>
            <a:r>
              <a:rPr lang="de-AT" dirty="0" err="1"/>
              <a:t>predictions</a:t>
            </a:r>
            <a:r>
              <a:rPr lang="de-AT" dirty="0"/>
              <a:t> and OUTPUT </a:t>
            </a:r>
            <a:r>
              <a:rPr lang="de-AT" dirty="0" err="1"/>
              <a:t>results</a:t>
            </a:r>
            <a:endParaRPr lang="de-AT" dirty="0"/>
          </a:p>
          <a:p>
            <a:pPr marL="342900" indent="-342900">
              <a:buAutoNum type="arabicPeriod"/>
            </a:pPr>
            <a:endParaRPr lang="de-AT" dirty="0"/>
          </a:p>
          <a:p>
            <a:pPr marL="342900" indent="-342900">
              <a:buAutoNum type="arabicPeriod"/>
            </a:pPr>
            <a:endParaRPr lang="de-AT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2D03669-0F73-ED89-2AF5-6106CFB51839}"/>
              </a:ext>
            </a:extLst>
          </p:cNvPr>
          <p:cNvSpPr txBox="1"/>
          <p:nvPr/>
        </p:nvSpPr>
        <p:spPr>
          <a:xfrm>
            <a:off x="6385349" y="2251304"/>
            <a:ext cx="798269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Core </a:t>
            </a:r>
            <a:r>
              <a:rPr lang="de-AT" dirty="0" err="1"/>
              <a:t>training</a:t>
            </a:r>
            <a:r>
              <a:rPr lang="de-AT" dirty="0"/>
              <a:t> </a:t>
            </a:r>
            <a:r>
              <a:rPr lang="de-AT" dirty="0" err="1"/>
              <a:t>functions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IMPORT FEATURE ENGINEERING() </a:t>
            </a:r>
            <a:r>
              <a:rPr lang="de-AT" dirty="0" err="1"/>
              <a:t>functions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LOAD </a:t>
            </a:r>
            <a:r>
              <a:rPr lang="de-AT" dirty="0" err="1"/>
              <a:t>raw</a:t>
            </a:r>
            <a:r>
              <a:rPr lang="de-AT" dirty="0"/>
              <a:t> </a:t>
            </a:r>
            <a:r>
              <a:rPr lang="de-AT" dirty="0" err="1"/>
              <a:t>data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DATA SPLIT INTO </a:t>
            </a:r>
            <a:r>
              <a:rPr lang="de-AT" dirty="0" err="1"/>
              <a:t>outcome</a:t>
            </a:r>
            <a:r>
              <a:rPr lang="de-AT" dirty="0"/>
              <a:t> Y and </a:t>
            </a:r>
            <a:r>
              <a:rPr lang="de-AT" dirty="0" err="1"/>
              <a:t>input</a:t>
            </a:r>
            <a:r>
              <a:rPr lang="de-AT" dirty="0"/>
              <a:t> X</a:t>
            </a:r>
          </a:p>
          <a:p>
            <a:pPr marL="342900" indent="-342900">
              <a:buFontTx/>
              <a:buAutoNum type="arabicPeriod"/>
            </a:pPr>
            <a:r>
              <a:rPr lang="de-AT" dirty="0"/>
              <a:t>Further TRAIN-TEST SPLIT</a:t>
            </a:r>
          </a:p>
          <a:p>
            <a:pPr marL="342900" indent="-342900">
              <a:buFontTx/>
              <a:buAutoNum type="arabicPeriod"/>
            </a:pPr>
            <a:r>
              <a:rPr lang="de-AT" dirty="0"/>
              <a:t>SAVE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TO </a:t>
            </a:r>
            <a:r>
              <a:rPr lang="de-AT" dirty="0" err="1"/>
              <a:t>disk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Separate FEATURE ENGINEERING() ON </a:t>
            </a:r>
            <a:r>
              <a:rPr lang="de-AT" dirty="0" err="1"/>
              <a:t>train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. SAVE </a:t>
            </a:r>
            <a:r>
              <a:rPr lang="de-AT" dirty="0" err="1"/>
              <a:t>engineered</a:t>
            </a:r>
            <a:r>
              <a:rPr lang="de-AT" dirty="0"/>
              <a:t> </a:t>
            </a:r>
            <a:r>
              <a:rPr lang="de-AT" dirty="0" err="1"/>
              <a:t>datafile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TRAIN </a:t>
            </a:r>
            <a:r>
              <a:rPr lang="de-AT" dirty="0" err="1"/>
              <a:t>model</a:t>
            </a:r>
            <a:r>
              <a:rPr lang="de-AT" dirty="0"/>
              <a:t> and SAVE </a:t>
            </a:r>
            <a:r>
              <a:rPr lang="de-AT" dirty="0" err="1"/>
              <a:t>model</a:t>
            </a:r>
            <a:r>
              <a:rPr lang="de-AT" dirty="0"/>
              <a:t> TO </a:t>
            </a:r>
            <a:r>
              <a:rPr lang="de-AT" dirty="0" err="1"/>
              <a:t>disk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FEATURE ENGINEERING() on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data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 err="1"/>
              <a:t>Testing</a:t>
            </a:r>
            <a:r>
              <a:rPr lang="de-AT" dirty="0"/>
              <a:t> </a:t>
            </a:r>
            <a:r>
              <a:rPr lang="de-AT" dirty="0" err="1"/>
              <a:t>predictions</a:t>
            </a:r>
            <a:r>
              <a:rPr lang="de-AT" dirty="0"/>
              <a:t> &amp; OUTPUT </a:t>
            </a:r>
            <a:r>
              <a:rPr lang="de-AT" dirty="0" err="1"/>
              <a:t>results</a:t>
            </a:r>
            <a:endParaRPr lang="de-AT" dirty="0"/>
          </a:p>
          <a:p>
            <a:pPr marL="342900" indent="-342900">
              <a:buFontTx/>
              <a:buAutoNum type="arabicPeriod"/>
            </a:pPr>
            <a:r>
              <a:rPr lang="de-AT" dirty="0"/>
              <a:t>SAVE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file</a:t>
            </a:r>
            <a:r>
              <a:rPr lang="de-AT" dirty="0"/>
              <a:t> for </a:t>
            </a:r>
            <a:r>
              <a:rPr lang="de-AT" dirty="0" err="1"/>
              <a:t>later</a:t>
            </a:r>
            <a:r>
              <a:rPr lang="de-AT" dirty="0"/>
              <a:t> </a:t>
            </a:r>
            <a:r>
              <a:rPr lang="de-AT" dirty="0" err="1"/>
              <a:t>use</a:t>
            </a:r>
            <a:endParaRPr lang="de-AT" dirty="0"/>
          </a:p>
          <a:p>
            <a:pPr marL="342900" indent="-342900">
              <a:buAutoNum type="arabicPeriod"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0633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6EF7-D476-CA32-3FB3-4BB7489C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557C4A58-5ADF-BFC6-42CC-BDEE8B6922FF}"/>
              </a:ext>
            </a:extLst>
          </p:cNvPr>
          <p:cNvGraphicFramePr>
            <a:graphicFrameLocks noGrp="1"/>
          </p:cNvGraphicFramePr>
          <p:nvPr/>
        </p:nvGraphicFramePr>
        <p:xfrm>
          <a:off x="2104845" y="2157829"/>
          <a:ext cx="8660921" cy="2194560"/>
        </p:xfrm>
        <a:graphic>
          <a:graphicData uri="http://schemas.openxmlformats.org/drawingml/2006/table">
            <a:tbl>
              <a:tblPr/>
              <a:tblGrid>
                <a:gridCol w="4045789">
                  <a:extLst>
                    <a:ext uri="{9D8B030D-6E8A-4147-A177-3AD203B41FA5}">
                      <a16:colId xmlns:a16="http://schemas.microsoft.com/office/drawing/2014/main" val="2665329781"/>
                    </a:ext>
                  </a:extLst>
                </a:gridCol>
                <a:gridCol w="4615132">
                  <a:extLst>
                    <a:ext uri="{9D8B030D-6E8A-4147-A177-3AD203B41FA5}">
                      <a16:colId xmlns:a16="http://schemas.microsoft.com/office/drawing/2014/main" val="261446014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 dirty="0">
                          <a:effectLst/>
                        </a:rPr>
                        <a:t>Content Schedule Capstone Project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05986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 dirty="0">
                          <a:effectLst/>
                        </a:rPr>
                        <a:t>Domain </a:t>
                      </a:r>
                      <a:r>
                        <a:rPr lang="de-AT" dirty="0" err="1">
                          <a:effectLst/>
                        </a:rPr>
                        <a:t>knowledge</a:t>
                      </a:r>
                      <a:r>
                        <a:rPr lang="de-AT" dirty="0">
                          <a:effectLst/>
                        </a:rPr>
                        <a:t>: </a:t>
                      </a:r>
                      <a:r>
                        <a:rPr lang="de-AT" dirty="0" err="1">
                          <a:effectLst/>
                        </a:rPr>
                        <a:t>Product</a:t>
                      </a:r>
                      <a:r>
                        <a:rPr lang="de-AT" dirty="0">
                          <a:effectLst/>
                        </a:rPr>
                        <a:t> </a:t>
                      </a:r>
                      <a:r>
                        <a:rPr lang="de-AT" dirty="0" err="1">
                          <a:effectLst/>
                        </a:rPr>
                        <a:t>Thinking</a:t>
                      </a:r>
                      <a:endParaRPr lang="de-AT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65846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 dirty="0">
                          <a:effectLst/>
                        </a:rPr>
                        <a:t>Agile Project Management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 dirty="0">
                          <a:effectLst/>
                        </a:rPr>
                        <a:t>-&gt;</a:t>
                      </a:r>
                      <a:r>
                        <a:rPr lang="de-AT" dirty="0" err="1">
                          <a:effectLst/>
                        </a:rPr>
                        <a:t>present</a:t>
                      </a:r>
                      <a:r>
                        <a:rPr lang="de-AT" dirty="0">
                          <a:effectLst/>
                        </a:rPr>
                        <a:t> </a:t>
                      </a:r>
                      <a:r>
                        <a:rPr lang="de-AT" dirty="0" err="1">
                          <a:effectLst/>
                        </a:rPr>
                        <a:t>project</a:t>
                      </a:r>
                      <a:r>
                        <a:rPr lang="de-AT" dirty="0">
                          <a:effectLst/>
                        </a:rPr>
                        <a:t> </a:t>
                      </a:r>
                      <a:r>
                        <a:rPr lang="de-AT" dirty="0" err="1">
                          <a:effectLst/>
                        </a:rPr>
                        <a:t>timeline</a:t>
                      </a:r>
                      <a:r>
                        <a:rPr lang="de-AT" dirty="0">
                          <a:effectLst/>
                        </a:rPr>
                        <a:t> &amp; </a:t>
                      </a:r>
                      <a:r>
                        <a:rPr lang="de-AT" dirty="0" err="1">
                          <a:effectLst/>
                        </a:rPr>
                        <a:t>how</a:t>
                      </a:r>
                      <a:r>
                        <a:rPr lang="de-AT" dirty="0">
                          <a:effectLst/>
                        </a:rPr>
                        <a:t> </a:t>
                      </a:r>
                      <a:r>
                        <a:rPr lang="de-AT" dirty="0" err="1">
                          <a:effectLst/>
                        </a:rPr>
                        <a:t>modules</a:t>
                      </a:r>
                      <a:r>
                        <a:rPr lang="de-AT" dirty="0">
                          <a:effectLst/>
                        </a:rPr>
                        <a:t> in </a:t>
                      </a:r>
                      <a:r>
                        <a:rPr lang="de-AT" dirty="0" err="1">
                          <a:effectLst/>
                        </a:rPr>
                        <a:t>project</a:t>
                      </a:r>
                      <a:r>
                        <a:rPr lang="de-AT" dirty="0">
                          <a:effectLst/>
                        </a:rPr>
                        <a:t> </a:t>
                      </a:r>
                      <a:r>
                        <a:rPr lang="de-AT" dirty="0" err="1">
                          <a:effectLst/>
                        </a:rPr>
                        <a:t>interact</a:t>
                      </a:r>
                      <a:endParaRPr lang="de-AT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52170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>
                          <a:effectLst/>
                        </a:rPr>
                        <a:t>Communication: Writing &amp; Presentation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28241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>
                          <a:effectLst/>
                        </a:rPr>
                        <a:t>EDA: Data Visualization &amp; Exploration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26067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>
                          <a:effectLst/>
                        </a:rPr>
                        <a:t>Modeling / Statistics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89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de-AT">
                          <a:effectLst/>
                        </a:rPr>
                        <a:t>Programming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5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277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AC7EC-8FB2-9176-BD76-CCA51A82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CDEDE94-AF08-AD4F-E03B-50ABC8A1C578}"/>
              </a:ext>
            </a:extLst>
          </p:cNvPr>
          <p:cNvSpPr txBox="1"/>
          <p:nvPr/>
        </p:nvSpPr>
        <p:spPr>
          <a:xfrm>
            <a:off x="931653" y="2798168"/>
            <a:ext cx="8149805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The following code defines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discover_data_files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()`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which discovers and saves the names and location of the data files to be ingested.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This function uses RAW_DATA_PATH paths given by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setup_project_paths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()`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Additionally it can flexibly access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file_patterns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or access single years only and 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This function is necessary to allow this code to run on different machines or when the project folder is located in different locations on the same machine.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Also this allows an unspecified number of files corresponding to the given name pattern to be loaded automatically, thus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future_proofing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the data pipeline for when files are changed or when additional files for years &lt;2015 or &gt;2025 become available.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92A8A03-C6B0-AC7D-E33C-B9A3FFDACDF8}"/>
              </a:ext>
            </a:extLst>
          </p:cNvPr>
          <p:cNvSpPr txBox="1"/>
          <p:nvPr/>
        </p:nvSpPr>
        <p:spPr>
          <a:xfrm>
            <a:off x="1240046" y="500332"/>
            <a:ext cx="773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Case </a:t>
            </a:r>
            <a:r>
              <a:rPr lang="de-AT" dirty="0" err="1"/>
              <a:t>study</a:t>
            </a:r>
            <a:r>
              <a:rPr lang="de-AT" dirty="0"/>
              <a:t>: Future </a:t>
            </a:r>
            <a:r>
              <a:rPr lang="de-AT" dirty="0" err="1"/>
              <a:t>proofing</a:t>
            </a:r>
            <a:r>
              <a:rPr lang="de-AT" dirty="0"/>
              <a:t>. </a:t>
            </a:r>
            <a:r>
              <a:rPr lang="de-AT" dirty="0" err="1"/>
              <a:t>Why</a:t>
            </a:r>
            <a:r>
              <a:rPr lang="de-AT" dirty="0"/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`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discover_data_files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()`?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de-AT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0D9D6D2-D624-4F88-6AE4-D47BD15A969D}"/>
              </a:ext>
            </a:extLst>
          </p:cNvPr>
          <p:cNvSpPr txBox="1"/>
          <p:nvPr/>
        </p:nvSpPr>
        <p:spPr>
          <a:xfrm>
            <a:off x="1004258" y="1662023"/>
            <a:ext cx="773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Use Case: </a:t>
            </a:r>
          </a:p>
          <a:p>
            <a:r>
              <a:rPr lang="de-AT" dirty="0"/>
              <a:t>The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used</a:t>
            </a:r>
            <a:r>
              <a:rPr lang="de-AT" dirty="0"/>
              <a:t> for </a:t>
            </a:r>
            <a:r>
              <a:rPr lang="de-AT" dirty="0" err="1"/>
              <a:t>prediction</a:t>
            </a:r>
            <a:r>
              <a:rPr lang="de-AT" dirty="0"/>
              <a:t> </a:t>
            </a:r>
            <a:r>
              <a:rPr lang="de-AT" dirty="0" err="1"/>
              <a:t>may</a:t>
            </a:r>
            <a:r>
              <a:rPr lang="de-AT" dirty="0"/>
              <a:t> </a:t>
            </a:r>
            <a:r>
              <a:rPr lang="de-AT" dirty="0" err="1"/>
              <a:t>change</a:t>
            </a:r>
            <a:r>
              <a:rPr lang="de-AT" dirty="0"/>
              <a:t>. Additional </a:t>
            </a:r>
            <a:r>
              <a:rPr lang="de-AT" dirty="0" err="1"/>
              <a:t>files</a:t>
            </a:r>
            <a:r>
              <a:rPr lang="de-AT" dirty="0"/>
              <a:t> </a:t>
            </a:r>
            <a:r>
              <a:rPr lang="de-AT" dirty="0" err="1"/>
              <a:t>may</a:t>
            </a:r>
            <a:r>
              <a:rPr lang="de-AT" dirty="0"/>
              <a:t> </a:t>
            </a:r>
            <a:r>
              <a:rPr lang="de-AT" dirty="0" err="1"/>
              <a:t>become</a:t>
            </a:r>
            <a:r>
              <a:rPr lang="de-AT" dirty="0"/>
              <a:t> </a:t>
            </a:r>
            <a:r>
              <a:rPr lang="de-AT" dirty="0" err="1"/>
              <a:t>available</a:t>
            </a:r>
            <a:r>
              <a:rPr lang="de-AT" dirty="0"/>
              <a:t>,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existing</a:t>
            </a:r>
            <a:r>
              <a:rPr lang="de-AT" dirty="0"/>
              <a:t> </a:t>
            </a:r>
            <a:r>
              <a:rPr lang="de-AT" dirty="0" err="1"/>
              <a:t>files</a:t>
            </a:r>
            <a:r>
              <a:rPr lang="de-AT" dirty="0"/>
              <a:t> </a:t>
            </a:r>
            <a:r>
              <a:rPr lang="de-AT" dirty="0" err="1"/>
              <a:t>may</a:t>
            </a:r>
            <a:r>
              <a:rPr lang="de-AT" dirty="0"/>
              <a:t> </a:t>
            </a:r>
            <a:r>
              <a:rPr lang="de-AT" dirty="0" err="1"/>
              <a:t>change</a:t>
            </a:r>
            <a:r>
              <a:rPr lang="de-A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653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1475</Words>
  <Application>Microsoft Office PowerPoint</Application>
  <PresentationFormat>Breitbild</PresentationFormat>
  <Paragraphs>153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Ringler (FORESIGHT)</dc:creator>
  <cp:lastModifiedBy>Paul Ringler (FORESIGHT)</cp:lastModifiedBy>
  <cp:revision>9</cp:revision>
  <dcterms:created xsi:type="dcterms:W3CDTF">2025-09-02T07:17:04Z</dcterms:created>
  <dcterms:modified xsi:type="dcterms:W3CDTF">2025-09-28T12:24:50Z</dcterms:modified>
</cp:coreProperties>
</file>