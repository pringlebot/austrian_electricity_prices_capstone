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2"/>
  </p:notesMasterIdLst>
  <p:sldIdLst>
    <p:sldId id="256" r:id="rId2"/>
    <p:sldId id="261" r:id="rId3"/>
    <p:sldId id="263" r:id="rId4"/>
    <p:sldId id="264" r:id="rId5"/>
    <p:sldId id="275" r:id="rId6"/>
    <p:sldId id="276" r:id="rId7"/>
    <p:sldId id="272" r:id="rId8"/>
    <p:sldId id="273" r:id="rId9"/>
    <p:sldId id="277" r:id="rId10"/>
    <p:sldId id="260" r:id="rId11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A2C9DE"/>
    <a:srgbClr val="5A9E6F"/>
    <a:srgbClr val="E3EFF5"/>
    <a:srgbClr val="C4DCEA"/>
    <a:srgbClr val="2C5F7C"/>
    <a:srgbClr val="8B7355"/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ittlere Formatvorlage 2 - Akz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Keine Formatvorlage, kein Raster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7" autoAdjust="0"/>
    <p:restoredTop sz="68729" autoAdjust="0"/>
  </p:normalViewPr>
  <p:slideViewPr>
    <p:cSldViewPr snapToGrid="0" snapToObjects="1">
      <p:cViewPr varScale="1">
        <p:scale>
          <a:sx n="80" d="100"/>
          <a:sy n="80" d="100"/>
        </p:scale>
        <p:origin x="1776" y="90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notesViewPr>
    <p:cSldViewPr snapToGrid="0" snapToObjects="1">
      <p:cViewPr varScale="1">
        <p:scale>
          <a:sx n="89" d="100"/>
          <a:sy n="89" d="100"/>
        </p:scale>
        <p:origin x="2940" y="78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AT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1316F3D-AFAA-47CB-BB97-3BC1CCDC8235}" type="datetimeFigureOut">
              <a:rPr lang="de-AT" smtClean="0"/>
              <a:t>22.10.2025</a:t>
            </a:fld>
            <a:endParaRPr lang="de-AT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AT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AT"/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AT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3313929-3CD4-4E13-B022-FAF4159C8639}" type="slidenum">
              <a:rPr lang="de-AT" smtClean="0"/>
              <a:t>‹Nr.›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46440094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AT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3313929-3CD4-4E13-B022-FAF4159C8639}" type="slidenum">
              <a:rPr lang="de-AT" smtClean="0"/>
              <a:t>1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354004983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r>
              <a:rPr lang="en-US" dirty="0"/>
              <a:t>Post-Ukraine invasion: Austrian energy prices surged and became highly volatile </a:t>
            </a:r>
          </a:p>
          <a:p>
            <a:pPr marL="171450" indent="-171450">
              <a:buFontTx/>
              <a:buChar char="-"/>
            </a:pP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</a:t>
            </a:r>
            <a:r>
              <a:rPr lang="en-US" dirty="0"/>
              <a:t> Target audience: Small manufacturing companies, power suppliers </a:t>
            </a:r>
          </a:p>
          <a:p>
            <a:pPr marL="171450" indent="-171450">
              <a:buFontTx/>
              <a:buChar char="-"/>
            </a:pP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</a:t>
            </a:r>
            <a:r>
              <a:rPr lang="en-US" dirty="0"/>
              <a:t> Over-the-counter contracts: fixed prices for 1-6 months ahead </a:t>
            </a:r>
          </a:p>
          <a:p>
            <a:pPr marL="171450" indent="-171450">
              <a:buFontTx/>
              <a:buChar char="-"/>
            </a:pP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</a:t>
            </a:r>
            <a:r>
              <a:rPr lang="en-US" dirty="0"/>
              <a:t> Forecasting enables: (1) Risk hedging, (2) Optimal contract timing </a:t>
            </a:r>
          </a:p>
          <a:p>
            <a:pPr marL="171450" indent="-171450">
              <a:buFontTx/>
              <a:buChar char="-"/>
            </a:pP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</a:t>
            </a:r>
            <a:r>
              <a:rPr lang="en-US" dirty="0"/>
              <a:t> This project: Lightweight forecasting tool prototype using ARIMA/ARIMAX</a:t>
            </a:r>
            <a:endParaRPr lang="de-AT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3313929-3CD4-4E13-B022-FAF4159C8639}" type="slidenum">
              <a:rPr lang="de-AT" smtClean="0"/>
              <a:t>2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86436019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r>
              <a:rPr lang="de-AT" dirty="0"/>
              <a:t>Classic ML </a:t>
            </a:r>
            <a:r>
              <a:rPr lang="de-AT" dirty="0" err="1"/>
              <a:t>workflow</a:t>
            </a:r>
            <a:r>
              <a:rPr lang="de-AT" dirty="0"/>
              <a:t>: Problem Definition → Data → Model → Evaluation </a:t>
            </a:r>
          </a:p>
          <a:p>
            <a:pPr marL="171450" indent="-171450">
              <a:buFontTx/>
              <a:buChar char="-"/>
            </a:pPr>
            <a:r>
              <a:rPr lang="de-AT" dirty="0"/>
              <a:t>This </a:t>
            </a:r>
            <a:r>
              <a:rPr lang="de-AT" dirty="0" err="1"/>
              <a:t>project</a:t>
            </a:r>
            <a:r>
              <a:rPr lang="de-AT" dirty="0"/>
              <a:t> </a:t>
            </a:r>
            <a:r>
              <a:rPr lang="de-AT" dirty="0" err="1"/>
              <a:t>covers</a:t>
            </a:r>
            <a:r>
              <a:rPr lang="de-AT" dirty="0"/>
              <a:t>: ✓ Data Engineering, ✓ EDA, ✓ Model Building, ✓ Evaluation </a:t>
            </a:r>
          </a:p>
          <a:p>
            <a:pPr marL="171450" indent="-171450">
              <a:buFontTx/>
              <a:buChar char="-"/>
            </a:pPr>
            <a:r>
              <a:rPr lang="de-AT" dirty="0"/>
              <a:t>Out of </a:t>
            </a:r>
            <a:r>
              <a:rPr lang="de-AT" dirty="0" err="1"/>
              <a:t>scope</a:t>
            </a:r>
            <a:r>
              <a:rPr lang="de-AT" dirty="0"/>
              <a:t>: </a:t>
            </a:r>
            <a:r>
              <a:rPr lang="de-AT" dirty="0" err="1"/>
              <a:t>Deployment</a:t>
            </a:r>
            <a:r>
              <a:rPr lang="de-AT" dirty="0"/>
              <a:t>, Monitoring (</a:t>
            </a:r>
            <a:r>
              <a:rPr lang="de-AT" dirty="0" err="1"/>
              <a:t>future</a:t>
            </a:r>
            <a:r>
              <a:rPr lang="de-AT" dirty="0"/>
              <a:t> </a:t>
            </a:r>
            <a:r>
              <a:rPr lang="de-AT" dirty="0" err="1"/>
              <a:t>work</a:t>
            </a:r>
            <a:r>
              <a:rPr lang="de-AT" dirty="0"/>
              <a:t>) </a:t>
            </a:r>
          </a:p>
          <a:p>
            <a:pPr marL="171450" indent="-171450">
              <a:buFontTx/>
              <a:buChar char="-"/>
            </a:pPr>
            <a:r>
              <a:rPr lang="de-AT" dirty="0"/>
              <a:t>6 </a:t>
            </a:r>
            <a:r>
              <a:rPr lang="de-AT" dirty="0" err="1"/>
              <a:t>data</a:t>
            </a:r>
            <a:r>
              <a:rPr lang="de-AT" dirty="0"/>
              <a:t> </a:t>
            </a:r>
            <a:r>
              <a:rPr lang="de-AT" dirty="0" err="1"/>
              <a:t>sources</a:t>
            </a:r>
            <a:r>
              <a:rPr lang="de-AT" dirty="0"/>
              <a:t>: </a:t>
            </a:r>
            <a:r>
              <a:rPr lang="de-AT" dirty="0" err="1"/>
              <a:t>Electricity</a:t>
            </a:r>
            <a:r>
              <a:rPr lang="de-AT" dirty="0"/>
              <a:t> </a:t>
            </a:r>
            <a:r>
              <a:rPr lang="de-AT" dirty="0" err="1"/>
              <a:t>prices</a:t>
            </a:r>
            <a:r>
              <a:rPr lang="de-AT" dirty="0"/>
              <a:t>, CO2, Gas, Climate, </a:t>
            </a:r>
            <a:r>
              <a:rPr lang="de-AT" dirty="0" err="1"/>
              <a:t>Production</a:t>
            </a:r>
            <a:r>
              <a:rPr lang="de-AT" dirty="0"/>
              <a:t> Mix, Economy </a:t>
            </a:r>
          </a:p>
          <a:p>
            <a:pPr marL="171450" indent="-171450">
              <a:buFontTx/>
              <a:buChar char="-"/>
            </a:pPr>
            <a:r>
              <a:rPr lang="de-AT" dirty="0"/>
              <a:t>Semi-</a:t>
            </a:r>
            <a:r>
              <a:rPr lang="de-AT" dirty="0" err="1"/>
              <a:t>automated</a:t>
            </a:r>
            <a:r>
              <a:rPr lang="de-AT" dirty="0"/>
              <a:t> ETL </a:t>
            </a:r>
            <a:r>
              <a:rPr lang="de-AT" dirty="0" err="1"/>
              <a:t>pipeline</a:t>
            </a:r>
            <a:r>
              <a:rPr lang="de-AT" dirty="0"/>
              <a:t> </a:t>
            </a:r>
            <a:r>
              <a:rPr lang="de-AT" dirty="0" err="1"/>
              <a:t>designed</a:t>
            </a:r>
            <a:r>
              <a:rPr lang="de-AT" dirty="0"/>
              <a:t> for </a:t>
            </a:r>
            <a:r>
              <a:rPr lang="de-AT" dirty="0" err="1"/>
              <a:t>continuous</a:t>
            </a:r>
            <a:r>
              <a:rPr lang="de-AT" dirty="0"/>
              <a:t> </a:t>
            </a:r>
            <a:r>
              <a:rPr lang="de-AT" dirty="0" err="1"/>
              <a:t>updates</a:t>
            </a:r>
            <a:r>
              <a:rPr lang="de-AT" dirty="0"/>
              <a:t>. </a:t>
            </a:r>
            <a:r>
              <a:rPr lang="de-AT" dirty="0" err="1"/>
              <a:t>I.e</a:t>
            </a:r>
            <a:r>
              <a:rPr lang="de-AT" dirty="0"/>
              <a:t>: Data </a:t>
            </a:r>
            <a:r>
              <a:rPr lang="de-AT" dirty="0" err="1"/>
              <a:t>extraction</a:t>
            </a:r>
            <a:r>
              <a:rPr lang="de-AT" dirty="0"/>
              <a:t>, </a:t>
            </a:r>
            <a:r>
              <a:rPr lang="de-AT" dirty="0" err="1"/>
              <a:t>then</a:t>
            </a:r>
            <a:r>
              <a:rPr lang="de-AT" dirty="0"/>
              <a:t> </a:t>
            </a:r>
            <a:r>
              <a:rPr lang="de-AT" dirty="0" err="1"/>
              <a:t>transformation</a:t>
            </a:r>
            <a:r>
              <a:rPr lang="de-AT" dirty="0"/>
              <a:t> and </a:t>
            </a:r>
            <a:r>
              <a:rPr lang="de-AT" dirty="0" err="1"/>
              <a:t>finally</a:t>
            </a:r>
            <a:r>
              <a:rPr lang="de-AT" dirty="0"/>
              <a:t> </a:t>
            </a:r>
            <a:r>
              <a:rPr lang="de-AT" dirty="0" err="1"/>
              <a:t>shaping</a:t>
            </a:r>
            <a:r>
              <a:rPr lang="de-AT" dirty="0"/>
              <a:t> </a:t>
            </a:r>
            <a:r>
              <a:rPr lang="de-AT" dirty="0" err="1"/>
              <a:t>into</a:t>
            </a:r>
            <a:r>
              <a:rPr lang="de-AT" dirty="0"/>
              <a:t> a </a:t>
            </a:r>
            <a:r>
              <a:rPr lang="de-AT" dirty="0" err="1"/>
              <a:t>data</a:t>
            </a:r>
            <a:r>
              <a:rPr lang="de-AT" dirty="0"/>
              <a:t> </a:t>
            </a:r>
            <a:r>
              <a:rPr lang="de-AT" dirty="0" err="1"/>
              <a:t>file</a:t>
            </a:r>
            <a:r>
              <a:rPr lang="de-AT" dirty="0"/>
              <a:t> for </a:t>
            </a:r>
            <a:r>
              <a:rPr lang="de-AT" dirty="0" err="1"/>
              <a:t>further</a:t>
            </a:r>
            <a:r>
              <a:rPr lang="de-AT" dirty="0"/>
              <a:t> </a:t>
            </a:r>
            <a:r>
              <a:rPr lang="de-AT" dirty="0" err="1"/>
              <a:t>work</a:t>
            </a:r>
            <a:r>
              <a:rPr lang="de-AT" dirty="0"/>
              <a:t>. Code </a:t>
            </a:r>
            <a:r>
              <a:rPr lang="de-AT" dirty="0" err="1"/>
              <a:t>once</a:t>
            </a:r>
            <a:r>
              <a:rPr lang="de-AT" dirty="0"/>
              <a:t>, and </a:t>
            </a:r>
            <a:r>
              <a:rPr lang="de-AT" dirty="0" err="1"/>
              <a:t>then</a:t>
            </a:r>
            <a:r>
              <a:rPr lang="de-AT" dirty="0"/>
              <a:t> </a:t>
            </a:r>
            <a:r>
              <a:rPr lang="de-AT" dirty="0" err="1"/>
              <a:t>analyse</a:t>
            </a:r>
            <a:r>
              <a:rPr lang="de-AT" dirty="0"/>
              <a:t>.</a:t>
            </a:r>
          </a:p>
          <a:p>
            <a:pPr marL="171450" indent="-171450">
              <a:buFontTx/>
              <a:buChar char="-"/>
            </a:pPr>
            <a:r>
              <a:rPr lang="de-AT" dirty="0"/>
              <a:t>(vs. </a:t>
            </a:r>
            <a:r>
              <a:rPr lang="de-AT" dirty="0" err="1"/>
              <a:t>loading</a:t>
            </a:r>
            <a:r>
              <a:rPr lang="de-AT" dirty="0"/>
              <a:t> </a:t>
            </a:r>
            <a:r>
              <a:rPr lang="de-AT" dirty="0" err="1"/>
              <a:t>the</a:t>
            </a:r>
            <a:r>
              <a:rPr lang="de-AT" dirty="0"/>
              <a:t> </a:t>
            </a:r>
            <a:r>
              <a:rPr lang="de-AT" dirty="0" err="1"/>
              <a:t>data</a:t>
            </a:r>
            <a:r>
              <a:rPr lang="de-AT" dirty="0"/>
              <a:t> </a:t>
            </a:r>
            <a:r>
              <a:rPr lang="de-AT" dirty="0" err="1"/>
              <a:t>into</a:t>
            </a:r>
            <a:r>
              <a:rPr lang="de-AT" dirty="0"/>
              <a:t> a </a:t>
            </a:r>
            <a:r>
              <a:rPr lang="de-AT" dirty="0" err="1"/>
              <a:t>raw</a:t>
            </a:r>
            <a:r>
              <a:rPr lang="de-AT" dirty="0"/>
              <a:t> </a:t>
            </a:r>
            <a:r>
              <a:rPr lang="de-AT" dirty="0" err="1"/>
              <a:t>file</a:t>
            </a:r>
            <a:r>
              <a:rPr lang="de-AT" dirty="0"/>
              <a:t> and </a:t>
            </a:r>
            <a:r>
              <a:rPr lang="de-AT" dirty="0" err="1"/>
              <a:t>only</a:t>
            </a:r>
            <a:r>
              <a:rPr lang="de-AT" dirty="0"/>
              <a:t> </a:t>
            </a:r>
            <a:r>
              <a:rPr lang="de-AT" dirty="0" err="1"/>
              <a:t>transforming</a:t>
            </a:r>
            <a:r>
              <a:rPr lang="de-AT" dirty="0"/>
              <a:t> </a:t>
            </a:r>
            <a:r>
              <a:rPr lang="de-AT" dirty="0" err="1"/>
              <a:t>it</a:t>
            </a:r>
            <a:r>
              <a:rPr lang="de-AT" dirty="0"/>
              <a:t> </a:t>
            </a:r>
            <a:r>
              <a:rPr lang="de-AT" dirty="0" err="1"/>
              <a:t>whenever</a:t>
            </a:r>
            <a:r>
              <a:rPr lang="de-AT" dirty="0"/>
              <a:t> </a:t>
            </a:r>
            <a:r>
              <a:rPr lang="de-AT" dirty="0" err="1"/>
              <a:t>it</a:t>
            </a:r>
            <a:r>
              <a:rPr lang="de-AT" dirty="0"/>
              <a:t> </a:t>
            </a:r>
            <a:r>
              <a:rPr lang="de-AT" dirty="0" err="1"/>
              <a:t>is</a:t>
            </a:r>
            <a:r>
              <a:rPr lang="de-AT" dirty="0"/>
              <a:t> </a:t>
            </a:r>
            <a:r>
              <a:rPr lang="de-AT" dirty="0" err="1"/>
              <a:t>needed</a:t>
            </a:r>
            <a:r>
              <a:rPr lang="de-AT" dirty="0"/>
              <a:t> for </a:t>
            </a:r>
            <a:r>
              <a:rPr lang="de-AT" dirty="0" err="1"/>
              <a:t>analysis</a:t>
            </a:r>
            <a:r>
              <a:rPr lang="de-AT" dirty="0"/>
              <a:t>) Transformation Code for </a:t>
            </a:r>
            <a:r>
              <a:rPr lang="de-AT" dirty="0" err="1"/>
              <a:t>each</a:t>
            </a:r>
            <a:r>
              <a:rPr lang="de-AT" dirty="0"/>
              <a:t> </a:t>
            </a:r>
            <a:r>
              <a:rPr lang="de-AT" dirty="0" err="1"/>
              <a:t>analysis</a:t>
            </a:r>
            <a:r>
              <a:rPr lang="de-AT" dirty="0"/>
              <a:t>.</a:t>
            </a:r>
          </a:p>
          <a:p>
            <a:pPr marL="171450" indent="-171450">
              <a:buFontTx/>
              <a:buChar char="-"/>
            </a:pPr>
            <a:endParaRPr lang="de-AT" dirty="0"/>
          </a:p>
          <a:p>
            <a:pPr marL="0" indent="0">
              <a:buFontTx/>
              <a:buNone/>
            </a:pPr>
            <a:r>
              <a:rPr lang="de-AT" dirty="0"/>
              <a:t>In </a:t>
            </a:r>
            <a:r>
              <a:rPr lang="de-AT" dirty="0" err="1"/>
              <a:t>this</a:t>
            </a:r>
            <a:r>
              <a:rPr lang="de-AT" dirty="0"/>
              <a:t> </a:t>
            </a:r>
            <a:r>
              <a:rPr lang="de-AT" dirty="0" err="1"/>
              <a:t>presentation</a:t>
            </a:r>
            <a:r>
              <a:rPr lang="de-AT" dirty="0"/>
              <a:t> </a:t>
            </a:r>
            <a:r>
              <a:rPr lang="de-AT" dirty="0" err="1"/>
              <a:t>I´ll</a:t>
            </a:r>
            <a:r>
              <a:rPr lang="de-AT" dirty="0"/>
              <a:t> </a:t>
            </a:r>
            <a:r>
              <a:rPr lang="de-AT" dirty="0" err="1"/>
              <a:t>start</a:t>
            </a:r>
            <a:r>
              <a:rPr lang="de-AT" dirty="0"/>
              <a:t> </a:t>
            </a:r>
            <a:r>
              <a:rPr lang="de-AT" dirty="0" err="1"/>
              <a:t>with</a:t>
            </a:r>
            <a:r>
              <a:rPr lang="de-AT" dirty="0"/>
              <a:t> an </a:t>
            </a:r>
            <a:r>
              <a:rPr lang="de-AT" dirty="0" err="1"/>
              <a:t>overview</a:t>
            </a:r>
            <a:r>
              <a:rPr lang="de-AT" dirty="0"/>
              <a:t> of </a:t>
            </a:r>
            <a:r>
              <a:rPr lang="de-AT" dirty="0" err="1"/>
              <a:t>the</a:t>
            </a:r>
            <a:r>
              <a:rPr lang="de-AT" dirty="0"/>
              <a:t> </a:t>
            </a:r>
            <a:r>
              <a:rPr lang="de-AT" dirty="0" err="1"/>
              <a:t>data</a:t>
            </a:r>
            <a:r>
              <a:rPr lang="de-AT" dirty="0"/>
              <a:t> and </a:t>
            </a:r>
            <a:r>
              <a:rPr lang="de-AT" dirty="0" err="1"/>
              <a:t>crucial</a:t>
            </a:r>
            <a:r>
              <a:rPr lang="de-AT" dirty="0"/>
              <a:t> EDA </a:t>
            </a:r>
            <a:r>
              <a:rPr lang="de-AT" dirty="0" err="1"/>
              <a:t>findings</a:t>
            </a:r>
            <a:r>
              <a:rPr lang="de-AT" dirty="0"/>
              <a:t>, </a:t>
            </a:r>
            <a:r>
              <a:rPr lang="de-AT" dirty="0" err="1"/>
              <a:t>then</a:t>
            </a:r>
            <a:r>
              <a:rPr lang="de-AT" dirty="0"/>
              <a:t> </a:t>
            </a:r>
            <a:r>
              <a:rPr lang="de-AT" dirty="0" err="1"/>
              <a:t>present</a:t>
            </a:r>
            <a:r>
              <a:rPr lang="de-AT" dirty="0"/>
              <a:t> </a:t>
            </a:r>
            <a:r>
              <a:rPr lang="de-AT" dirty="0" err="1"/>
              <a:t>the</a:t>
            </a:r>
            <a:r>
              <a:rPr lang="de-AT" dirty="0"/>
              <a:t> </a:t>
            </a:r>
            <a:r>
              <a:rPr lang="de-AT" dirty="0" err="1"/>
              <a:t>results</a:t>
            </a:r>
            <a:r>
              <a:rPr lang="de-AT" dirty="0"/>
              <a:t> of </a:t>
            </a:r>
            <a:r>
              <a:rPr lang="de-AT" dirty="0" err="1"/>
              <a:t>model</a:t>
            </a:r>
            <a:r>
              <a:rPr lang="de-AT" dirty="0"/>
              <a:t> </a:t>
            </a:r>
            <a:r>
              <a:rPr lang="de-AT" dirty="0" err="1"/>
              <a:t>building</a:t>
            </a:r>
            <a:r>
              <a:rPr lang="de-AT" dirty="0"/>
              <a:t> and </a:t>
            </a:r>
            <a:r>
              <a:rPr lang="de-AT" dirty="0" err="1"/>
              <a:t>the</a:t>
            </a:r>
            <a:r>
              <a:rPr lang="de-AT" dirty="0"/>
              <a:t> final </a:t>
            </a:r>
            <a:r>
              <a:rPr lang="de-AT" dirty="0" err="1"/>
              <a:t>model</a:t>
            </a:r>
            <a:r>
              <a:rPr lang="de-AT" dirty="0"/>
              <a:t>. </a:t>
            </a:r>
          </a:p>
          <a:p>
            <a:pPr marL="0" indent="0">
              <a:buFontTx/>
              <a:buNone/>
            </a:pPr>
            <a:r>
              <a:rPr lang="de-AT" dirty="0"/>
              <a:t>I also </a:t>
            </a:r>
            <a:r>
              <a:rPr lang="de-AT" dirty="0" err="1"/>
              <a:t>have</a:t>
            </a:r>
            <a:r>
              <a:rPr lang="de-AT" dirty="0"/>
              <a:t> a </a:t>
            </a:r>
            <a:r>
              <a:rPr lang="de-AT" dirty="0" err="1"/>
              <a:t>slide</a:t>
            </a:r>
            <a:r>
              <a:rPr lang="de-AT" dirty="0"/>
              <a:t> </a:t>
            </a:r>
            <a:r>
              <a:rPr lang="de-AT" dirty="0" err="1"/>
              <a:t>with</a:t>
            </a:r>
            <a:r>
              <a:rPr lang="de-AT" dirty="0"/>
              <a:t> </a:t>
            </a:r>
            <a:r>
              <a:rPr lang="de-AT" dirty="0" err="1"/>
              <a:t>details</a:t>
            </a:r>
            <a:r>
              <a:rPr lang="de-AT" dirty="0"/>
              <a:t> on </a:t>
            </a:r>
            <a:r>
              <a:rPr lang="de-AT" dirty="0" err="1"/>
              <a:t>the</a:t>
            </a:r>
            <a:r>
              <a:rPr lang="de-AT" dirty="0"/>
              <a:t> ETL-pipeline </a:t>
            </a:r>
            <a:r>
              <a:rPr lang="de-AT" dirty="0" err="1"/>
              <a:t>which</a:t>
            </a:r>
            <a:r>
              <a:rPr lang="de-AT" dirty="0"/>
              <a:t> </a:t>
            </a:r>
            <a:r>
              <a:rPr lang="de-AT" dirty="0" err="1"/>
              <a:t>I´ll</a:t>
            </a:r>
            <a:r>
              <a:rPr lang="de-AT" dirty="0"/>
              <a:t> </a:t>
            </a:r>
            <a:r>
              <a:rPr lang="de-AT" dirty="0" err="1"/>
              <a:t>gladly</a:t>
            </a:r>
            <a:r>
              <a:rPr lang="de-AT" dirty="0"/>
              <a:t> </a:t>
            </a:r>
            <a:r>
              <a:rPr lang="de-AT" dirty="0" err="1"/>
              <a:t>go</a:t>
            </a:r>
            <a:r>
              <a:rPr lang="de-AT" dirty="0"/>
              <a:t> </a:t>
            </a:r>
            <a:r>
              <a:rPr lang="de-AT" dirty="0" err="1"/>
              <a:t>through</a:t>
            </a:r>
            <a:r>
              <a:rPr lang="de-AT" dirty="0"/>
              <a:t>, </a:t>
            </a:r>
            <a:r>
              <a:rPr lang="de-AT" dirty="0" err="1"/>
              <a:t>if</a:t>
            </a:r>
            <a:r>
              <a:rPr lang="de-AT" dirty="0"/>
              <a:t> </a:t>
            </a:r>
            <a:r>
              <a:rPr lang="de-AT" dirty="0" err="1"/>
              <a:t>there</a:t>
            </a:r>
            <a:r>
              <a:rPr lang="de-AT" dirty="0"/>
              <a:t> </a:t>
            </a:r>
            <a:r>
              <a:rPr lang="de-AT" dirty="0" err="1"/>
              <a:t>is</a:t>
            </a:r>
            <a:r>
              <a:rPr lang="de-AT" dirty="0"/>
              <a:t> </a:t>
            </a:r>
            <a:r>
              <a:rPr lang="de-AT" dirty="0" err="1"/>
              <a:t>enough</a:t>
            </a:r>
            <a:r>
              <a:rPr lang="de-AT" dirty="0"/>
              <a:t> time.</a:t>
            </a:r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3313929-3CD4-4E13-B022-FAF4159C8639}" type="slidenum">
              <a:rPr lang="de-AT" smtClean="0"/>
              <a:t>3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319329934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CF104A-A9CC-2A3C-893A-EAF615C71A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C779E91D-6846-0F79-7D8B-195636F4CC6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0B280ED4-7569-D021-56F3-853993E8783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AT" dirty="0"/>
              <a:t>ausgeblendet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09C1B0B7-DB65-2C66-8554-EF056809836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3313929-3CD4-4E13-B022-FAF4159C8639}" type="slidenum">
              <a:rPr lang="de-AT" smtClean="0"/>
              <a:t>4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317779522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B487C7-3249-6259-3E67-86E2FD38D4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FEFC7E90-E74B-83C3-36B3-0D73DAD226D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26336CF7-D528-6458-4483-A8BB350C505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endParaRPr lang="de-AT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25EF69F6-166B-D2B2-51FD-B99D0B95B96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3313929-3CD4-4E13-B022-FAF4159C8639}" type="slidenum">
              <a:rPr lang="de-AT" smtClean="0"/>
              <a:t>5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9359730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BC3263-465E-35B6-3CC4-DC5128758C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1CD6F502-5BE5-F1C6-41F1-EEAE6831504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67F2627C-F41D-9737-F06E-403CA012152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r>
              <a:rPr lang="de-AT" dirty="0"/>
              <a:t>TO DO: Research, </a:t>
            </a:r>
            <a:r>
              <a:rPr lang="de-AT" dirty="0" err="1"/>
              <a:t>Stationarity</a:t>
            </a:r>
            <a:r>
              <a:rPr lang="de-AT" dirty="0"/>
              <a:t> </a:t>
            </a:r>
            <a:r>
              <a:rPr lang="de-AT" dirty="0" err="1"/>
              <a:t>Autocorrelation</a:t>
            </a:r>
            <a:r>
              <a:rPr lang="de-AT" dirty="0"/>
              <a:t> </a:t>
            </a:r>
            <a:r>
              <a:rPr lang="de-AT" dirty="0" err="1"/>
              <a:t>more</a:t>
            </a:r>
            <a:endParaRPr lang="de-AT" dirty="0"/>
          </a:p>
          <a:p>
            <a:pPr marL="171450" indent="-171450">
              <a:buFontTx/>
              <a:buChar char="-"/>
            </a:pPr>
            <a:r>
              <a:rPr lang="de-AT" dirty="0"/>
              <a:t>Research ADF and KPSS </a:t>
            </a:r>
            <a:r>
              <a:rPr lang="de-AT" dirty="0" err="1"/>
              <a:t>tests</a:t>
            </a:r>
            <a:r>
              <a:rPr lang="de-AT" dirty="0"/>
              <a:t> </a:t>
            </a:r>
            <a:r>
              <a:rPr lang="de-AT" dirty="0" err="1"/>
              <a:t>again</a:t>
            </a:r>
            <a:r>
              <a:rPr lang="de-AT" dirty="0"/>
              <a:t>, </a:t>
            </a:r>
            <a:r>
              <a:rPr lang="de-AT" dirty="0" err="1"/>
              <a:t>short</a:t>
            </a:r>
            <a:r>
              <a:rPr lang="de-AT" dirty="0"/>
              <a:t> </a:t>
            </a:r>
            <a:r>
              <a:rPr lang="de-AT" dirty="0" err="1"/>
              <a:t>explanation</a:t>
            </a:r>
            <a:r>
              <a:rPr lang="de-AT" dirty="0"/>
              <a:t> for </a:t>
            </a:r>
            <a:r>
              <a:rPr lang="de-AT" dirty="0" err="1"/>
              <a:t>those</a:t>
            </a:r>
            <a:endParaRPr lang="de-AT" dirty="0"/>
          </a:p>
          <a:p>
            <a:pPr marL="171450" indent="-171450">
              <a:buFontTx/>
              <a:buChar char="-"/>
            </a:pPr>
            <a:endParaRPr lang="de-AT" dirty="0"/>
          </a:p>
          <a:p>
            <a:pPr marL="171450" indent="-171450">
              <a:buFontTx/>
              <a:buChar char="-"/>
            </a:pPr>
            <a:r>
              <a:rPr lang="en-US" dirty="0"/>
              <a:t>Three regimes: Stable-Volatile-Stable sandwich structure </a:t>
            </a:r>
          </a:p>
          <a:p>
            <a:pPr marL="171450" indent="-171450">
              <a:buFontTx/>
              <a:buChar char="-"/>
            </a:pPr>
            <a:r>
              <a:rPr lang="en-US" dirty="0"/>
              <a:t>Pre-shock: Low prices, low volatility, stationary </a:t>
            </a:r>
            <a:endParaRPr 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171450" indent="-171450">
              <a:buFontTx/>
              <a:buChar char="-"/>
            </a:pPr>
            <a:r>
              <a:rPr lang="en-US" dirty="0"/>
              <a:t>Price shock: Mean jumped 5x, volatility exploded, non-stationary </a:t>
            </a:r>
            <a:endParaRPr 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171450" indent="-171450">
              <a:buFontTx/>
              <a:buChar char="-"/>
            </a:pPr>
            <a:r>
              <a:rPr lang="en-US" dirty="0"/>
              <a:t>Post-shock: Prices normalized at higher level, volatility decreased, stationary again </a:t>
            </a:r>
            <a:endParaRPr 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171450" indent="-171450">
              <a:buFontTx/>
              <a:buChar char="-"/>
            </a:pPr>
            <a:endParaRPr 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171450" indent="-171450">
              <a:buFontTx/>
              <a:buChar char="-"/>
            </a:pPr>
            <a:r>
              <a:rPr lang="en-US" dirty="0"/>
              <a:t>Modeling challenges: </a:t>
            </a:r>
          </a:p>
          <a:p>
            <a:pPr marL="628650" lvl="1" indent="-171450">
              <a:buFontTx/>
              <a:buChar char="-"/>
            </a:pPr>
            <a:r>
              <a:rPr lang="en-US" dirty="0"/>
              <a:t>Training on full period = learning from regime no longer valid </a:t>
            </a:r>
          </a:p>
          <a:p>
            <a:pPr marL="628650" lvl="1" indent="-171450">
              <a:buFontTx/>
              <a:buChar char="-"/>
            </a:pP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ARIMA requires N=XX months training data minimum and XX for testing for stable model, actual stationary period covers only XX months (so far)</a:t>
            </a:r>
          </a:p>
          <a:p>
            <a:pPr marL="628650" lvl="1" indent="-171450">
              <a:buFontTx/>
              <a:buChar char="-"/>
            </a:pP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</a:t>
            </a:r>
            <a:r>
              <a:rPr lang="en-US" dirty="0"/>
              <a:t>olution: Train on Period (2020-2023) = XX months with available exogenous data</a:t>
            </a:r>
          </a:p>
          <a:p>
            <a:pPr marL="457200" lvl="1" indent="0">
              <a:buFontTx/>
              <a:buNone/>
            </a:pPr>
            <a:endParaRPr lang="en-US" dirty="0"/>
          </a:p>
          <a:p>
            <a:pPr marL="457200" lvl="1" indent="0">
              <a:buFontTx/>
              <a:buNone/>
            </a:pP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		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n_months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	mean 	median 	std 	cv 	min 	max	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iqr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</a:p>
          <a:p>
            <a:pPr marL="457200" lvl="1" indent="0">
              <a:buFontTx/>
              <a:buNone/>
            </a:pP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stationary_pre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	72.0 	35.94 	33.50 	9.60 	0.27 	18.0 	62.0 	10.00 </a:t>
            </a:r>
          </a:p>
          <a:p>
            <a:pPr marL="457200" lvl="1" indent="0">
              <a:buFontTx/>
              <a:buNone/>
            </a:pP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price_shock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	26.0 	181.92 	174.25 	112.44 	0.62 	50.5 	488.0 	140.25 </a:t>
            </a:r>
          </a:p>
          <a:p>
            <a:pPr marL="457200" lvl="1" indent="0">
              <a:buFontTx/>
              <a:buNone/>
            </a:pP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stationary_post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	30.0 	89.27 	85.00 	22.70 	0.25 	59.0 	141.0 	29.00</a:t>
            </a:r>
            <a:endParaRPr lang="en-US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6289DCFE-4E2E-42AD-7EC2-44356AD7EC4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3313929-3CD4-4E13-B022-FAF4159C8639}" type="slidenum">
              <a:rPr lang="de-AT" smtClean="0"/>
              <a:t>6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197623111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r>
              <a:rPr lang="de-AT" dirty="0" err="1"/>
              <a:t>Ljung</a:t>
            </a:r>
            <a:r>
              <a:rPr lang="de-AT" dirty="0"/>
              <a:t>-Box </a:t>
            </a:r>
            <a:r>
              <a:rPr lang="de-AT" dirty="0" err="1"/>
              <a:t>tests</a:t>
            </a:r>
            <a:r>
              <a:rPr lang="de-AT" dirty="0"/>
              <a:t>: </a:t>
            </a:r>
            <a:r>
              <a:rPr lang="de-AT" dirty="0" err="1"/>
              <a:t>Residuals</a:t>
            </a:r>
            <a:r>
              <a:rPr lang="de-AT" dirty="0"/>
              <a:t> </a:t>
            </a:r>
            <a:r>
              <a:rPr lang="de-AT" dirty="0" err="1"/>
              <a:t>are</a:t>
            </a:r>
            <a:r>
              <a:rPr lang="de-AT" dirty="0"/>
              <a:t> </a:t>
            </a:r>
            <a:r>
              <a:rPr lang="de-AT" dirty="0" err="1"/>
              <a:t>uncorrelated</a:t>
            </a:r>
            <a:r>
              <a:rPr lang="de-AT" dirty="0"/>
              <a:t> → Model </a:t>
            </a:r>
            <a:r>
              <a:rPr lang="de-AT" dirty="0" err="1"/>
              <a:t>captured</a:t>
            </a:r>
            <a:r>
              <a:rPr lang="de-AT" dirty="0"/>
              <a:t> all </a:t>
            </a:r>
            <a:r>
              <a:rPr lang="de-AT" dirty="0" err="1"/>
              <a:t>predictable</a:t>
            </a:r>
            <a:r>
              <a:rPr lang="de-AT" dirty="0"/>
              <a:t> </a:t>
            </a:r>
            <a:r>
              <a:rPr lang="de-AT" dirty="0" err="1"/>
              <a:t>patterns</a:t>
            </a:r>
            <a:r>
              <a:rPr lang="de-AT" dirty="0"/>
              <a:t> </a:t>
            </a:r>
          </a:p>
          <a:p>
            <a:pPr marL="171450" indent="-171450">
              <a:buFontTx/>
              <a:buChar char="-"/>
            </a:pPr>
            <a:r>
              <a:rPr lang="de-AT" dirty="0"/>
              <a:t>Shapiro-Wilk </a:t>
            </a:r>
            <a:r>
              <a:rPr lang="de-AT" dirty="0" err="1"/>
              <a:t>failure</a:t>
            </a:r>
            <a:r>
              <a:rPr lang="de-AT" dirty="0"/>
              <a:t>: </a:t>
            </a:r>
            <a:r>
              <a:rPr lang="de-AT" dirty="0" err="1"/>
              <a:t>Residuals</a:t>
            </a:r>
            <a:r>
              <a:rPr lang="de-AT" dirty="0"/>
              <a:t> </a:t>
            </a:r>
            <a:r>
              <a:rPr lang="de-AT" dirty="0" err="1"/>
              <a:t>have</a:t>
            </a:r>
            <a:r>
              <a:rPr lang="de-AT" dirty="0"/>
              <a:t> heavy </a:t>
            </a:r>
            <a:r>
              <a:rPr lang="de-AT" dirty="0" err="1"/>
              <a:t>tails</a:t>
            </a:r>
            <a:r>
              <a:rPr lang="de-AT" dirty="0"/>
              <a:t> → Extreme </a:t>
            </a:r>
            <a:r>
              <a:rPr lang="de-AT" dirty="0" err="1"/>
              <a:t>events</a:t>
            </a:r>
            <a:r>
              <a:rPr lang="de-AT" dirty="0"/>
              <a:t> </a:t>
            </a:r>
            <a:r>
              <a:rPr lang="de-AT" dirty="0" err="1"/>
              <a:t>harder</a:t>
            </a:r>
            <a:r>
              <a:rPr lang="de-AT" dirty="0"/>
              <a:t> to </a:t>
            </a:r>
            <a:r>
              <a:rPr lang="de-AT" dirty="0" err="1"/>
              <a:t>predict</a:t>
            </a:r>
            <a:r>
              <a:rPr lang="de-AT" dirty="0"/>
              <a:t> </a:t>
            </a:r>
            <a:endParaRPr lang="de-AT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171450" indent="-171450">
              <a:buFontTx/>
              <a:buChar char="-"/>
            </a:pPr>
            <a:r>
              <a:rPr lang="de-AT" dirty="0" err="1"/>
              <a:t>Heteroskedasticity</a:t>
            </a:r>
            <a:r>
              <a:rPr lang="de-AT" dirty="0"/>
              <a:t>: Error </a:t>
            </a:r>
            <a:r>
              <a:rPr lang="de-AT" dirty="0" err="1"/>
              <a:t>variance</a:t>
            </a:r>
            <a:r>
              <a:rPr lang="de-AT" dirty="0"/>
              <a:t> not </a:t>
            </a:r>
            <a:r>
              <a:rPr lang="de-AT" dirty="0" err="1"/>
              <a:t>constant</a:t>
            </a:r>
            <a:r>
              <a:rPr lang="de-AT" dirty="0"/>
              <a:t> → CI </a:t>
            </a:r>
            <a:r>
              <a:rPr lang="de-AT" dirty="0" err="1"/>
              <a:t>widths</a:t>
            </a:r>
            <a:r>
              <a:rPr lang="de-AT" dirty="0"/>
              <a:t> </a:t>
            </a:r>
            <a:r>
              <a:rPr lang="de-AT" dirty="0" err="1"/>
              <a:t>are</a:t>
            </a:r>
            <a:r>
              <a:rPr lang="de-AT" dirty="0"/>
              <a:t> </a:t>
            </a:r>
            <a:r>
              <a:rPr lang="de-AT" dirty="0" err="1"/>
              <a:t>approximate</a:t>
            </a:r>
            <a:r>
              <a:rPr lang="de-AT" dirty="0"/>
              <a:t> </a:t>
            </a:r>
            <a:endParaRPr lang="de-AT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171450" indent="-171450">
              <a:buFontTx/>
              <a:buChar char="-"/>
            </a:pPr>
            <a:r>
              <a:rPr lang="de-AT" dirty="0"/>
              <a:t>Bootstrap CI: </a:t>
            </a:r>
            <a:r>
              <a:rPr lang="de-AT" dirty="0" err="1"/>
              <a:t>Realistic</a:t>
            </a:r>
            <a:r>
              <a:rPr lang="de-AT" dirty="0"/>
              <a:t> </a:t>
            </a:r>
            <a:r>
              <a:rPr lang="de-AT" dirty="0" err="1"/>
              <a:t>uncertainty</a:t>
            </a:r>
            <a:r>
              <a:rPr lang="de-AT" dirty="0"/>
              <a:t> </a:t>
            </a:r>
            <a:r>
              <a:rPr lang="de-AT" dirty="0" err="1"/>
              <a:t>quantification</a:t>
            </a:r>
            <a:r>
              <a:rPr lang="de-AT" dirty="0"/>
              <a:t> → 95% CI = ±42 EUR/MWh = ±40-50% of </a:t>
            </a:r>
            <a:r>
              <a:rPr lang="de-AT" dirty="0" err="1"/>
              <a:t>typical</a:t>
            </a:r>
            <a:r>
              <a:rPr lang="de-AT" dirty="0"/>
              <a:t> </a:t>
            </a:r>
            <a:r>
              <a:rPr lang="de-AT" dirty="0" err="1"/>
              <a:t>price</a:t>
            </a:r>
            <a:r>
              <a:rPr lang="de-AT" dirty="0"/>
              <a:t> → Still </a:t>
            </a:r>
            <a:r>
              <a:rPr lang="de-AT" dirty="0" err="1"/>
              <a:t>useful</a:t>
            </a:r>
            <a:r>
              <a:rPr lang="de-AT" dirty="0"/>
              <a:t> for </a:t>
            </a:r>
            <a:r>
              <a:rPr lang="de-AT" dirty="0" err="1"/>
              <a:t>scenario</a:t>
            </a:r>
            <a:r>
              <a:rPr lang="de-AT" dirty="0"/>
              <a:t> </a:t>
            </a:r>
            <a:r>
              <a:rPr lang="de-AT" dirty="0" err="1"/>
              <a:t>planning</a:t>
            </a:r>
            <a:r>
              <a:rPr lang="de-AT" dirty="0"/>
              <a:t>, not </a:t>
            </a:r>
            <a:r>
              <a:rPr lang="de-AT" dirty="0" err="1"/>
              <a:t>point</a:t>
            </a:r>
            <a:r>
              <a:rPr lang="de-AT" dirty="0"/>
              <a:t> </a:t>
            </a:r>
            <a:r>
              <a:rPr lang="de-AT" dirty="0" err="1"/>
              <a:t>predictions</a:t>
            </a:r>
            <a:r>
              <a:rPr lang="de-AT" dirty="0"/>
              <a:t> </a:t>
            </a:r>
            <a:endParaRPr lang="de-AT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3313929-3CD4-4E13-B022-FAF4159C8639}" type="slidenum">
              <a:rPr lang="de-AT" smtClean="0"/>
              <a:t>7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90785822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AT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3313929-3CD4-4E13-B022-FAF4159C8639}" type="slidenum">
              <a:rPr lang="de-AT" smtClean="0"/>
              <a:t>8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641145723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3D3BA1-8956-4A81-37F5-76FF486B54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6FFFDB17-F2DB-4EC4-BB4E-D600D8461C7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FC556FAC-3915-95BA-F020-F0E60CB4F65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endParaRPr lang="de-AT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9856EA44-E6A3-9FAE-9F8D-8F656BD3758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3313929-3CD4-4E13-B022-FAF4159C8639}" type="slidenum">
              <a:rPr lang="de-AT" smtClean="0"/>
              <a:t>9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546361593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AT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3313929-3CD4-4E13-B022-FAF4159C8639}" type="slidenum">
              <a:rPr lang="de-AT" smtClean="0"/>
              <a:t>10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292585266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10/22/2025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10/22/2025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10/22/2025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10/22/2025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10/22/2025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10/22/2025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10/22/2025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.sv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C5F7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914400" y="2286000"/>
            <a:ext cx="2743200" cy="36576"/>
          </a:xfrm>
          <a:prstGeom prst="rect">
            <a:avLst/>
          </a:prstGeom>
          <a:solidFill>
            <a:srgbClr val="5A9E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914400" y="2560320"/>
            <a:ext cx="7315200" cy="13849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5400" b="1">
                <a:solidFill>
                  <a:srgbClr val="F5F6FA"/>
                </a:solidFill>
                <a:latin typeface="Aptos Display"/>
              </a:defRPr>
            </a:pPr>
            <a:r>
              <a:rPr lang="en-US" sz="2800" dirty="0"/>
              <a:t>Time series analysis and forecasting of Austrian energy market prices using ARIMA/ARIMAX modeling</a:t>
            </a:r>
            <a:endParaRPr sz="2800" dirty="0"/>
          </a:p>
        </p:txBody>
      </p:sp>
      <p:sp>
        <p:nvSpPr>
          <p:cNvPr id="4" name="TextBox 3"/>
          <p:cNvSpPr txBox="1"/>
          <p:nvPr/>
        </p:nvSpPr>
        <p:spPr>
          <a:xfrm>
            <a:off x="914400" y="3931920"/>
            <a:ext cx="7755008" cy="83099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400">
                <a:solidFill>
                  <a:srgbClr val="F5F6FA"/>
                </a:solidFill>
                <a:latin typeface="Aptos"/>
              </a:defRPr>
            </a:pPr>
            <a:r>
              <a:rPr lang="de-AT" dirty="0"/>
              <a:t>Capstone Project for </a:t>
            </a:r>
            <a:r>
              <a:rPr lang="de-AT" dirty="0" err="1"/>
              <a:t>the</a:t>
            </a:r>
            <a:r>
              <a:rPr lang="de-AT" dirty="0"/>
              <a:t> 2025 „Data </a:t>
            </a:r>
            <a:r>
              <a:rPr lang="de-AT" dirty="0" err="1"/>
              <a:t>Practictioner</a:t>
            </a:r>
            <a:r>
              <a:rPr lang="de-AT" dirty="0"/>
              <a:t>“ Class </a:t>
            </a:r>
          </a:p>
          <a:p>
            <a:pPr algn="l">
              <a:defRPr sz="2400">
                <a:solidFill>
                  <a:srgbClr val="F5F6FA"/>
                </a:solidFill>
                <a:latin typeface="Aptos"/>
              </a:defRPr>
            </a:pPr>
            <a:r>
              <a:rPr lang="de-AT" dirty="0"/>
              <a:t>at neuefische</a:t>
            </a:r>
            <a:endParaRPr dirty="0"/>
          </a:p>
        </p:txBody>
      </p:sp>
      <p:sp>
        <p:nvSpPr>
          <p:cNvPr id="5" name="TextBox 4"/>
          <p:cNvSpPr txBox="1"/>
          <p:nvPr/>
        </p:nvSpPr>
        <p:spPr>
          <a:xfrm>
            <a:off x="6590970" y="6217920"/>
            <a:ext cx="2095830" cy="30777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400">
                <a:solidFill>
                  <a:srgbClr val="F5F6FA"/>
                </a:solidFill>
                <a:latin typeface="Aptos"/>
              </a:defRPr>
            </a:pPr>
            <a:r>
              <a:rPr lang="de-AT" dirty="0"/>
              <a:t>Paul Ringler </a:t>
            </a:r>
            <a:r>
              <a:rPr dirty="0"/>
              <a:t>| </a:t>
            </a:r>
            <a:r>
              <a:rPr lang="de-AT" dirty="0"/>
              <a:t>27.10.2025</a:t>
            </a:r>
            <a:endParaRPr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529883-EDDB-C925-6F91-F21E56F1A9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A2F7E99-DA77-5434-7DC8-94340115FEB3}"/>
              </a:ext>
            </a:extLst>
          </p:cNvPr>
          <p:cNvSpPr txBox="1"/>
          <p:nvPr/>
        </p:nvSpPr>
        <p:spPr>
          <a:xfrm>
            <a:off x="731520" y="548640"/>
            <a:ext cx="3066865" cy="64633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600" b="1">
                <a:solidFill>
                  <a:srgbClr val="2C5F7C"/>
                </a:solidFill>
                <a:latin typeface="Aptos Display"/>
              </a:defRPr>
            </a:pPr>
            <a:r>
              <a:rPr lang="de-AT" dirty="0"/>
              <a:t>Business Case</a:t>
            </a:r>
            <a:endParaRPr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CE6A2EF1-3DCC-0096-9075-C839752EDE4E}"/>
              </a:ext>
            </a:extLst>
          </p:cNvPr>
          <p:cNvSpPr/>
          <p:nvPr/>
        </p:nvSpPr>
        <p:spPr>
          <a:xfrm>
            <a:off x="731520" y="1188720"/>
            <a:ext cx="7680960" cy="9144"/>
          </a:xfrm>
          <a:prstGeom prst="rect">
            <a:avLst/>
          </a:prstGeom>
          <a:solidFill>
            <a:srgbClr val="5A9E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6C2AC54-EE88-3954-1D4A-1F83639958A5}"/>
              </a:ext>
            </a:extLst>
          </p:cNvPr>
          <p:cNvSpPr txBox="1"/>
          <p:nvPr/>
        </p:nvSpPr>
        <p:spPr>
          <a:xfrm>
            <a:off x="914400" y="1645920"/>
            <a:ext cx="7315200" cy="458587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spcAft>
                <a:spcPts val="1200"/>
              </a:spcAft>
              <a:buFont typeface="Arial" panose="020B0604020202020204" pitchFamily="34" charset="0"/>
              <a:buChar char="•"/>
              <a:defRPr sz="1800">
                <a:solidFill>
                  <a:srgbClr val="2D3436"/>
                </a:solidFill>
                <a:latin typeface="Aptos"/>
              </a:defRPr>
            </a:pPr>
            <a:r>
              <a:rPr lang="de-AT" dirty="0" err="1"/>
              <a:t>Following</a:t>
            </a:r>
            <a:r>
              <a:rPr lang="de-AT" dirty="0"/>
              <a:t> </a:t>
            </a:r>
            <a:r>
              <a:rPr lang="de-AT" dirty="0" err="1"/>
              <a:t>the</a:t>
            </a:r>
            <a:r>
              <a:rPr lang="de-AT" dirty="0"/>
              <a:t> </a:t>
            </a:r>
            <a:r>
              <a:rPr lang="de-AT" dirty="0" err="1"/>
              <a:t>russian</a:t>
            </a:r>
            <a:r>
              <a:rPr lang="de-AT" dirty="0"/>
              <a:t> </a:t>
            </a:r>
            <a:r>
              <a:rPr lang="de-AT" dirty="0" err="1"/>
              <a:t>full-scale</a:t>
            </a:r>
            <a:r>
              <a:rPr lang="de-AT" dirty="0"/>
              <a:t> </a:t>
            </a:r>
            <a:r>
              <a:rPr lang="de-AT" dirty="0" err="1"/>
              <a:t>invasion</a:t>
            </a:r>
            <a:r>
              <a:rPr lang="de-AT" dirty="0"/>
              <a:t> of Ukraine in 02/2022, Austrian </a:t>
            </a:r>
            <a:r>
              <a:rPr lang="de-AT" dirty="0" err="1"/>
              <a:t>energy</a:t>
            </a:r>
            <a:r>
              <a:rPr lang="de-AT" dirty="0"/>
              <a:t> </a:t>
            </a:r>
            <a:r>
              <a:rPr lang="de-AT" dirty="0" err="1"/>
              <a:t>prices</a:t>
            </a:r>
            <a:r>
              <a:rPr lang="de-AT" dirty="0"/>
              <a:t> </a:t>
            </a:r>
            <a:r>
              <a:rPr lang="de-AT" dirty="0" err="1"/>
              <a:t>have</a:t>
            </a:r>
            <a:r>
              <a:rPr lang="de-AT" dirty="0"/>
              <a:t> </a:t>
            </a:r>
            <a:r>
              <a:rPr lang="de-AT" dirty="0" err="1"/>
              <a:t>experienced</a:t>
            </a:r>
            <a:r>
              <a:rPr lang="de-AT" dirty="0"/>
              <a:t> </a:t>
            </a:r>
            <a:r>
              <a:rPr lang="de-AT" dirty="0" err="1"/>
              <a:t>significant</a:t>
            </a:r>
            <a:r>
              <a:rPr lang="de-AT" dirty="0"/>
              <a:t> </a:t>
            </a:r>
            <a:r>
              <a:rPr lang="de-AT" dirty="0" err="1"/>
              <a:t>increases</a:t>
            </a:r>
            <a:r>
              <a:rPr lang="de-AT" dirty="0"/>
              <a:t> and </a:t>
            </a:r>
            <a:r>
              <a:rPr lang="de-AT" dirty="0" err="1"/>
              <a:t>have</a:t>
            </a:r>
            <a:r>
              <a:rPr lang="de-AT" dirty="0"/>
              <a:t> also </a:t>
            </a:r>
            <a:r>
              <a:rPr lang="de-AT" dirty="0" err="1"/>
              <a:t>become</a:t>
            </a:r>
            <a:r>
              <a:rPr lang="de-AT" dirty="0"/>
              <a:t> </a:t>
            </a:r>
            <a:r>
              <a:rPr lang="de-AT" dirty="0" err="1"/>
              <a:t>very</a:t>
            </a:r>
            <a:r>
              <a:rPr lang="de-AT" dirty="0"/>
              <a:t> volatile.</a:t>
            </a:r>
          </a:p>
          <a:p>
            <a:pPr marL="285750" indent="-285750">
              <a:spcAft>
                <a:spcPts val="1200"/>
              </a:spcAft>
              <a:buFont typeface="Arial" panose="020B0604020202020204" pitchFamily="34" charset="0"/>
              <a:buChar char="•"/>
              <a:defRPr sz="1800">
                <a:solidFill>
                  <a:srgbClr val="2D3436"/>
                </a:solidFill>
                <a:latin typeface="Aptos"/>
              </a:defRPr>
            </a:pPr>
            <a:r>
              <a:rPr lang="de-AT" dirty="0"/>
              <a:t>Large power </a:t>
            </a:r>
            <a:r>
              <a:rPr lang="de-AT" dirty="0" err="1"/>
              <a:t>producers</a:t>
            </a:r>
            <a:r>
              <a:rPr lang="de-AT" dirty="0"/>
              <a:t> (e.g. wind/solar </a:t>
            </a:r>
            <a:r>
              <a:rPr lang="de-AT" dirty="0" err="1"/>
              <a:t>parks</a:t>
            </a:r>
            <a:r>
              <a:rPr lang="de-AT" dirty="0"/>
              <a:t>, </a:t>
            </a:r>
            <a:r>
              <a:rPr lang="de-AT" dirty="0" err="1"/>
              <a:t>public</a:t>
            </a:r>
            <a:r>
              <a:rPr lang="de-AT" dirty="0"/>
              <a:t> </a:t>
            </a:r>
            <a:r>
              <a:rPr lang="de-AT" dirty="0" err="1"/>
              <a:t>utility</a:t>
            </a:r>
            <a:r>
              <a:rPr lang="de-AT" dirty="0"/>
              <a:t> </a:t>
            </a:r>
            <a:r>
              <a:rPr lang="de-AT" dirty="0" err="1"/>
              <a:t>companies</a:t>
            </a:r>
            <a:r>
              <a:rPr lang="de-AT" dirty="0"/>
              <a:t>) and power </a:t>
            </a:r>
            <a:r>
              <a:rPr lang="de-AT" dirty="0" err="1"/>
              <a:t>consumers</a:t>
            </a:r>
            <a:r>
              <a:rPr lang="de-AT" dirty="0"/>
              <a:t> (e.g. </a:t>
            </a:r>
            <a:r>
              <a:rPr lang="de-AT" dirty="0" err="1"/>
              <a:t>manufacturing</a:t>
            </a:r>
            <a:r>
              <a:rPr lang="de-AT" dirty="0"/>
              <a:t> </a:t>
            </a:r>
            <a:r>
              <a:rPr lang="de-AT" dirty="0" err="1"/>
              <a:t>companies</a:t>
            </a:r>
            <a:r>
              <a:rPr lang="de-AT" dirty="0"/>
              <a:t>, </a:t>
            </a:r>
            <a:r>
              <a:rPr lang="de-AT" dirty="0" err="1"/>
              <a:t>data</a:t>
            </a:r>
            <a:r>
              <a:rPr lang="de-AT" dirty="0"/>
              <a:t> </a:t>
            </a:r>
            <a:r>
              <a:rPr lang="de-AT" dirty="0" err="1"/>
              <a:t>centers</a:t>
            </a:r>
            <a:r>
              <a:rPr lang="de-AT" dirty="0"/>
              <a:t> </a:t>
            </a:r>
            <a:r>
              <a:rPr lang="de-AT" dirty="0" err="1"/>
              <a:t>need</a:t>
            </a:r>
            <a:r>
              <a:rPr lang="de-AT" dirty="0"/>
              <a:t> </a:t>
            </a:r>
            <a:r>
              <a:rPr lang="de-AT" dirty="0" err="1"/>
              <a:t>planning</a:t>
            </a:r>
            <a:r>
              <a:rPr lang="de-AT" dirty="0"/>
              <a:t> </a:t>
            </a:r>
            <a:r>
              <a:rPr lang="de-AT" dirty="0" err="1"/>
              <a:t>security</a:t>
            </a:r>
            <a:r>
              <a:rPr lang="de-AT" dirty="0"/>
              <a:t>.</a:t>
            </a:r>
          </a:p>
          <a:p>
            <a:pPr marL="285750" indent="-285750">
              <a:spcAft>
                <a:spcPts val="1200"/>
              </a:spcAft>
              <a:buFont typeface="Arial" panose="020B0604020202020204" pitchFamily="34" charset="0"/>
              <a:buChar char="•"/>
              <a:defRPr sz="1800">
                <a:solidFill>
                  <a:srgbClr val="2D3436"/>
                </a:solidFill>
                <a:latin typeface="Aptos"/>
              </a:defRPr>
            </a:pPr>
            <a:r>
              <a:rPr lang="de-AT" dirty="0"/>
              <a:t>This </a:t>
            </a:r>
            <a:r>
              <a:rPr lang="de-AT" dirty="0" err="1"/>
              <a:t>best</a:t>
            </a:r>
            <a:r>
              <a:rPr lang="de-AT" dirty="0"/>
              <a:t> </a:t>
            </a:r>
            <a:r>
              <a:rPr lang="de-AT" dirty="0" err="1"/>
              <a:t>achieved</a:t>
            </a:r>
            <a:r>
              <a:rPr lang="de-AT" dirty="0"/>
              <a:t> </a:t>
            </a:r>
            <a:r>
              <a:rPr lang="de-AT" dirty="0" err="1"/>
              <a:t>by</a:t>
            </a:r>
            <a:r>
              <a:rPr lang="de-AT" dirty="0"/>
              <a:t> </a:t>
            </a:r>
            <a:r>
              <a:rPr lang="de-AT" dirty="0" err="1"/>
              <a:t>securing</a:t>
            </a:r>
            <a:r>
              <a:rPr lang="de-AT" dirty="0"/>
              <a:t> </a:t>
            </a:r>
            <a:r>
              <a:rPr lang="de-AT" dirty="0" err="1"/>
              <a:t>over</a:t>
            </a:r>
            <a:r>
              <a:rPr lang="de-AT" dirty="0"/>
              <a:t>-</a:t>
            </a:r>
            <a:r>
              <a:rPr lang="de-AT" dirty="0" err="1"/>
              <a:t>the</a:t>
            </a:r>
            <a:r>
              <a:rPr lang="de-AT" dirty="0"/>
              <a:t>-counter </a:t>
            </a:r>
            <a:r>
              <a:rPr lang="de-AT" dirty="0" err="1"/>
              <a:t>supply</a:t>
            </a:r>
            <a:r>
              <a:rPr lang="de-AT" dirty="0"/>
              <a:t> </a:t>
            </a:r>
            <a:r>
              <a:rPr lang="de-AT" dirty="0" err="1"/>
              <a:t>contracts</a:t>
            </a:r>
            <a:r>
              <a:rPr lang="de-AT" dirty="0"/>
              <a:t>. These </a:t>
            </a:r>
            <a:r>
              <a:rPr lang="de-AT" dirty="0" err="1"/>
              <a:t>are</a:t>
            </a:r>
            <a:r>
              <a:rPr lang="de-AT" dirty="0"/>
              <a:t> </a:t>
            </a:r>
            <a:r>
              <a:rPr lang="de-AT" dirty="0" err="1"/>
              <a:t>sold</a:t>
            </a:r>
            <a:r>
              <a:rPr lang="de-AT" dirty="0"/>
              <a:t> at </a:t>
            </a:r>
            <a:r>
              <a:rPr lang="de-AT" dirty="0" err="1"/>
              <a:t>fixed</a:t>
            </a:r>
            <a:r>
              <a:rPr lang="de-AT" dirty="0"/>
              <a:t> </a:t>
            </a:r>
            <a:r>
              <a:rPr lang="de-AT" dirty="0" err="1"/>
              <a:t>prices</a:t>
            </a:r>
            <a:r>
              <a:rPr lang="de-AT" dirty="0"/>
              <a:t> for different </a:t>
            </a:r>
            <a:r>
              <a:rPr lang="de-AT" dirty="0" err="1"/>
              <a:t>durations</a:t>
            </a:r>
            <a:r>
              <a:rPr lang="de-AT" dirty="0"/>
              <a:t> (e.g. 1-6 </a:t>
            </a:r>
            <a:r>
              <a:rPr lang="de-AT" dirty="0" err="1"/>
              <a:t>month-ahead</a:t>
            </a:r>
            <a:r>
              <a:rPr lang="de-AT" dirty="0"/>
              <a:t>).</a:t>
            </a:r>
          </a:p>
          <a:p>
            <a:pPr marL="285750" indent="-285750">
              <a:spcAft>
                <a:spcPts val="1200"/>
              </a:spcAft>
              <a:buFont typeface="Arial" panose="020B0604020202020204" pitchFamily="34" charset="0"/>
              <a:buChar char="•"/>
              <a:defRPr sz="1800">
                <a:solidFill>
                  <a:srgbClr val="2D3436"/>
                </a:solidFill>
                <a:latin typeface="Aptos"/>
              </a:defRPr>
            </a:pPr>
            <a:r>
              <a:rPr lang="de-AT" dirty="0"/>
              <a:t>Forecasting </a:t>
            </a:r>
            <a:r>
              <a:rPr lang="de-AT" dirty="0" err="1"/>
              <a:t>these</a:t>
            </a:r>
            <a:r>
              <a:rPr lang="de-AT" dirty="0"/>
              <a:t> </a:t>
            </a:r>
            <a:r>
              <a:rPr lang="de-AT" dirty="0" err="1"/>
              <a:t>prices</a:t>
            </a:r>
            <a:r>
              <a:rPr lang="de-AT" dirty="0"/>
              <a:t> </a:t>
            </a:r>
            <a:r>
              <a:rPr lang="de-AT" dirty="0" err="1"/>
              <a:t>yields</a:t>
            </a:r>
            <a:r>
              <a:rPr lang="de-AT" dirty="0"/>
              <a:t> </a:t>
            </a:r>
            <a:r>
              <a:rPr lang="de-AT" dirty="0" err="1"/>
              <a:t>benefits</a:t>
            </a:r>
            <a:r>
              <a:rPr lang="de-AT" dirty="0"/>
              <a:t> in </a:t>
            </a:r>
            <a:r>
              <a:rPr lang="de-AT" dirty="0" err="1"/>
              <a:t>terms</a:t>
            </a:r>
            <a:r>
              <a:rPr lang="de-AT" dirty="0"/>
              <a:t> of </a:t>
            </a:r>
            <a:r>
              <a:rPr lang="de-AT" dirty="0" err="1"/>
              <a:t>risk</a:t>
            </a:r>
            <a:r>
              <a:rPr lang="de-AT" dirty="0"/>
              <a:t>-management </a:t>
            </a:r>
            <a:r>
              <a:rPr lang="de-AT" dirty="0" err="1"/>
              <a:t>as</a:t>
            </a:r>
            <a:r>
              <a:rPr lang="de-AT" dirty="0"/>
              <a:t> </a:t>
            </a:r>
            <a:r>
              <a:rPr lang="de-AT" dirty="0" err="1">
                <a:solidFill>
                  <a:srgbClr val="2D3436"/>
                </a:solidFill>
                <a:latin typeface="Aptos"/>
              </a:rPr>
              <a:t>well</a:t>
            </a:r>
            <a:r>
              <a:rPr lang="de-AT" dirty="0">
                <a:solidFill>
                  <a:srgbClr val="2D3436"/>
                </a:solidFill>
                <a:latin typeface="Aptos"/>
              </a:rPr>
              <a:t> </a:t>
            </a:r>
            <a:r>
              <a:rPr lang="de-AT" dirty="0" err="1">
                <a:solidFill>
                  <a:srgbClr val="2D3436"/>
                </a:solidFill>
                <a:latin typeface="Aptos"/>
              </a:rPr>
              <a:t>as</a:t>
            </a:r>
            <a:r>
              <a:rPr lang="de-AT" dirty="0">
                <a:solidFill>
                  <a:srgbClr val="2D3436"/>
                </a:solidFill>
                <a:latin typeface="Aptos"/>
              </a:rPr>
              <a:t> </a:t>
            </a:r>
            <a:r>
              <a:rPr lang="en-US" dirty="0">
                <a:solidFill>
                  <a:srgbClr val="2D3436"/>
                </a:solidFill>
                <a:latin typeface="Aptos"/>
              </a:rPr>
              <a:t>cost optimization in procurement planning.</a:t>
            </a:r>
            <a:endParaRPr lang="de-AT" dirty="0">
              <a:solidFill>
                <a:srgbClr val="2D3436"/>
              </a:solidFill>
              <a:latin typeface="Aptos"/>
            </a:endParaRPr>
          </a:p>
          <a:p>
            <a:pPr marL="285750" indent="-285750">
              <a:spcAft>
                <a:spcPts val="1200"/>
              </a:spcAft>
              <a:buFont typeface="Arial" panose="020B0604020202020204" pitchFamily="34" charset="0"/>
              <a:buChar char="•"/>
              <a:defRPr sz="1800">
                <a:solidFill>
                  <a:srgbClr val="2D3436"/>
                </a:solidFill>
                <a:latin typeface="Aptos"/>
              </a:defRPr>
            </a:pPr>
            <a:r>
              <a:rPr lang="de-AT" dirty="0"/>
              <a:t>This </a:t>
            </a:r>
            <a:r>
              <a:rPr lang="de-AT" dirty="0" err="1"/>
              <a:t>project</a:t>
            </a:r>
            <a:r>
              <a:rPr lang="de-AT" dirty="0"/>
              <a:t> </a:t>
            </a:r>
            <a:r>
              <a:rPr lang="de-AT" dirty="0" err="1"/>
              <a:t>explores</a:t>
            </a:r>
            <a:r>
              <a:rPr lang="de-AT" dirty="0"/>
              <a:t> </a:t>
            </a:r>
            <a:r>
              <a:rPr lang="de-AT" dirty="0" err="1"/>
              <a:t>the</a:t>
            </a:r>
            <a:r>
              <a:rPr lang="de-AT" dirty="0"/>
              <a:t> </a:t>
            </a:r>
            <a:r>
              <a:rPr lang="de-AT" dirty="0" err="1"/>
              <a:t>cornerstones</a:t>
            </a:r>
            <a:r>
              <a:rPr lang="de-AT" dirty="0"/>
              <a:t> of a light-</a:t>
            </a:r>
            <a:r>
              <a:rPr lang="de-AT" dirty="0" err="1"/>
              <a:t>weight</a:t>
            </a:r>
            <a:r>
              <a:rPr lang="de-AT" dirty="0"/>
              <a:t>, </a:t>
            </a:r>
            <a:r>
              <a:rPr lang="de-AT" dirty="0" err="1"/>
              <a:t>continuous</a:t>
            </a:r>
            <a:r>
              <a:rPr lang="de-AT" dirty="0"/>
              <a:t> </a:t>
            </a:r>
            <a:r>
              <a:rPr lang="de-AT" dirty="0" err="1"/>
              <a:t>forecasting</a:t>
            </a:r>
            <a:r>
              <a:rPr lang="de-AT" dirty="0"/>
              <a:t> </a:t>
            </a:r>
            <a:r>
              <a:rPr lang="de-AT" dirty="0" err="1"/>
              <a:t>application</a:t>
            </a:r>
            <a:r>
              <a:rPr lang="de-AT" dirty="0"/>
              <a:t> </a:t>
            </a:r>
            <a:r>
              <a:rPr lang="de-AT" dirty="0" err="1"/>
              <a:t>designed</a:t>
            </a:r>
            <a:r>
              <a:rPr lang="de-AT" dirty="0"/>
              <a:t> for </a:t>
            </a:r>
            <a:r>
              <a:rPr lang="de-AT" dirty="0" err="1"/>
              <a:t>use</a:t>
            </a:r>
            <a:r>
              <a:rPr lang="de-AT" dirty="0"/>
              <a:t> </a:t>
            </a:r>
            <a:r>
              <a:rPr lang="de-AT" dirty="0" err="1"/>
              <a:t>by</a:t>
            </a:r>
            <a:r>
              <a:rPr lang="de-AT" dirty="0"/>
              <a:t> </a:t>
            </a:r>
            <a:r>
              <a:rPr lang="de-AT" dirty="0" err="1"/>
              <a:t>small-scale</a:t>
            </a:r>
            <a:r>
              <a:rPr lang="de-AT" dirty="0"/>
              <a:t> </a:t>
            </a:r>
            <a:r>
              <a:rPr lang="de-AT" dirty="0" err="1"/>
              <a:t>manufacturing</a:t>
            </a:r>
            <a:r>
              <a:rPr lang="de-AT" dirty="0"/>
              <a:t> and power </a:t>
            </a:r>
            <a:r>
              <a:rPr lang="de-AT" dirty="0" err="1"/>
              <a:t>supply</a:t>
            </a:r>
            <a:r>
              <a:rPr lang="de-AT" dirty="0"/>
              <a:t> </a:t>
            </a:r>
            <a:r>
              <a:rPr lang="de-AT" dirty="0" err="1"/>
              <a:t>companies</a:t>
            </a:r>
            <a:r>
              <a:rPr lang="de-AT" dirty="0"/>
              <a:t> in Austria</a:t>
            </a:r>
            <a:endParaRPr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42672C0-3A23-97B6-39CB-EAC0ED09349F}"/>
              </a:ext>
            </a:extLst>
          </p:cNvPr>
          <p:cNvSpPr txBox="1"/>
          <p:nvPr/>
        </p:nvSpPr>
        <p:spPr>
          <a:xfrm>
            <a:off x="7772400" y="6400800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>
                <a:solidFill>
                  <a:srgbClr val="8B7355"/>
                </a:solidFill>
                <a:latin typeface="Aptos"/>
              </a:defRPr>
            </a:pPr>
            <a:r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38697172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2AD6AD-5474-53D6-EF7B-8C03302A8B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2C9336C-5293-822D-A1ED-A555D4C84CA9}"/>
              </a:ext>
            </a:extLst>
          </p:cNvPr>
          <p:cNvSpPr txBox="1"/>
          <p:nvPr/>
        </p:nvSpPr>
        <p:spPr>
          <a:xfrm>
            <a:off x="731520" y="548640"/>
            <a:ext cx="2908104" cy="64633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600" b="1">
                <a:solidFill>
                  <a:srgbClr val="2C5F7C"/>
                </a:solidFill>
                <a:latin typeface="Aptos Display"/>
              </a:defRPr>
            </a:pPr>
            <a:r>
              <a:rPr lang="de-AT" dirty="0"/>
              <a:t>Project </a:t>
            </a:r>
            <a:r>
              <a:rPr lang="de-AT" dirty="0" err="1"/>
              <a:t>Scope</a:t>
            </a:r>
            <a:endParaRPr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063F65A-9A4C-4105-DB3E-578CDC5AB65B}"/>
              </a:ext>
            </a:extLst>
          </p:cNvPr>
          <p:cNvSpPr/>
          <p:nvPr/>
        </p:nvSpPr>
        <p:spPr>
          <a:xfrm>
            <a:off x="731520" y="1188720"/>
            <a:ext cx="7680960" cy="9144"/>
          </a:xfrm>
          <a:prstGeom prst="rect">
            <a:avLst/>
          </a:prstGeom>
          <a:solidFill>
            <a:srgbClr val="5A9E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9919EE9-460E-11C3-4CA1-CD136B466F34}"/>
              </a:ext>
            </a:extLst>
          </p:cNvPr>
          <p:cNvSpPr txBox="1"/>
          <p:nvPr/>
        </p:nvSpPr>
        <p:spPr>
          <a:xfrm>
            <a:off x="914400" y="1645920"/>
            <a:ext cx="7315200" cy="32008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spcAft>
                <a:spcPts val="1200"/>
              </a:spcAft>
              <a:buFont typeface="Arial" panose="020B0604020202020204" pitchFamily="34" charset="0"/>
              <a:buChar char="•"/>
              <a:defRPr sz="1800">
                <a:solidFill>
                  <a:srgbClr val="2D3436"/>
                </a:solidFill>
                <a:latin typeface="Aptos"/>
              </a:defRPr>
            </a:pPr>
            <a:r>
              <a:rPr lang="de-AT" b="1" dirty="0"/>
              <a:t>Data </a:t>
            </a:r>
            <a:r>
              <a:rPr lang="de-AT" b="1" dirty="0" err="1"/>
              <a:t>sources</a:t>
            </a:r>
            <a:r>
              <a:rPr lang="de-AT" dirty="0"/>
              <a:t>: </a:t>
            </a:r>
            <a:r>
              <a:rPr lang="de-AT" dirty="0" err="1"/>
              <a:t>Current</a:t>
            </a:r>
            <a:r>
              <a:rPr lang="de-AT" dirty="0"/>
              <a:t> real-</a:t>
            </a:r>
            <a:r>
              <a:rPr lang="de-AT" dirty="0" err="1"/>
              <a:t>world</a:t>
            </a:r>
            <a:r>
              <a:rPr lang="de-AT" dirty="0"/>
              <a:t> </a:t>
            </a:r>
            <a:r>
              <a:rPr lang="de-AT" dirty="0" err="1"/>
              <a:t>sources</a:t>
            </a:r>
            <a:r>
              <a:rPr lang="de-AT" dirty="0"/>
              <a:t> </a:t>
            </a:r>
            <a:r>
              <a:rPr lang="de-AT" dirty="0" err="1"/>
              <a:t>only</a:t>
            </a:r>
            <a:r>
              <a:rPr lang="de-AT" dirty="0"/>
              <a:t>! </a:t>
            </a:r>
            <a:br>
              <a:rPr lang="de-AT" dirty="0"/>
            </a:br>
            <a:r>
              <a:rPr lang="de-AT" dirty="0"/>
              <a:t>Austrian &amp; EU open </a:t>
            </a:r>
            <a:r>
              <a:rPr lang="de-AT" dirty="0" err="1"/>
              <a:t>government</a:t>
            </a:r>
            <a:r>
              <a:rPr lang="de-AT" dirty="0"/>
              <a:t> </a:t>
            </a:r>
            <a:r>
              <a:rPr lang="de-AT" dirty="0" err="1"/>
              <a:t>data</a:t>
            </a:r>
            <a:r>
              <a:rPr lang="de-AT" dirty="0"/>
              <a:t> and </a:t>
            </a:r>
            <a:r>
              <a:rPr lang="de-AT" dirty="0" err="1"/>
              <a:t>historic</a:t>
            </a:r>
            <a:r>
              <a:rPr lang="de-AT" dirty="0"/>
              <a:t> </a:t>
            </a:r>
            <a:r>
              <a:rPr lang="de-AT" dirty="0" err="1"/>
              <a:t>market</a:t>
            </a:r>
            <a:r>
              <a:rPr lang="de-AT" dirty="0"/>
              <a:t> </a:t>
            </a:r>
            <a:r>
              <a:rPr lang="de-AT" dirty="0" err="1"/>
              <a:t>data</a:t>
            </a:r>
            <a:r>
              <a:rPr lang="de-AT" dirty="0"/>
              <a:t> </a:t>
            </a:r>
            <a:r>
              <a:rPr lang="de-AT" dirty="0" err="1"/>
              <a:t>as</a:t>
            </a:r>
            <a:r>
              <a:rPr lang="de-AT" dirty="0"/>
              <a:t> a stand-in for </a:t>
            </a:r>
            <a:r>
              <a:rPr lang="de-AT" dirty="0" err="1"/>
              <a:t>daily-updated</a:t>
            </a:r>
            <a:r>
              <a:rPr lang="de-AT" dirty="0"/>
              <a:t> </a:t>
            </a:r>
            <a:r>
              <a:rPr lang="de-AT" dirty="0" err="1"/>
              <a:t>market</a:t>
            </a:r>
            <a:r>
              <a:rPr lang="de-AT" dirty="0"/>
              <a:t> </a:t>
            </a:r>
            <a:r>
              <a:rPr lang="de-AT" dirty="0" err="1"/>
              <a:t>data</a:t>
            </a:r>
            <a:endParaRPr lang="de-AT" dirty="0"/>
          </a:p>
          <a:p>
            <a:pPr marL="285750" indent="-285750">
              <a:spcAft>
                <a:spcPts val="1200"/>
              </a:spcAft>
              <a:buFont typeface="Arial" panose="020B0604020202020204" pitchFamily="34" charset="0"/>
              <a:buChar char="•"/>
              <a:defRPr sz="1800">
                <a:solidFill>
                  <a:srgbClr val="2D3436"/>
                </a:solidFill>
                <a:latin typeface="Aptos"/>
              </a:defRPr>
            </a:pPr>
            <a:r>
              <a:rPr lang="de-AT" b="1" dirty="0"/>
              <a:t>Data Engineering</a:t>
            </a:r>
            <a:r>
              <a:rPr lang="de-AT" dirty="0"/>
              <a:t>: Design of a semi-</a:t>
            </a:r>
            <a:r>
              <a:rPr lang="de-AT" dirty="0" err="1"/>
              <a:t>automatic</a:t>
            </a:r>
            <a:r>
              <a:rPr lang="de-AT" dirty="0"/>
              <a:t> ETL-pipeline</a:t>
            </a:r>
          </a:p>
          <a:p>
            <a:pPr marL="285750" indent="-285750">
              <a:spcAft>
                <a:spcPts val="1200"/>
              </a:spcAft>
              <a:buFont typeface="Arial" panose="020B0604020202020204" pitchFamily="34" charset="0"/>
              <a:buChar char="•"/>
              <a:defRPr sz="1800">
                <a:solidFill>
                  <a:srgbClr val="2D3436"/>
                </a:solidFill>
                <a:latin typeface="Aptos"/>
              </a:defRPr>
            </a:pPr>
            <a:r>
              <a:rPr lang="de-AT" b="1" dirty="0"/>
              <a:t>Data </a:t>
            </a:r>
            <a:r>
              <a:rPr lang="de-AT" b="1" dirty="0" err="1"/>
              <a:t>Preparation</a:t>
            </a:r>
            <a:r>
              <a:rPr lang="de-AT" b="1" dirty="0"/>
              <a:t> &amp; Analysis</a:t>
            </a:r>
            <a:r>
              <a:rPr lang="de-AT" dirty="0"/>
              <a:t>: Basic Feature Engineering and EDA, </a:t>
            </a:r>
            <a:r>
              <a:rPr lang="de-AT" dirty="0" err="1"/>
              <a:t>including</a:t>
            </a:r>
            <a:r>
              <a:rPr lang="de-AT" dirty="0"/>
              <a:t> time-</a:t>
            </a:r>
            <a:r>
              <a:rPr lang="de-AT" dirty="0" err="1"/>
              <a:t>series</a:t>
            </a:r>
            <a:r>
              <a:rPr lang="de-AT" dirty="0"/>
              <a:t> </a:t>
            </a:r>
            <a:r>
              <a:rPr lang="de-AT" dirty="0" err="1"/>
              <a:t>decomposition</a:t>
            </a:r>
            <a:endParaRPr lang="de-AT" dirty="0"/>
          </a:p>
          <a:p>
            <a:pPr marL="285750" indent="-285750">
              <a:spcAft>
                <a:spcPts val="1200"/>
              </a:spcAft>
              <a:buFont typeface="Arial" panose="020B0604020202020204" pitchFamily="34" charset="0"/>
              <a:buChar char="•"/>
              <a:defRPr sz="1800">
                <a:solidFill>
                  <a:srgbClr val="2D3436"/>
                </a:solidFill>
                <a:latin typeface="Aptos"/>
              </a:defRPr>
            </a:pPr>
            <a:r>
              <a:rPr lang="de-AT" b="1" dirty="0"/>
              <a:t>Model </a:t>
            </a:r>
            <a:r>
              <a:rPr lang="de-AT" b="1" dirty="0" err="1"/>
              <a:t>building</a:t>
            </a:r>
            <a:r>
              <a:rPr lang="de-AT" dirty="0"/>
              <a:t>: Design and Evaluation of a robust </a:t>
            </a:r>
            <a:r>
              <a:rPr lang="de-AT" dirty="0" err="1"/>
              <a:t>prognosis</a:t>
            </a:r>
            <a:r>
              <a:rPr lang="de-AT" dirty="0"/>
              <a:t> </a:t>
            </a:r>
            <a:r>
              <a:rPr lang="de-AT" dirty="0" err="1"/>
              <a:t>model</a:t>
            </a:r>
            <a:r>
              <a:rPr lang="de-AT" dirty="0"/>
              <a:t> </a:t>
            </a:r>
            <a:r>
              <a:rPr lang="de-AT" dirty="0" err="1"/>
              <a:t>using</a:t>
            </a:r>
            <a:r>
              <a:rPr lang="de-AT" dirty="0"/>
              <a:t> ARIMA and </a:t>
            </a:r>
            <a:r>
              <a:rPr lang="de-AT" dirty="0" err="1"/>
              <a:t>regression</a:t>
            </a:r>
            <a:r>
              <a:rPr lang="de-AT" dirty="0"/>
              <a:t>. </a:t>
            </a:r>
          </a:p>
          <a:p>
            <a:pPr marL="285750" indent="-285750">
              <a:spcAft>
                <a:spcPts val="1200"/>
              </a:spcAft>
              <a:buFont typeface="Arial" panose="020B0604020202020204" pitchFamily="34" charset="0"/>
              <a:buChar char="•"/>
              <a:defRPr sz="1800">
                <a:solidFill>
                  <a:srgbClr val="2D3436"/>
                </a:solidFill>
                <a:latin typeface="Aptos"/>
              </a:defRPr>
            </a:pPr>
            <a:r>
              <a:rPr lang="de-AT" b="1" dirty="0"/>
              <a:t>Tableau Story for </a:t>
            </a:r>
            <a:r>
              <a:rPr lang="de-AT" b="1" dirty="0" err="1"/>
              <a:t>Visualisation</a:t>
            </a:r>
            <a:endParaRPr lang="de-AT" b="1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187F098-E162-73DC-313C-E7E4DBE7F14D}"/>
              </a:ext>
            </a:extLst>
          </p:cNvPr>
          <p:cNvSpPr txBox="1"/>
          <p:nvPr/>
        </p:nvSpPr>
        <p:spPr>
          <a:xfrm>
            <a:off x="7772400" y="6400800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>
                <a:solidFill>
                  <a:srgbClr val="8B7355"/>
                </a:solidFill>
                <a:latin typeface="Aptos"/>
              </a:defRPr>
            </a:pPr>
            <a:r>
              <a:t>2</a:t>
            </a:r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16FAE701-D0EA-2914-2F29-EC634ACF55D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73989" y="5238619"/>
            <a:ext cx="5943600" cy="952500"/>
          </a:xfrm>
          <a:prstGeom prst="rect">
            <a:avLst/>
          </a:prstGeom>
        </p:spPr>
      </p:pic>
      <p:sp>
        <p:nvSpPr>
          <p:cNvPr id="8" name="Textfeld 7">
            <a:extLst>
              <a:ext uri="{FF2B5EF4-FFF2-40B4-BE49-F238E27FC236}">
                <a16:creationId xmlns:a16="http://schemas.microsoft.com/office/drawing/2014/main" id="{528C2CC4-5CB9-6EEC-FF78-9650A4BB104D}"/>
              </a:ext>
            </a:extLst>
          </p:cNvPr>
          <p:cNvSpPr txBox="1"/>
          <p:nvPr/>
        </p:nvSpPr>
        <p:spPr>
          <a:xfrm>
            <a:off x="1619541" y="5376892"/>
            <a:ext cx="50687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AT" sz="3200" dirty="0">
                <a:solidFill>
                  <a:srgbClr val="5A9E6F"/>
                </a:solidFill>
                <a:sym typeface="Wingdings" panose="05000000000000000000" pitchFamily="2" charset="2"/>
              </a:rPr>
              <a:t></a:t>
            </a:r>
            <a:endParaRPr lang="de-AT" sz="3200" dirty="0">
              <a:solidFill>
                <a:srgbClr val="5A9E6F"/>
              </a:solidFill>
            </a:endParaRPr>
          </a:p>
        </p:txBody>
      </p:sp>
      <p:sp>
        <p:nvSpPr>
          <p:cNvPr id="9" name="Textfeld 8">
            <a:extLst>
              <a:ext uri="{FF2B5EF4-FFF2-40B4-BE49-F238E27FC236}">
                <a16:creationId xmlns:a16="http://schemas.microsoft.com/office/drawing/2014/main" id="{AA26DF40-A31C-1D17-56DA-12DCD580E881}"/>
              </a:ext>
            </a:extLst>
          </p:cNvPr>
          <p:cNvSpPr txBox="1"/>
          <p:nvPr/>
        </p:nvSpPr>
        <p:spPr>
          <a:xfrm>
            <a:off x="2650397" y="5385278"/>
            <a:ext cx="50687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AT" sz="3200" dirty="0">
                <a:solidFill>
                  <a:srgbClr val="5A9E6F"/>
                </a:solidFill>
                <a:sym typeface="Wingdings" panose="05000000000000000000" pitchFamily="2" charset="2"/>
              </a:rPr>
              <a:t></a:t>
            </a:r>
            <a:endParaRPr lang="de-AT" sz="3200" dirty="0">
              <a:solidFill>
                <a:srgbClr val="5A9E6F"/>
              </a:solidFill>
            </a:endParaRPr>
          </a:p>
        </p:txBody>
      </p:sp>
      <p:sp>
        <p:nvSpPr>
          <p:cNvPr id="10" name="Textfeld 9">
            <a:extLst>
              <a:ext uri="{FF2B5EF4-FFF2-40B4-BE49-F238E27FC236}">
                <a16:creationId xmlns:a16="http://schemas.microsoft.com/office/drawing/2014/main" id="{46D05D7D-EF38-86E8-14C8-8F46B42F275C}"/>
              </a:ext>
            </a:extLst>
          </p:cNvPr>
          <p:cNvSpPr txBox="1"/>
          <p:nvPr/>
        </p:nvSpPr>
        <p:spPr>
          <a:xfrm>
            <a:off x="3668312" y="5393664"/>
            <a:ext cx="50687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AT" sz="3200" dirty="0">
                <a:solidFill>
                  <a:srgbClr val="5A9E6F"/>
                </a:solidFill>
                <a:sym typeface="Wingdings" panose="05000000000000000000" pitchFamily="2" charset="2"/>
              </a:rPr>
              <a:t></a:t>
            </a:r>
            <a:endParaRPr lang="de-AT" sz="3200" dirty="0">
              <a:solidFill>
                <a:srgbClr val="5A9E6F"/>
              </a:solidFill>
            </a:endParaRPr>
          </a:p>
        </p:txBody>
      </p:sp>
      <p:sp>
        <p:nvSpPr>
          <p:cNvPr id="11" name="Textfeld 10">
            <a:extLst>
              <a:ext uri="{FF2B5EF4-FFF2-40B4-BE49-F238E27FC236}">
                <a16:creationId xmlns:a16="http://schemas.microsoft.com/office/drawing/2014/main" id="{DECDD641-D2CB-CF3E-F70C-18CFB42AA709}"/>
              </a:ext>
            </a:extLst>
          </p:cNvPr>
          <p:cNvSpPr txBox="1"/>
          <p:nvPr/>
        </p:nvSpPr>
        <p:spPr>
          <a:xfrm>
            <a:off x="4733675" y="5393664"/>
            <a:ext cx="50687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AT" sz="3200" dirty="0">
                <a:solidFill>
                  <a:srgbClr val="5A9E6F"/>
                </a:solidFill>
                <a:sym typeface="Wingdings" panose="05000000000000000000" pitchFamily="2" charset="2"/>
              </a:rPr>
              <a:t></a:t>
            </a:r>
            <a:endParaRPr lang="de-AT" sz="3200" dirty="0">
              <a:solidFill>
                <a:srgbClr val="5A9E6F"/>
              </a:solidFill>
            </a:endParaRPr>
          </a:p>
        </p:txBody>
      </p:sp>
      <p:sp>
        <p:nvSpPr>
          <p:cNvPr id="13" name="Textfeld 12">
            <a:extLst>
              <a:ext uri="{FF2B5EF4-FFF2-40B4-BE49-F238E27FC236}">
                <a16:creationId xmlns:a16="http://schemas.microsoft.com/office/drawing/2014/main" id="{0C6A08A9-68BF-199E-6EB9-6050A976718B}"/>
              </a:ext>
            </a:extLst>
          </p:cNvPr>
          <p:cNvSpPr txBox="1"/>
          <p:nvPr/>
        </p:nvSpPr>
        <p:spPr>
          <a:xfrm>
            <a:off x="1073989" y="6189404"/>
            <a:ext cx="4572000" cy="1846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AT" sz="600" dirty="0"/>
              <a:t>Source: https://www.mlsysbook.ai/contents/core/workflow/workflow_files/mediabag/9b58b3aa72de00d638019e0cdf45f488ecf3911f.svg</a:t>
            </a:r>
          </a:p>
        </p:txBody>
      </p:sp>
    </p:spTree>
    <p:extLst>
      <p:ext uri="{BB962C8B-B14F-4D97-AF65-F5344CB8AC3E}">
        <p14:creationId xmlns:p14="http://schemas.microsoft.com/office/powerpoint/2010/main" val="296255823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87836AAD-53AA-5B11-DBC7-CEED06D8D1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69AE5D89-E160-23E6-B43F-457E5F6D3660}"/>
              </a:ext>
            </a:extLst>
          </p:cNvPr>
          <p:cNvSpPr txBox="1"/>
          <p:nvPr/>
        </p:nvSpPr>
        <p:spPr>
          <a:xfrm>
            <a:off x="731520" y="548640"/>
            <a:ext cx="6936964" cy="64633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600" b="1">
                <a:solidFill>
                  <a:srgbClr val="2C5F7C"/>
                </a:solidFill>
                <a:latin typeface="Aptos Display"/>
              </a:defRPr>
            </a:pPr>
            <a:r>
              <a:rPr lang="de-AT" dirty="0"/>
              <a:t>Project Workflow and Architecture</a:t>
            </a:r>
            <a:endParaRPr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927F0B23-379B-A566-1A75-37F9CFDA4D81}"/>
              </a:ext>
            </a:extLst>
          </p:cNvPr>
          <p:cNvSpPr/>
          <p:nvPr/>
        </p:nvSpPr>
        <p:spPr>
          <a:xfrm>
            <a:off x="731520" y="1188720"/>
            <a:ext cx="7680960" cy="9144"/>
          </a:xfrm>
          <a:prstGeom prst="rect">
            <a:avLst/>
          </a:prstGeom>
          <a:solidFill>
            <a:srgbClr val="5A9E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7AE12BF-BB20-FBBC-37D1-1ED1E974D288}"/>
              </a:ext>
            </a:extLst>
          </p:cNvPr>
          <p:cNvSpPr txBox="1"/>
          <p:nvPr/>
        </p:nvSpPr>
        <p:spPr>
          <a:xfrm>
            <a:off x="7772400" y="6400800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>
                <a:solidFill>
                  <a:srgbClr val="8B7355"/>
                </a:solidFill>
                <a:latin typeface="Aptos"/>
              </a:defRPr>
            </a:pPr>
            <a:r>
              <a:t>2</a:t>
            </a:r>
          </a:p>
        </p:txBody>
      </p:sp>
      <p:sp>
        <p:nvSpPr>
          <p:cNvPr id="6" name="Rounded Rectangle 3">
            <a:extLst>
              <a:ext uri="{FF2B5EF4-FFF2-40B4-BE49-F238E27FC236}">
                <a16:creationId xmlns:a16="http://schemas.microsoft.com/office/drawing/2014/main" id="{47C89EA4-7346-6FA1-4C9D-7C94CF4B86B2}"/>
              </a:ext>
            </a:extLst>
          </p:cNvPr>
          <p:cNvSpPr/>
          <p:nvPr/>
        </p:nvSpPr>
        <p:spPr>
          <a:xfrm>
            <a:off x="731266" y="1572601"/>
            <a:ext cx="2527540" cy="952356"/>
          </a:xfrm>
          <a:prstGeom prst="roundRect">
            <a:avLst/>
          </a:prstGeom>
          <a:solidFill>
            <a:srgbClr val="F5F6FA"/>
          </a:solidFill>
          <a:ln w="25400">
            <a:solidFill>
              <a:srgbClr val="2C5F7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>
                <a:solidFill>
                  <a:srgbClr val="2D3436"/>
                </a:solidFill>
                <a:latin typeface="Aptos"/>
              </a:defRPr>
            </a:pPr>
            <a:r>
              <a:rPr sz="1600" dirty="0"/>
              <a:t>1. Dat</a:t>
            </a:r>
            <a:r>
              <a:rPr lang="de-AT" sz="1600" dirty="0"/>
              <a:t>a Ac</a:t>
            </a:r>
            <a:r>
              <a:rPr sz="1600" dirty="0" err="1"/>
              <a:t>quis</a:t>
            </a:r>
            <a:r>
              <a:rPr lang="de-AT" sz="1600" dirty="0" err="1"/>
              <a:t>ition</a:t>
            </a:r>
            <a:br>
              <a:rPr sz="1200" dirty="0"/>
            </a:br>
            <a:r>
              <a:rPr sz="1050" dirty="0"/>
              <a:t>EXAA, ICAP, EUROSTAT</a:t>
            </a:r>
            <a:r>
              <a:rPr lang="de-AT" sz="1050" dirty="0"/>
              <a:t>, E-Control, AUSTRIAN ENERGY AGENCY</a:t>
            </a:r>
            <a:endParaRPr sz="1200" dirty="0"/>
          </a:p>
        </p:txBody>
      </p:sp>
      <p:cxnSp>
        <p:nvCxnSpPr>
          <p:cNvPr id="12" name="Connector 4">
            <a:extLst>
              <a:ext uri="{FF2B5EF4-FFF2-40B4-BE49-F238E27FC236}">
                <a16:creationId xmlns:a16="http://schemas.microsoft.com/office/drawing/2014/main" id="{5F343CB2-7668-CA53-4EC9-F4F1B88A39DA}"/>
              </a:ext>
            </a:extLst>
          </p:cNvPr>
          <p:cNvCxnSpPr>
            <a:cxnSpLocks/>
            <a:stCxn id="6" idx="3"/>
            <a:endCxn id="14" idx="1"/>
          </p:cNvCxnSpPr>
          <p:nvPr/>
        </p:nvCxnSpPr>
        <p:spPr>
          <a:xfrm flipV="1">
            <a:off x="3258806" y="2046150"/>
            <a:ext cx="1220640" cy="2629"/>
          </a:xfrm>
          <a:prstGeom prst="line">
            <a:avLst/>
          </a:prstGeom>
          <a:ln w="38100">
            <a:solidFill>
              <a:srgbClr val="5A9E6F"/>
            </a:solidFill>
            <a:headEnd type="non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5">
            <a:extLst>
              <a:ext uri="{FF2B5EF4-FFF2-40B4-BE49-F238E27FC236}">
                <a16:creationId xmlns:a16="http://schemas.microsoft.com/office/drawing/2014/main" id="{BAD15895-0C13-126D-6767-1D06D69D879D}"/>
              </a:ext>
            </a:extLst>
          </p:cNvPr>
          <p:cNvSpPr>
            <a:spLocks/>
          </p:cNvSpPr>
          <p:nvPr/>
        </p:nvSpPr>
        <p:spPr>
          <a:xfrm>
            <a:off x="4479446" y="1569150"/>
            <a:ext cx="2527200" cy="954000"/>
          </a:xfrm>
          <a:prstGeom prst="roundRect">
            <a:avLst/>
          </a:prstGeom>
          <a:solidFill>
            <a:srgbClr val="F5F6FA"/>
          </a:solidFill>
          <a:ln w="25400">
            <a:solidFill>
              <a:srgbClr val="2C5F7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>
                <a:solidFill>
                  <a:srgbClr val="2D3436"/>
                </a:solidFill>
                <a:latin typeface="Aptos"/>
              </a:defRPr>
            </a:pPr>
            <a:r>
              <a:rPr dirty="0"/>
              <a:t>2. </a:t>
            </a:r>
            <a:r>
              <a:rPr lang="de-AT" dirty="0"/>
              <a:t>Technical </a:t>
            </a:r>
            <a:r>
              <a:rPr lang="de-AT" dirty="0" err="1"/>
              <a:t>Planning</a:t>
            </a:r>
            <a:br>
              <a:rPr lang="de-AT" dirty="0"/>
            </a:br>
            <a:r>
              <a:rPr lang="de-AT" sz="1050" dirty="0"/>
              <a:t>Understanding </a:t>
            </a:r>
            <a:r>
              <a:rPr lang="de-AT" sz="1050" dirty="0" err="1"/>
              <a:t>data</a:t>
            </a:r>
            <a:r>
              <a:rPr lang="de-AT" sz="1050" dirty="0"/>
              <a:t>, </a:t>
            </a:r>
            <a:r>
              <a:rPr lang="de-AT" sz="1050" dirty="0" err="1"/>
              <a:t>planning</a:t>
            </a:r>
            <a:r>
              <a:rPr lang="de-AT" sz="1050" dirty="0"/>
              <a:t> </a:t>
            </a:r>
            <a:r>
              <a:rPr lang="de-AT" sz="1050" dirty="0" err="1"/>
              <a:t>data</a:t>
            </a:r>
            <a:r>
              <a:rPr lang="de-AT" sz="1050" dirty="0"/>
              <a:t> </a:t>
            </a:r>
            <a:r>
              <a:rPr lang="de-AT" sz="1050" dirty="0" err="1"/>
              <a:t>model</a:t>
            </a:r>
            <a:r>
              <a:rPr lang="de-AT" sz="1050" dirty="0"/>
              <a:t> &amp; </a:t>
            </a:r>
            <a:r>
              <a:rPr lang="de-AT" sz="1050" dirty="0" err="1"/>
              <a:t>analysis</a:t>
            </a:r>
            <a:endParaRPr sz="1050" dirty="0"/>
          </a:p>
        </p:txBody>
      </p:sp>
      <p:sp>
        <p:nvSpPr>
          <p:cNvPr id="16" name="Rounded Rectangle 7">
            <a:extLst>
              <a:ext uri="{FF2B5EF4-FFF2-40B4-BE49-F238E27FC236}">
                <a16:creationId xmlns:a16="http://schemas.microsoft.com/office/drawing/2014/main" id="{8A65926C-4464-6A38-6105-34215EA0C03E}"/>
              </a:ext>
            </a:extLst>
          </p:cNvPr>
          <p:cNvSpPr/>
          <p:nvPr/>
        </p:nvSpPr>
        <p:spPr>
          <a:xfrm>
            <a:off x="731606" y="4334850"/>
            <a:ext cx="2527200" cy="954000"/>
          </a:xfrm>
          <a:prstGeom prst="roundRect">
            <a:avLst/>
          </a:prstGeom>
          <a:solidFill>
            <a:srgbClr val="F5F6FA"/>
          </a:solidFill>
          <a:ln w="25400">
            <a:solidFill>
              <a:srgbClr val="2C5F7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>
                <a:solidFill>
                  <a:srgbClr val="2D3436"/>
                </a:solidFill>
                <a:latin typeface="Aptos"/>
              </a:defRPr>
            </a:pPr>
            <a:r>
              <a:rPr lang="de-AT" dirty="0"/>
              <a:t>5</a:t>
            </a:r>
            <a:r>
              <a:rPr dirty="0"/>
              <a:t>. </a:t>
            </a:r>
            <a:r>
              <a:rPr lang="de-AT" dirty="0"/>
              <a:t>EDA</a:t>
            </a:r>
          </a:p>
          <a:p>
            <a:pPr algn="ctr">
              <a:defRPr sz="1600">
                <a:solidFill>
                  <a:srgbClr val="2D3436"/>
                </a:solidFill>
                <a:latin typeface="Aptos"/>
              </a:defRPr>
            </a:pPr>
            <a:r>
              <a:rPr lang="de-AT" sz="1100" dirty="0" err="1"/>
              <a:t>Visualisations</a:t>
            </a:r>
            <a:r>
              <a:rPr lang="de-AT" sz="1100" dirty="0"/>
              <a:t>, Time Series </a:t>
            </a:r>
            <a:r>
              <a:rPr lang="de-AT" sz="1100" dirty="0" err="1"/>
              <a:t>Decomposition</a:t>
            </a:r>
            <a:r>
              <a:rPr lang="de-AT" sz="1100" dirty="0"/>
              <a:t>, </a:t>
            </a:r>
            <a:r>
              <a:rPr lang="de-AT" sz="1100" dirty="0" err="1"/>
              <a:t>Structural</a:t>
            </a:r>
            <a:r>
              <a:rPr lang="de-AT" sz="1100" dirty="0"/>
              <a:t> Breaks, </a:t>
            </a:r>
            <a:r>
              <a:rPr lang="de-AT" sz="1100" dirty="0" err="1"/>
              <a:t>Multicollinearity</a:t>
            </a:r>
            <a:r>
              <a:rPr lang="de-AT" dirty="0"/>
              <a:t> </a:t>
            </a:r>
            <a:endParaRPr dirty="0"/>
          </a:p>
        </p:txBody>
      </p:sp>
      <p:sp>
        <p:nvSpPr>
          <p:cNvPr id="24" name="Rounded Rectangle 5">
            <a:extLst>
              <a:ext uri="{FF2B5EF4-FFF2-40B4-BE49-F238E27FC236}">
                <a16:creationId xmlns:a16="http://schemas.microsoft.com/office/drawing/2014/main" id="{486DD50D-223C-E9C2-DCFB-C76765185749}"/>
              </a:ext>
            </a:extLst>
          </p:cNvPr>
          <p:cNvSpPr>
            <a:spLocks/>
          </p:cNvSpPr>
          <p:nvPr/>
        </p:nvSpPr>
        <p:spPr>
          <a:xfrm>
            <a:off x="731266" y="2952000"/>
            <a:ext cx="2527200" cy="954000"/>
          </a:xfrm>
          <a:prstGeom prst="roundRect">
            <a:avLst/>
          </a:prstGeom>
          <a:solidFill>
            <a:srgbClr val="F5F6FA"/>
          </a:solidFill>
          <a:ln w="25400">
            <a:solidFill>
              <a:srgbClr val="2C5F7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>
                <a:solidFill>
                  <a:srgbClr val="2D3436"/>
                </a:solidFill>
                <a:latin typeface="Aptos"/>
              </a:defRPr>
            </a:pPr>
            <a:r>
              <a:rPr lang="de-AT" dirty="0"/>
              <a:t>3</a:t>
            </a:r>
            <a:r>
              <a:rPr dirty="0"/>
              <a:t>. </a:t>
            </a:r>
            <a:r>
              <a:rPr lang="de-AT" dirty="0"/>
              <a:t>Building Data Pipeline </a:t>
            </a:r>
            <a:br>
              <a:rPr lang="de-AT" dirty="0"/>
            </a:br>
            <a:r>
              <a:rPr lang="de-AT" sz="1100" dirty="0"/>
              <a:t>DRY, </a:t>
            </a:r>
            <a:r>
              <a:rPr lang="de-AT" sz="1100" dirty="0" err="1"/>
              <a:t>Scalability</a:t>
            </a:r>
            <a:r>
              <a:rPr lang="de-AT" sz="1100" dirty="0"/>
              <a:t>, Future-</a:t>
            </a:r>
            <a:r>
              <a:rPr lang="de-AT" sz="1100" dirty="0" err="1"/>
              <a:t>Proofing</a:t>
            </a:r>
            <a:endParaRPr sz="1050" dirty="0"/>
          </a:p>
        </p:txBody>
      </p:sp>
      <p:cxnSp>
        <p:nvCxnSpPr>
          <p:cNvPr id="26" name="Verbinder: gewinkelt 25">
            <a:extLst>
              <a:ext uri="{FF2B5EF4-FFF2-40B4-BE49-F238E27FC236}">
                <a16:creationId xmlns:a16="http://schemas.microsoft.com/office/drawing/2014/main" id="{02566DE7-3BC7-3BCF-B582-372BCFCD5C0F}"/>
              </a:ext>
            </a:extLst>
          </p:cNvPr>
          <p:cNvCxnSpPr>
            <a:cxnSpLocks/>
            <a:stCxn id="14" idx="3"/>
            <a:endCxn id="24" idx="0"/>
          </p:cNvCxnSpPr>
          <p:nvPr/>
        </p:nvCxnSpPr>
        <p:spPr>
          <a:xfrm flipH="1">
            <a:off x="1994866" y="2046150"/>
            <a:ext cx="5011780" cy="905850"/>
          </a:xfrm>
          <a:prstGeom prst="bentConnector4">
            <a:avLst>
              <a:gd name="adj1" fmla="val -4561"/>
              <a:gd name="adj2" fmla="val 76329"/>
            </a:avLst>
          </a:prstGeom>
          <a:ln w="38100">
            <a:solidFill>
              <a:srgbClr val="5A9E6F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4">
            <a:extLst>
              <a:ext uri="{FF2B5EF4-FFF2-40B4-BE49-F238E27FC236}">
                <a16:creationId xmlns:a16="http://schemas.microsoft.com/office/drawing/2014/main" id="{CD7F4293-D9FF-00A0-102F-49650A72EA5F}"/>
              </a:ext>
            </a:extLst>
          </p:cNvPr>
          <p:cNvCxnSpPr>
            <a:cxnSpLocks/>
            <a:stCxn id="24" idx="3"/>
            <a:endCxn id="34" idx="1"/>
          </p:cNvCxnSpPr>
          <p:nvPr/>
        </p:nvCxnSpPr>
        <p:spPr>
          <a:xfrm>
            <a:off x="3258466" y="3429000"/>
            <a:ext cx="1220980" cy="0"/>
          </a:xfrm>
          <a:prstGeom prst="line">
            <a:avLst/>
          </a:prstGeom>
          <a:ln w="38100">
            <a:solidFill>
              <a:srgbClr val="5A9E6F"/>
            </a:solidFill>
            <a:headEnd type="non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ounded Rectangle 5">
            <a:extLst>
              <a:ext uri="{FF2B5EF4-FFF2-40B4-BE49-F238E27FC236}">
                <a16:creationId xmlns:a16="http://schemas.microsoft.com/office/drawing/2014/main" id="{A2C09AF8-C4C6-8440-A8B8-15D27E8DE936}"/>
              </a:ext>
            </a:extLst>
          </p:cNvPr>
          <p:cNvSpPr/>
          <p:nvPr/>
        </p:nvSpPr>
        <p:spPr>
          <a:xfrm>
            <a:off x="4479446" y="2952000"/>
            <a:ext cx="2527200" cy="954000"/>
          </a:xfrm>
          <a:prstGeom prst="roundRect">
            <a:avLst/>
          </a:prstGeom>
          <a:solidFill>
            <a:srgbClr val="F5F6FA"/>
          </a:solidFill>
          <a:ln w="25400">
            <a:solidFill>
              <a:srgbClr val="2C5F7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>
                <a:solidFill>
                  <a:srgbClr val="2D3436"/>
                </a:solidFill>
                <a:latin typeface="Aptos"/>
              </a:defRPr>
            </a:pPr>
            <a:r>
              <a:rPr lang="de-AT" dirty="0"/>
              <a:t>4</a:t>
            </a:r>
            <a:r>
              <a:rPr dirty="0"/>
              <a:t>. </a:t>
            </a:r>
            <a:r>
              <a:rPr lang="de-AT" dirty="0" err="1"/>
              <a:t>Missing</a:t>
            </a:r>
            <a:r>
              <a:rPr lang="de-AT" dirty="0"/>
              <a:t> Values Treatment:</a:t>
            </a:r>
            <a:br>
              <a:rPr lang="de-AT" dirty="0"/>
            </a:br>
            <a:r>
              <a:rPr lang="de-AT" sz="1200" dirty="0"/>
              <a:t>„</a:t>
            </a:r>
            <a:r>
              <a:rPr lang="de-AT" sz="1200" dirty="0" err="1"/>
              <a:t>price_combined</a:t>
            </a:r>
            <a:r>
              <a:rPr lang="de-AT" sz="1200" dirty="0"/>
              <a:t>“, </a:t>
            </a:r>
            <a:r>
              <a:rPr lang="de-AT" sz="1200" dirty="0" err="1"/>
              <a:t>climate</a:t>
            </a:r>
            <a:r>
              <a:rPr lang="de-AT" sz="1200" dirty="0"/>
              <a:t> </a:t>
            </a:r>
            <a:r>
              <a:rPr lang="de-AT" sz="1200" dirty="0" err="1"/>
              <a:t>data</a:t>
            </a:r>
            <a:r>
              <a:rPr lang="de-AT" sz="1200" dirty="0"/>
              <a:t>,  </a:t>
            </a:r>
            <a:r>
              <a:rPr lang="de-AT" sz="1200" dirty="0" err="1"/>
              <a:t>dropping</a:t>
            </a:r>
            <a:r>
              <a:rPr lang="de-AT" sz="1200" dirty="0"/>
              <a:t> non-</a:t>
            </a:r>
            <a:r>
              <a:rPr lang="de-AT" sz="1200" dirty="0" err="1"/>
              <a:t>usable</a:t>
            </a:r>
            <a:r>
              <a:rPr lang="de-AT" sz="1200" dirty="0"/>
              <a:t>-</a:t>
            </a:r>
            <a:r>
              <a:rPr lang="de-AT" sz="1200" dirty="0" err="1"/>
              <a:t>columns</a:t>
            </a:r>
            <a:endParaRPr sz="1050" dirty="0"/>
          </a:p>
        </p:txBody>
      </p:sp>
      <p:cxnSp>
        <p:nvCxnSpPr>
          <p:cNvPr id="39" name="Verbinder: gewinkelt 38">
            <a:extLst>
              <a:ext uri="{FF2B5EF4-FFF2-40B4-BE49-F238E27FC236}">
                <a16:creationId xmlns:a16="http://schemas.microsoft.com/office/drawing/2014/main" id="{88299F98-0460-3D3A-73B9-3909F50CEBFD}"/>
              </a:ext>
            </a:extLst>
          </p:cNvPr>
          <p:cNvCxnSpPr>
            <a:cxnSpLocks/>
            <a:stCxn id="34" idx="3"/>
            <a:endCxn id="16" idx="0"/>
          </p:cNvCxnSpPr>
          <p:nvPr/>
        </p:nvCxnSpPr>
        <p:spPr>
          <a:xfrm flipH="1">
            <a:off x="1995206" y="3429000"/>
            <a:ext cx="5011440" cy="905850"/>
          </a:xfrm>
          <a:prstGeom prst="bentConnector4">
            <a:avLst>
              <a:gd name="adj1" fmla="val -4562"/>
              <a:gd name="adj2" fmla="val 76329"/>
            </a:avLst>
          </a:prstGeom>
          <a:ln w="38100">
            <a:solidFill>
              <a:srgbClr val="5A9E6F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Rounded Rectangle 7">
            <a:extLst>
              <a:ext uri="{FF2B5EF4-FFF2-40B4-BE49-F238E27FC236}">
                <a16:creationId xmlns:a16="http://schemas.microsoft.com/office/drawing/2014/main" id="{2BA455BF-ED91-DEE8-6CEC-516196F2BA86}"/>
              </a:ext>
            </a:extLst>
          </p:cNvPr>
          <p:cNvSpPr/>
          <p:nvPr/>
        </p:nvSpPr>
        <p:spPr>
          <a:xfrm>
            <a:off x="4500756" y="4334850"/>
            <a:ext cx="2527200" cy="954000"/>
          </a:xfrm>
          <a:prstGeom prst="roundRect">
            <a:avLst/>
          </a:prstGeom>
          <a:solidFill>
            <a:srgbClr val="F5F6FA"/>
          </a:solidFill>
          <a:ln w="25400">
            <a:solidFill>
              <a:srgbClr val="2C5F7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>
                <a:solidFill>
                  <a:srgbClr val="2D3436"/>
                </a:solidFill>
                <a:latin typeface="Aptos"/>
              </a:defRPr>
            </a:pPr>
            <a:r>
              <a:rPr lang="de-AT" dirty="0"/>
              <a:t>6</a:t>
            </a:r>
            <a:r>
              <a:rPr dirty="0"/>
              <a:t>. </a:t>
            </a:r>
            <a:r>
              <a:rPr lang="de-AT" dirty="0"/>
              <a:t>Model-Building &amp;</a:t>
            </a:r>
            <a:br>
              <a:rPr dirty="0"/>
            </a:br>
            <a:r>
              <a:rPr lang="de-AT" dirty="0"/>
              <a:t>Evaluation</a:t>
            </a:r>
          </a:p>
        </p:txBody>
      </p:sp>
      <p:cxnSp>
        <p:nvCxnSpPr>
          <p:cNvPr id="64" name="Connector 4">
            <a:extLst>
              <a:ext uri="{FF2B5EF4-FFF2-40B4-BE49-F238E27FC236}">
                <a16:creationId xmlns:a16="http://schemas.microsoft.com/office/drawing/2014/main" id="{DB63DC6D-6B7E-4282-5A5A-CC10B7827CD9}"/>
              </a:ext>
            </a:extLst>
          </p:cNvPr>
          <p:cNvCxnSpPr>
            <a:cxnSpLocks/>
            <a:stCxn id="16" idx="3"/>
            <a:endCxn id="53" idx="1"/>
          </p:cNvCxnSpPr>
          <p:nvPr/>
        </p:nvCxnSpPr>
        <p:spPr>
          <a:xfrm>
            <a:off x="3258806" y="4811850"/>
            <a:ext cx="1241950" cy="0"/>
          </a:xfrm>
          <a:prstGeom prst="line">
            <a:avLst/>
          </a:prstGeom>
          <a:ln w="38100">
            <a:solidFill>
              <a:srgbClr val="5A9E6F"/>
            </a:solidFill>
            <a:headEnd type="non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1" name="Rechteck: abgerundete Ecken 70">
            <a:extLst>
              <a:ext uri="{FF2B5EF4-FFF2-40B4-BE49-F238E27FC236}">
                <a16:creationId xmlns:a16="http://schemas.microsoft.com/office/drawing/2014/main" id="{472B7E39-7736-AA19-D2D4-088B707E36B5}"/>
              </a:ext>
            </a:extLst>
          </p:cNvPr>
          <p:cNvSpPr/>
          <p:nvPr/>
        </p:nvSpPr>
        <p:spPr>
          <a:xfrm>
            <a:off x="342139" y="2643702"/>
            <a:ext cx="8517776" cy="2924780"/>
          </a:xfrm>
          <a:prstGeom prst="roundRect">
            <a:avLst/>
          </a:prstGeom>
          <a:noFill/>
          <a:ln w="38100">
            <a:solidFill>
              <a:srgbClr val="8B73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AT"/>
          </a:p>
        </p:txBody>
      </p:sp>
      <p:sp>
        <p:nvSpPr>
          <p:cNvPr id="72" name="Textfeld 71">
            <a:extLst>
              <a:ext uri="{FF2B5EF4-FFF2-40B4-BE49-F238E27FC236}">
                <a16:creationId xmlns:a16="http://schemas.microsoft.com/office/drawing/2014/main" id="{6397ED01-8E26-5D23-77C5-5F1DF08607B1}"/>
              </a:ext>
            </a:extLst>
          </p:cNvPr>
          <p:cNvSpPr txBox="1"/>
          <p:nvPr/>
        </p:nvSpPr>
        <p:spPr>
          <a:xfrm>
            <a:off x="7401377" y="3447994"/>
            <a:ext cx="1379352" cy="127727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AT" sz="1200" u="sng" dirty="0">
                <a:solidFill>
                  <a:srgbClr val="8B7355"/>
                </a:solidFill>
              </a:rPr>
              <a:t>Mid-September to </a:t>
            </a:r>
            <a:br>
              <a:rPr lang="de-AT" sz="1200" u="sng" dirty="0">
                <a:solidFill>
                  <a:srgbClr val="8B7355"/>
                </a:solidFill>
              </a:rPr>
            </a:br>
            <a:r>
              <a:rPr lang="de-AT" sz="1200" u="sng" dirty="0">
                <a:solidFill>
                  <a:srgbClr val="8B7355"/>
                </a:solidFill>
              </a:rPr>
              <a:t>End of </a:t>
            </a:r>
            <a:r>
              <a:rPr lang="de-AT" sz="1200" u="sng" dirty="0" err="1">
                <a:solidFill>
                  <a:srgbClr val="8B7355"/>
                </a:solidFill>
              </a:rPr>
              <a:t>October</a:t>
            </a:r>
            <a:endParaRPr lang="de-AT" sz="1200" u="sng" dirty="0">
              <a:solidFill>
                <a:srgbClr val="8B7355"/>
              </a:solidFill>
            </a:endParaRPr>
          </a:p>
          <a:p>
            <a:pPr algn="ctr"/>
            <a:endParaRPr lang="de-AT" sz="500" u="sng" dirty="0">
              <a:solidFill>
                <a:srgbClr val="8B7355"/>
              </a:solidFill>
            </a:endParaRPr>
          </a:p>
          <a:p>
            <a:r>
              <a:rPr lang="de-AT" sz="1200" dirty="0">
                <a:solidFill>
                  <a:srgbClr val="8B7355"/>
                </a:solidFill>
              </a:rPr>
              <a:t>4 </a:t>
            </a:r>
            <a:r>
              <a:rPr lang="de-AT" sz="1200" dirty="0" err="1">
                <a:solidFill>
                  <a:srgbClr val="8B7355"/>
                </a:solidFill>
              </a:rPr>
              <a:t>Weeks</a:t>
            </a:r>
            <a:r>
              <a:rPr lang="de-AT" sz="1200" dirty="0">
                <a:solidFill>
                  <a:srgbClr val="8B7355"/>
                </a:solidFill>
              </a:rPr>
              <a:t> </a:t>
            </a:r>
          </a:p>
          <a:p>
            <a:r>
              <a:rPr lang="de-AT" sz="1200" dirty="0">
                <a:solidFill>
                  <a:srgbClr val="8B7355"/>
                </a:solidFill>
              </a:rPr>
              <a:t>+ </a:t>
            </a:r>
          </a:p>
          <a:p>
            <a:r>
              <a:rPr lang="de-AT" sz="1200" dirty="0">
                <a:solidFill>
                  <a:srgbClr val="8B7355"/>
                </a:solidFill>
              </a:rPr>
              <a:t>~2 </a:t>
            </a:r>
            <a:r>
              <a:rPr lang="de-AT" sz="1200" dirty="0" err="1">
                <a:solidFill>
                  <a:srgbClr val="8B7355"/>
                </a:solidFill>
              </a:rPr>
              <a:t>Weeks</a:t>
            </a:r>
            <a:r>
              <a:rPr lang="de-AT" sz="1200" dirty="0">
                <a:solidFill>
                  <a:srgbClr val="8B7355"/>
                </a:solidFill>
              </a:rPr>
              <a:t> for</a:t>
            </a:r>
          </a:p>
          <a:p>
            <a:r>
              <a:rPr lang="de-AT" sz="1200" dirty="0" err="1">
                <a:solidFill>
                  <a:srgbClr val="8B7355"/>
                </a:solidFill>
              </a:rPr>
              <a:t>documentation</a:t>
            </a:r>
            <a:endParaRPr lang="de-AT" sz="1200" dirty="0">
              <a:solidFill>
                <a:srgbClr val="8B7355"/>
              </a:solidFill>
            </a:endParaRPr>
          </a:p>
        </p:txBody>
      </p:sp>
      <p:sp>
        <p:nvSpPr>
          <p:cNvPr id="73" name="Textfeld 72">
            <a:extLst>
              <a:ext uri="{FF2B5EF4-FFF2-40B4-BE49-F238E27FC236}">
                <a16:creationId xmlns:a16="http://schemas.microsoft.com/office/drawing/2014/main" id="{0A269601-DE5E-8708-60C9-8DCBF5542DBC}"/>
              </a:ext>
            </a:extLst>
          </p:cNvPr>
          <p:cNvSpPr txBox="1"/>
          <p:nvPr/>
        </p:nvSpPr>
        <p:spPr>
          <a:xfrm>
            <a:off x="7386084" y="1665651"/>
            <a:ext cx="1409938" cy="7232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AT" sz="1200" u="sng" dirty="0">
                <a:solidFill>
                  <a:srgbClr val="8B7355"/>
                </a:solidFill>
              </a:rPr>
              <a:t>Start of September:</a:t>
            </a:r>
          </a:p>
          <a:p>
            <a:endParaRPr lang="de-AT" sz="500" u="sng" dirty="0">
              <a:solidFill>
                <a:srgbClr val="8B7355"/>
              </a:solidFill>
            </a:endParaRPr>
          </a:p>
          <a:p>
            <a:r>
              <a:rPr lang="de-AT" sz="1200" dirty="0">
                <a:solidFill>
                  <a:srgbClr val="8B7355"/>
                </a:solidFill>
              </a:rPr>
              <a:t>Development</a:t>
            </a:r>
          </a:p>
          <a:p>
            <a:r>
              <a:rPr lang="de-AT" sz="1200" dirty="0">
                <a:solidFill>
                  <a:srgbClr val="8B7355"/>
                </a:solidFill>
              </a:rPr>
              <a:t>Phase ~2 </a:t>
            </a:r>
            <a:r>
              <a:rPr lang="de-AT" sz="1200" dirty="0" err="1">
                <a:solidFill>
                  <a:srgbClr val="8B7355"/>
                </a:solidFill>
              </a:rPr>
              <a:t>Weeks</a:t>
            </a:r>
            <a:endParaRPr lang="de-AT" sz="1200" dirty="0">
              <a:solidFill>
                <a:srgbClr val="8B7355"/>
              </a:solidFill>
            </a:endParaRPr>
          </a:p>
        </p:txBody>
      </p:sp>
      <p:sp>
        <p:nvSpPr>
          <p:cNvPr id="75" name="Textfeld 74">
            <a:extLst>
              <a:ext uri="{FF2B5EF4-FFF2-40B4-BE49-F238E27FC236}">
                <a16:creationId xmlns:a16="http://schemas.microsoft.com/office/drawing/2014/main" id="{017A26D3-903E-F41D-45EA-2F28C7908CC6}"/>
              </a:ext>
            </a:extLst>
          </p:cNvPr>
          <p:cNvSpPr txBox="1"/>
          <p:nvPr/>
        </p:nvSpPr>
        <p:spPr>
          <a:xfrm>
            <a:off x="7336349" y="2775684"/>
            <a:ext cx="1523566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AT" sz="1600" dirty="0">
                <a:solidFill>
                  <a:srgbClr val="8B7355"/>
                </a:solidFill>
              </a:rPr>
              <a:t>Development</a:t>
            </a:r>
          </a:p>
          <a:p>
            <a:r>
              <a:rPr lang="de-AT" sz="1600" dirty="0">
                <a:solidFill>
                  <a:srgbClr val="8B7355"/>
                </a:solidFill>
              </a:rPr>
              <a:t>Phase</a:t>
            </a:r>
            <a:endParaRPr lang="de-AT" sz="1600" dirty="0"/>
          </a:p>
        </p:txBody>
      </p:sp>
    </p:spTree>
    <p:extLst>
      <p:ext uri="{BB962C8B-B14F-4D97-AF65-F5344CB8AC3E}">
        <p14:creationId xmlns:p14="http://schemas.microsoft.com/office/powerpoint/2010/main" val="46657543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264AB1-AB45-A3F1-50DE-489D6254D1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2672A67-CA30-EA94-BDC5-791B0A94EAE4}"/>
              </a:ext>
            </a:extLst>
          </p:cNvPr>
          <p:cNvSpPr txBox="1"/>
          <p:nvPr/>
        </p:nvSpPr>
        <p:spPr>
          <a:xfrm>
            <a:off x="731520" y="548640"/>
            <a:ext cx="3057697" cy="64633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600" b="1">
                <a:solidFill>
                  <a:srgbClr val="2C5F7C"/>
                </a:solidFill>
                <a:latin typeface="Aptos Display"/>
              </a:defRPr>
            </a:pPr>
            <a:r>
              <a:rPr lang="de-AT" dirty="0"/>
              <a:t>Data </a:t>
            </a:r>
            <a:r>
              <a:rPr lang="de-AT" dirty="0" err="1"/>
              <a:t>Overview</a:t>
            </a:r>
            <a:endParaRPr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B861A69-D05A-10D0-4C89-5B6E53EEA1DC}"/>
              </a:ext>
            </a:extLst>
          </p:cNvPr>
          <p:cNvSpPr/>
          <p:nvPr/>
        </p:nvSpPr>
        <p:spPr>
          <a:xfrm>
            <a:off x="731520" y="1188720"/>
            <a:ext cx="7680960" cy="9144"/>
          </a:xfrm>
          <a:prstGeom prst="rect">
            <a:avLst/>
          </a:prstGeom>
          <a:solidFill>
            <a:srgbClr val="5A9E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29B8D4E-37AA-E66F-F6E8-BC4437399E8D}"/>
              </a:ext>
            </a:extLst>
          </p:cNvPr>
          <p:cNvSpPr txBox="1"/>
          <p:nvPr/>
        </p:nvSpPr>
        <p:spPr>
          <a:xfrm>
            <a:off x="914399" y="1645920"/>
            <a:ext cx="8145379" cy="45243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>
                <a:solidFill>
                  <a:srgbClr val="2D3436"/>
                </a:solidFill>
                <a:latin typeface="Aptos"/>
              </a:defRPr>
            </a:pPr>
            <a:r>
              <a:rPr lang="de-AT" b="1" dirty="0"/>
              <a:t>Data </a:t>
            </a:r>
            <a:r>
              <a:rPr lang="de-AT" b="1" dirty="0" err="1"/>
              <a:t>Granularity</a:t>
            </a:r>
            <a:r>
              <a:rPr lang="de-AT" b="1" dirty="0"/>
              <a:t>: Monthly</a:t>
            </a:r>
          </a:p>
          <a:p>
            <a:pPr marL="285750" indent="-285750">
              <a:spcAft>
                <a:spcPts val="1200"/>
              </a:spcAft>
              <a:buFont typeface="Arial" panose="020B0604020202020204" pitchFamily="34" charset="0"/>
              <a:buChar char="•"/>
              <a:defRPr sz="1800">
                <a:solidFill>
                  <a:srgbClr val="2D3436"/>
                </a:solidFill>
                <a:latin typeface="Aptos"/>
              </a:defRPr>
            </a:pPr>
            <a:r>
              <a:rPr lang="de-AT" b="1" dirty="0"/>
              <a:t>Outcome Variable: </a:t>
            </a:r>
            <a:r>
              <a:rPr lang="de-AT" dirty="0"/>
              <a:t>Average of </a:t>
            </a:r>
            <a:r>
              <a:rPr lang="de-AT" dirty="0" err="1"/>
              <a:t>day-ahead</a:t>
            </a:r>
            <a:r>
              <a:rPr lang="de-AT" dirty="0"/>
              <a:t> </a:t>
            </a:r>
            <a:r>
              <a:rPr lang="de-AT" dirty="0" err="1"/>
              <a:t>electricity</a:t>
            </a:r>
            <a:r>
              <a:rPr lang="de-AT" dirty="0"/>
              <a:t> </a:t>
            </a:r>
            <a:r>
              <a:rPr lang="de-AT" dirty="0" err="1"/>
              <a:t>prices</a:t>
            </a:r>
            <a:r>
              <a:rPr lang="de-AT" dirty="0"/>
              <a:t> (EXAA / Vienna Stock Exchange)</a:t>
            </a:r>
          </a:p>
          <a:p>
            <a:pPr marL="285750" indent="-285750">
              <a:spcAft>
                <a:spcPts val="1200"/>
              </a:spcAft>
              <a:buFont typeface="Arial" panose="020B0604020202020204" pitchFamily="34" charset="0"/>
              <a:buChar char="•"/>
              <a:defRPr sz="1800">
                <a:solidFill>
                  <a:srgbClr val="2D3436"/>
                </a:solidFill>
                <a:latin typeface="Aptos"/>
              </a:defRPr>
            </a:pPr>
            <a:r>
              <a:rPr lang="de-AT" b="1" dirty="0"/>
              <a:t>Input Variables</a:t>
            </a:r>
            <a:r>
              <a:rPr lang="de-AT" dirty="0"/>
              <a:t>:</a:t>
            </a:r>
          </a:p>
          <a:p>
            <a:pPr marL="742950" lvl="1" indent="-285750">
              <a:spcAft>
                <a:spcPts val="1200"/>
              </a:spcAft>
              <a:buFont typeface="Courier New" panose="02070309020205020404" pitchFamily="49" charset="0"/>
              <a:buChar char="o"/>
              <a:defRPr sz="1800">
                <a:solidFill>
                  <a:srgbClr val="2D3436"/>
                </a:solidFill>
                <a:latin typeface="Aptos"/>
              </a:defRPr>
            </a:pPr>
            <a:r>
              <a:rPr lang="de-AT" dirty="0"/>
              <a:t>Gas </a:t>
            </a:r>
            <a:r>
              <a:rPr lang="de-AT" dirty="0" err="1"/>
              <a:t>prices</a:t>
            </a:r>
            <a:r>
              <a:rPr lang="de-AT" dirty="0"/>
              <a:t>  - Average of 1-month </a:t>
            </a:r>
            <a:r>
              <a:rPr lang="de-AT" dirty="0" err="1"/>
              <a:t>ahead</a:t>
            </a:r>
            <a:r>
              <a:rPr lang="de-AT" dirty="0"/>
              <a:t> </a:t>
            </a:r>
            <a:r>
              <a:rPr lang="de-AT" dirty="0" err="1"/>
              <a:t>futures</a:t>
            </a:r>
            <a:r>
              <a:rPr lang="de-AT" dirty="0"/>
              <a:t> (Austrian Energy Agency)</a:t>
            </a:r>
          </a:p>
          <a:p>
            <a:pPr marL="742950" lvl="1" indent="-285750">
              <a:spcAft>
                <a:spcPts val="1200"/>
              </a:spcAft>
              <a:buFont typeface="Courier New" panose="02070309020205020404" pitchFamily="49" charset="0"/>
              <a:buChar char="o"/>
              <a:defRPr sz="1800">
                <a:solidFill>
                  <a:srgbClr val="2D3436"/>
                </a:solidFill>
                <a:latin typeface="Aptos"/>
              </a:defRPr>
            </a:pPr>
            <a:r>
              <a:rPr lang="de-AT" dirty="0"/>
              <a:t>Price of </a:t>
            </a:r>
            <a:r>
              <a:rPr lang="de-AT" dirty="0" err="1"/>
              <a:t>carbon</a:t>
            </a:r>
            <a:r>
              <a:rPr lang="de-AT" dirty="0"/>
              <a:t> </a:t>
            </a:r>
            <a:r>
              <a:rPr lang="de-AT" dirty="0" err="1"/>
              <a:t>emission</a:t>
            </a:r>
            <a:r>
              <a:rPr lang="de-AT" dirty="0"/>
              <a:t> </a:t>
            </a:r>
            <a:r>
              <a:rPr lang="de-AT" dirty="0" err="1"/>
              <a:t>credits</a:t>
            </a:r>
            <a:r>
              <a:rPr lang="de-AT" dirty="0"/>
              <a:t> in European Trading Area (ICAP)</a:t>
            </a:r>
          </a:p>
          <a:p>
            <a:pPr marL="742950" lvl="1" indent="-285750">
              <a:spcAft>
                <a:spcPts val="1200"/>
              </a:spcAft>
              <a:buFont typeface="Courier New" panose="02070309020205020404" pitchFamily="49" charset="0"/>
              <a:buChar char="o"/>
              <a:defRPr sz="1800">
                <a:solidFill>
                  <a:srgbClr val="2D3436"/>
                </a:solidFill>
                <a:latin typeface="Aptos"/>
              </a:defRPr>
            </a:pPr>
            <a:r>
              <a:rPr lang="de-AT" dirty="0"/>
              <a:t>Climate </a:t>
            </a:r>
            <a:r>
              <a:rPr lang="de-AT" dirty="0" err="1"/>
              <a:t>data</a:t>
            </a:r>
            <a:r>
              <a:rPr lang="de-AT" dirty="0"/>
              <a:t> for </a:t>
            </a:r>
            <a:r>
              <a:rPr lang="de-AT" dirty="0" err="1"/>
              <a:t>austria</a:t>
            </a:r>
            <a:r>
              <a:rPr lang="de-AT" dirty="0"/>
              <a:t> (EUROSTAT)</a:t>
            </a:r>
          </a:p>
          <a:p>
            <a:pPr marL="742950" lvl="1" indent="-285750">
              <a:spcAft>
                <a:spcPts val="1200"/>
              </a:spcAft>
              <a:buFont typeface="Courier New" panose="02070309020205020404" pitchFamily="49" charset="0"/>
              <a:buChar char="o"/>
              <a:defRPr sz="1800">
                <a:solidFill>
                  <a:srgbClr val="2D3436"/>
                </a:solidFill>
                <a:latin typeface="Aptos"/>
              </a:defRPr>
            </a:pPr>
            <a:r>
              <a:rPr lang="de-AT" dirty="0"/>
              <a:t>Proportion of </a:t>
            </a:r>
            <a:r>
              <a:rPr lang="de-AT" dirty="0" err="1"/>
              <a:t>renewables</a:t>
            </a:r>
            <a:r>
              <a:rPr lang="de-AT" dirty="0"/>
              <a:t> in </a:t>
            </a:r>
            <a:r>
              <a:rPr lang="de-AT" dirty="0" err="1"/>
              <a:t>energy</a:t>
            </a:r>
            <a:r>
              <a:rPr lang="de-AT" dirty="0"/>
              <a:t> </a:t>
            </a:r>
            <a:r>
              <a:rPr lang="de-AT" dirty="0" err="1"/>
              <a:t>production</a:t>
            </a:r>
            <a:r>
              <a:rPr lang="de-AT" dirty="0"/>
              <a:t> (E-Control)</a:t>
            </a:r>
          </a:p>
          <a:p>
            <a:pPr marL="742950" lvl="1" indent="-285750">
              <a:spcAft>
                <a:spcPts val="1200"/>
              </a:spcAft>
              <a:buFont typeface="Courier New" panose="02070309020205020404" pitchFamily="49" charset="0"/>
              <a:buChar char="o"/>
              <a:defRPr sz="1800">
                <a:solidFill>
                  <a:srgbClr val="2D3436"/>
                </a:solidFill>
                <a:latin typeface="Aptos"/>
              </a:defRPr>
            </a:pPr>
            <a:r>
              <a:rPr lang="de-AT" dirty="0" err="1"/>
              <a:t>Economic</a:t>
            </a:r>
            <a:r>
              <a:rPr lang="de-AT" dirty="0"/>
              <a:t> </a:t>
            </a:r>
            <a:r>
              <a:rPr lang="de-AT" dirty="0" err="1"/>
              <a:t>Indicators</a:t>
            </a:r>
            <a:r>
              <a:rPr lang="de-AT" dirty="0"/>
              <a:t> (STATISTIK Austria)</a:t>
            </a:r>
          </a:p>
          <a:p>
            <a:pPr lvl="1">
              <a:spcAft>
                <a:spcPts val="1200"/>
              </a:spcAft>
              <a:defRPr sz="1800">
                <a:solidFill>
                  <a:srgbClr val="2D3436"/>
                </a:solidFill>
                <a:latin typeface="Aptos"/>
              </a:defRPr>
            </a:pPr>
            <a:endParaRPr lang="de-AT" dirty="0"/>
          </a:p>
          <a:p>
            <a:pPr marL="742950" lvl="1" indent="-285750">
              <a:spcAft>
                <a:spcPts val="1200"/>
              </a:spcAft>
              <a:buFont typeface="Courier New" panose="02070309020205020404" pitchFamily="49" charset="0"/>
              <a:buChar char="o"/>
              <a:defRPr sz="1800">
                <a:solidFill>
                  <a:srgbClr val="2D3436"/>
                </a:solidFill>
                <a:latin typeface="Aptos"/>
              </a:defRPr>
            </a:pPr>
            <a:endParaRPr lang="de-AT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892643B-367E-0FFF-A9FB-3E52E233AE4A}"/>
              </a:ext>
            </a:extLst>
          </p:cNvPr>
          <p:cNvSpPr txBox="1"/>
          <p:nvPr/>
        </p:nvSpPr>
        <p:spPr>
          <a:xfrm>
            <a:off x="7772400" y="6400800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>
                <a:solidFill>
                  <a:srgbClr val="8B7355"/>
                </a:solidFill>
                <a:latin typeface="Aptos"/>
              </a:defRPr>
            </a:pPr>
            <a:r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324564635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A190D1-5675-D18B-BF78-762E37F4C2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E5BC2AC3-1D5B-5F97-8EC7-FB9BDB78F739}"/>
              </a:ext>
            </a:extLst>
          </p:cNvPr>
          <p:cNvSpPr txBox="1"/>
          <p:nvPr/>
        </p:nvSpPr>
        <p:spPr>
          <a:xfrm>
            <a:off x="731520" y="548640"/>
            <a:ext cx="4082336" cy="64633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600" b="1">
                <a:solidFill>
                  <a:srgbClr val="2C5F7C"/>
                </a:solidFill>
                <a:latin typeface="Aptos Display"/>
              </a:defRPr>
            </a:pPr>
            <a:r>
              <a:rPr lang="de-AT" dirty="0"/>
              <a:t>Central EDA </a:t>
            </a:r>
            <a:r>
              <a:rPr lang="de-AT" dirty="0" err="1"/>
              <a:t>Finding</a:t>
            </a:r>
            <a:endParaRPr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AC717F5C-BC95-4E5B-36CB-A84C9C77A6B8}"/>
              </a:ext>
            </a:extLst>
          </p:cNvPr>
          <p:cNvSpPr/>
          <p:nvPr/>
        </p:nvSpPr>
        <p:spPr>
          <a:xfrm>
            <a:off x="731520" y="1188720"/>
            <a:ext cx="7680960" cy="9144"/>
          </a:xfrm>
          <a:prstGeom prst="rect">
            <a:avLst/>
          </a:prstGeom>
          <a:solidFill>
            <a:srgbClr val="5A9E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0ADD01E-4AB7-F876-BE6D-99AC3DB60D07}"/>
              </a:ext>
            </a:extLst>
          </p:cNvPr>
          <p:cNvSpPr txBox="1"/>
          <p:nvPr/>
        </p:nvSpPr>
        <p:spPr>
          <a:xfrm>
            <a:off x="866270" y="1380608"/>
            <a:ext cx="8145379" cy="8002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>
                <a:solidFill>
                  <a:srgbClr val="2D3436"/>
                </a:solidFill>
                <a:latin typeface="Aptos"/>
              </a:defRPr>
            </a:pPr>
            <a:r>
              <a:rPr lang="de-AT" b="1" dirty="0" err="1"/>
              <a:t>Three</a:t>
            </a:r>
            <a:r>
              <a:rPr lang="de-AT" b="1" dirty="0"/>
              <a:t> </a:t>
            </a:r>
            <a:r>
              <a:rPr lang="de-AT" b="1" dirty="0" err="1"/>
              <a:t>distinct</a:t>
            </a:r>
            <a:r>
              <a:rPr lang="de-AT" b="1" dirty="0"/>
              <a:t> </a:t>
            </a:r>
            <a:r>
              <a:rPr lang="de-AT" b="1" dirty="0" err="1"/>
              <a:t>periods</a:t>
            </a:r>
            <a:r>
              <a:rPr lang="de-AT" b="1" dirty="0"/>
              <a:t> in Data:</a:t>
            </a:r>
          </a:p>
          <a:p>
            <a:pPr marL="742950" lvl="1" indent="-285750">
              <a:spcAft>
                <a:spcPts val="1200"/>
              </a:spcAft>
              <a:buFont typeface="Courier New" panose="02070309020205020404" pitchFamily="49" charset="0"/>
              <a:buChar char="o"/>
              <a:defRPr sz="1800">
                <a:solidFill>
                  <a:srgbClr val="2D3436"/>
                </a:solidFill>
                <a:latin typeface="Aptos"/>
              </a:defRPr>
            </a:pPr>
            <a:endParaRPr lang="de-AT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D2F3570-5781-F1A9-8FBB-830A19BFD93F}"/>
              </a:ext>
            </a:extLst>
          </p:cNvPr>
          <p:cNvSpPr txBox="1"/>
          <p:nvPr/>
        </p:nvSpPr>
        <p:spPr>
          <a:xfrm>
            <a:off x="7772400" y="6400800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>
                <a:solidFill>
                  <a:srgbClr val="8B7355"/>
                </a:solidFill>
                <a:latin typeface="Aptos"/>
              </a:defRPr>
            </a:pPr>
            <a:r>
              <a:t>2</a:t>
            </a:r>
          </a:p>
        </p:txBody>
      </p:sp>
      <p:graphicFrame>
        <p:nvGraphicFramePr>
          <p:cNvPr id="6" name="Tabelle 5">
            <a:extLst>
              <a:ext uri="{FF2B5EF4-FFF2-40B4-BE49-F238E27FC236}">
                <a16:creationId xmlns:a16="http://schemas.microsoft.com/office/drawing/2014/main" id="{A8798878-9FF6-F4B9-6A71-48A30541F1E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38514824"/>
              </p:ext>
            </p:extLst>
          </p:nvPr>
        </p:nvGraphicFramePr>
        <p:xfrm>
          <a:off x="481264" y="1849872"/>
          <a:ext cx="8325854" cy="1752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95799">
                  <a:extLst>
                    <a:ext uri="{9D8B030D-6E8A-4147-A177-3AD203B41FA5}">
                      <a16:colId xmlns:a16="http://schemas.microsoft.com/office/drawing/2014/main" val="837934747"/>
                    </a:ext>
                  </a:extLst>
                </a:gridCol>
                <a:gridCol w="1395799">
                  <a:extLst>
                    <a:ext uri="{9D8B030D-6E8A-4147-A177-3AD203B41FA5}">
                      <a16:colId xmlns:a16="http://schemas.microsoft.com/office/drawing/2014/main" val="2823163308"/>
                    </a:ext>
                  </a:extLst>
                </a:gridCol>
                <a:gridCol w="1346860">
                  <a:extLst>
                    <a:ext uri="{9D8B030D-6E8A-4147-A177-3AD203B41FA5}">
                      <a16:colId xmlns:a16="http://schemas.microsoft.com/office/drawing/2014/main" val="4182519786"/>
                    </a:ext>
                  </a:extLst>
                </a:gridCol>
                <a:gridCol w="1346860">
                  <a:extLst>
                    <a:ext uri="{9D8B030D-6E8A-4147-A177-3AD203B41FA5}">
                      <a16:colId xmlns:a16="http://schemas.microsoft.com/office/drawing/2014/main" val="605764998"/>
                    </a:ext>
                  </a:extLst>
                </a:gridCol>
                <a:gridCol w="879386">
                  <a:extLst>
                    <a:ext uri="{9D8B030D-6E8A-4147-A177-3AD203B41FA5}">
                      <a16:colId xmlns:a16="http://schemas.microsoft.com/office/drawing/2014/main" val="4243998089"/>
                    </a:ext>
                  </a:extLst>
                </a:gridCol>
                <a:gridCol w="1961150">
                  <a:extLst>
                    <a:ext uri="{9D8B030D-6E8A-4147-A177-3AD203B41FA5}">
                      <a16:colId xmlns:a16="http://schemas.microsoft.com/office/drawing/2014/main" val="333937556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de-AT" dirty="0" err="1"/>
                        <a:t>Period</a:t>
                      </a:r>
                      <a:endParaRPr lang="de-AT" dirty="0"/>
                    </a:p>
                  </a:txBody>
                  <a:tcPr>
                    <a:solidFill>
                      <a:srgbClr val="2C5F7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de-AT" dirty="0"/>
                        <a:t>~</a:t>
                      </a:r>
                      <a:r>
                        <a:rPr lang="de-AT" dirty="0" err="1"/>
                        <a:t>Timespan</a:t>
                      </a:r>
                      <a:endParaRPr lang="de-AT" dirty="0"/>
                    </a:p>
                  </a:txBody>
                  <a:tcPr>
                    <a:solidFill>
                      <a:srgbClr val="2C5F7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de-AT" dirty="0" err="1"/>
                        <a:t>No</a:t>
                      </a:r>
                      <a:r>
                        <a:rPr lang="de-AT" dirty="0"/>
                        <a:t>. of </a:t>
                      </a:r>
                      <a:r>
                        <a:rPr lang="de-AT" dirty="0" err="1"/>
                        <a:t>months</a:t>
                      </a:r>
                      <a:endParaRPr lang="de-AT" dirty="0"/>
                    </a:p>
                  </a:txBody>
                  <a:tcPr>
                    <a:solidFill>
                      <a:srgbClr val="2C5F7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de-AT" dirty="0"/>
                        <a:t>Mean (EUR/MWh)</a:t>
                      </a:r>
                    </a:p>
                  </a:txBody>
                  <a:tcPr>
                    <a:solidFill>
                      <a:srgbClr val="2C5F7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de-AT" dirty="0"/>
                        <a:t>SD</a:t>
                      </a:r>
                    </a:p>
                  </a:txBody>
                  <a:tcPr>
                    <a:solidFill>
                      <a:srgbClr val="2C5F7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de-AT" dirty="0" err="1"/>
                        <a:t>Stationary</a:t>
                      </a:r>
                      <a:r>
                        <a:rPr lang="de-AT" dirty="0"/>
                        <a:t>?</a:t>
                      </a:r>
                    </a:p>
                  </a:txBody>
                  <a:tcPr>
                    <a:solidFill>
                      <a:srgbClr val="2C5F7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6367372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AT" dirty="0" err="1"/>
                        <a:t>Pre</a:t>
                      </a:r>
                      <a:r>
                        <a:rPr lang="de-AT" dirty="0"/>
                        <a:t>-Shock</a:t>
                      </a:r>
                    </a:p>
                  </a:txBody>
                  <a:tcPr>
                    <a:solidFill>
                      <a:srgbClr val="C4DCE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de-AT" dirty="0"/>
                        <a:t>2015-2020</a:t>
                      </a:r>
                    </a:p>
                  </a:txBody>
                  <a:tcPr>
                    <a:solidFill>
                      <a:srgbClr val="C4DCE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de-AT" dirty="0"/>
                        <a:t>72</a:t>
                      </a:r>
                    </a:p>
                  </a:txBody>
                  <a:tcPr>
                    <a:solidFill>
                      <a:srgbClr val="C4DCE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de-AT" dirty="0"/>
                        <a:t>35,94</a:t>
                      </a:r>
                    </a:p>
                  </a:txBody>
                  <a:tcPr>
                    <a:solidFill>
                      <a:srgbClr val="C4DCE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de-AT" dirty="0"/>
                        <a:t>9,6</a:t>
                      </a:r>
                    </a:p>
                  </a:txBody>
                  <a:tcPr>
                    <a:solidFill>
                      <a:srgbClr val="C4DCE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de-AT" dirty="0"/>
                        <a:t>Yes (ADF p= ,034)</a:t>
                      </a:r>
                    </a:p>
                  </a:txBody>
                  <a:tcPr>
                    <a:solidFill>
                      <a:srgbClr val="C4DCE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2700853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AT" dirty="0"/>
                        <a:t>Price Shock</a:t>
                      </a:r>
                    </a:p>
                  </a:txBody>
                  <a:tcPr>
                    <a:solidFill>
                      <a:srgbClr val="E3EF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de-AT" dirty="0"/>
                        <a:t>2021-2023</a:t>
                      </a:r>
                    </a:p>
                  </a:txBody>
                  <a:tcPr>
                    <a:solidFill>
                      <a:srgbClr val="E3EF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de-AT" dirty="0"/>
                        <a:t>26</a:t>
                      </a:r>
                    </a:p>
                  </a:txBody>
                  <a:tcPr>
                    <a:solidFill>
                      <a:srgbClr val="E3EF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de-AT" dirty="0"/>
                        <a:t>181,92</a:t>
                      </a:r>
                    </a:p>
                  </a:txBody>
                  <a:tcPr>
                    <a:solidFill>
                      <a:srgbClr val="E3EF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de-AT" dirty="0"/>
                        <a:t>112,44</a:t>
                      </a:r>
                    </a:p>
                  </a:txBody>
                  <a:tcPr>
                    <a:solidFill>
                      <a:srgbClr val="E3EF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de-AT" dirty="0" err="1"/>
                        <a:t>No</a:t>
                      </a:r>
                      <a:endParaRPr lang="de-AT" dirty="0"/>
                    </a:p>
                  </a:txBody>
                  <a:tcPr>
                    <a:solidFill>
                      <a:srgbClr val="E3EF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1057000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AT" dirty="0"/>
                        <a:t>Post-Shock</a:t>
                      </a:r>
                    </a:p>
                  </a:txBody>
                  <a:tcPr>
                    <a:solidFill>
                      <a:srgbClr val="C4DCE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de-AT" dirty="0"/>
                        <a:t>2023-2025</a:t>
                      </a:r>
                    </a:p>
                  </a:txBody>
                  <a:tcPr>
                    <a:solidFill>
                      <a:srgbClr val="C4DCE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de-AT" dirty="0"/>
                        <a:t>30</a:t>
                      </a:r>
                    </a:p>
                  </a:txBody>
                  <a:tcPr>
                    <a:solidFill>
                      <a:srgbClr val="C4DCE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de-AT" dirty="0"/>
                        <a:t>22,70</a:t>
                      </a:r>
                    </a:p>
                  </a:txBody>
                  <a:tcPr>
                    <a:solidFill>
                      <a:srgbClr val="C4DCE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de-AT" dirty="0"/>
                        <a:t>22,7</a:t>
                      </a:r>
                    </a:p>
                  </a:txBody>
                  <a:tcPr>
                    <a:solidFill>
                      <a:srgbClr val="C4DCE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de-AT" dirty="0"/>
                        <a:t>Yes (ADF p= ,027) </a:t>
                      </a:r>
                    </a:p>
                  </a:txBody>
                  <a:tcPr>
                    <a:solidFill>
                      <a:srgbClr val="C4DCE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06163791"/>
                  </a:ext>
                </a:extLst>
              </a:tr>
            </a:tbl>
          </a:graphicData>
        </a:graphic>
      </p:graphicFrame>
      <p:sp>
        <p:nvSpPr>
          <p:cNvPr id="7" name="TextBox 3">
            <a:extLst>
              <a:ext uri="{FF2B5EF4-FFF2-40B4-BE49-F238E27FC236}">
                <a16:creationId xmlns:a16="http://schemas.microsoft.com/office/drawing/2014/main" id="{E85314AD-D581-2683-ED29-D451CA8D48CC}"/>
              </a:ext>
            </a:extLst>
          </p:cNvPr>
          <p:cNvSpPr txBox="1"/>
          <p:nvPr/>
        </p:nvSpPr>
        <p:spPr>
          <a:xfrm>
            <a:off x="914398" y="3987447"/>
            <a:ext cx="8145379" cy="2369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>
                <a:solidFill>
                  <a:srgbClr val="2D3436"/>
                </a:solidFill>
                <a:latin typeface="Aptos"/>
              </a:defRPr>
            </a:pPr>
            <a:r>
              <a:rPr lang="de-AT" b="1" dirty="0" err="1"/>
              <a:t>Why</a:t>
            </a:r>
            <a:r>
              <a:rPr lang="de-AT" b="1" dirty="0"/>
              <a:t> </a:t>
            </a:r>
            <a:r>
              <a:rPr lang="de-AT" b="1" dirty="0" err="1"/>
              <a:t>is</a:t>
            </a:r>
            <a:r>
              <a:rPr lang="de-AT" b="1" dirty="0"/>
              <a:t> </a:t>
            </a:r>
            <a:r>
              <a:rPr lang="de-AT" b="1" dirty="0" err="1"/>
              <a:t>stationarity</a:t>
            </a:r>
            <a:r>
              <a:rPr lang="de-AT" b="1" dirty="0"/>
              <a:t> relevant?</a:t>
            </a:r>
          </a:p>
          <a:p>
            <a:pPr marL="285750" indent="-285750">
              <a:spcAft>
                <a:spcPts val="1200"/>
              </a:spcAft>
              <a:buFont typeface="Arial" panose="020B0604020202020204" pitchFamily="34" charset="0"/>
              <a:buChar char="•"/>
              <a:defRPr sz="1800">
                <a:solidFill>
                  <a:srgbClr val="2D3436"/>
                </a:solidFill>
                <a:latin typeface="Aptos"/>
              </a:defRPr>
            </a:pPr>
            <a:r>
              <a:rPr lang="de-AT" dirty="0" err="1"/>
              <a:t>Stationarity</a:t>
            </a:r>
            <a:r>
              <a:rPr lang="de-AT" dirty="0"/>
              <a:t> = Constant </a:t>
            </a:r>
            <a:r>
              <a:rPr lang="de-AT" dirty="0" err="1"/>
              <a:t>mean</a:t>
            </a:r>
            <a:r>
              <a:rPr lang="de-AT" dirty="0"/>
              <a:t>, </a:t>
            </a:r>
            <a:r>
              <a:rPr lang="de-AT" dirty="0" err="1"/>
              <a:t>variance</a:t>
            </a:r>
            <a:r>
              <a:rPr lang="de-AT" dirty="0"/>
              <a:t>, </a:t>
            </a:r>
            <a:r>
              <a:rPr lang="de-AT" dirty="0" err="1"/>
              <a:t>autocorrelation</a:t>
            </a:r>
            <a:r>
              <a:rPr lang="de-AT" dirty="0"/>
              <a:t> </a:t>
            </a:r>
            <a:r>
              <a:rPr lang="de-AT" dirty="0" err="1"/>
              <a:t>structure</a:t>
            </a:r>
            <a:r>
              <a:rPr lang="de-AT" dirty="0"/>
              <a:t> </a:t>
            </a:r>
            <a:r>
              <a:rPr lang="de-AT" dirty="0" err="1"/>
              <a:t>over</a:t>
            </a:r>
            <a:r>
              <a:rPr lang="de-AT" dirty="0"/>
              <a:t> time</a:t>
            </a:r>
          </a:p>
          <a:p>
            <a:pPr marL="285750" indent="-285750">
              <a:spcAft>
                <a:spcPts val="1200"/>
              </a:spcAft>
              <a:buFont typeface="Arial" panose="020B0604020202020204" pitchFamily="34" charset="0"/>
              <a:buChar char="•"/>
              <a:defRPr sz="1800">
                <a:solidFill>
                  <a:srgbClr val="2D3436"/>
                </a:solidFill>
                <a:latin typeface="Aptos"/>
              </a:defRPr>
            </a:pPr>
            <a:r>
              <a:rPr lang="en-US" dirty="0"/>
              <a:t>ARIMA models need stable patterns from the past</a:t>
            </a:r>
            <a:endParaRPr lang="de-AT" dirty="0"/>
          </a:p>
          <a:p>
            <a:pPr marL="285750" indent="-285750">
              <a:spcAft>
                <a:spcPts val="1200"/>
              </a:spcAft>
              <a:buFont typeface="Arial" panose="020B0604020202020204" pitchFamily="34" charset="0"/>
              <a:buChar char="•"/>
              <a:defRPr sz="1800">
                <a:solidFill>
                  <a:srgbClr val="2D3436"/>
                </a:solidFill>
                <a:latin typeface="Aptos"/>
              </a:defRPr>
            </a:pPr>
            <a:r>
              <a:rPr lang="de-AT" dirty="0" err="1"/>
              <a:t>Stationarity</a:t>
            </a:r>
            <a:r>
              <a:rPr lang="de-AT" dirty="0"/>
              <a:t> was </a:t>
            </a:r>
            <a:r>
              <a:rPr lang="de-AT" dirty="0" err="1"/>
              <a:t>detected</a:t>
            </a:r>
            <a:r>
              <a:rPr lang="de-AT" dirty="0"/>
              <a:t> </a:t>
            </a:r>
            <a:r>
              <a:rPr lang="de-AT" dirty="0" err="1"/>
              <a:t>using</a:t>
            </a:r>
            <a:r>
              <a:rPr lang="de-AT" dirty="0"/>
              <a:t> </a:t>
            </a:r>
            <a:r>
              <a:rPr lang="de-AT" dirty="0" err="1"/>
              <a:t>forwards</a:t>
            </a:r>
            <a:r>
              <a:rPr lang="de-AT" dirty="0"/>
              <a:t>/</a:t>
            </a:r>
            <a:r>
              <a:rPr lang="de-AT" dirty="0" err="1"/>
              <a:t>backwards</a:t>
            </a:r>
            <a:r>
              <a:rPr lang="de-AT" dirty="0"/>
              <a:t> </a:t>
            </a:r>
            <a:r>
              <a:rPr lang="de-AT" dirty="0" err="1"/>
              <a:t>expanding</a:t>
            </a:r>
            <a:r>
              <a:rPr lang="de-AT" dirty="0"/>
              <a:t> ADF and KPSS </a:t>
            </a:r>
            <a:r>
              <a:rPr lang="de-AT" dirty="0" err="1"/>
              <a:t>tests</a:t>
            </a:r>
            <a:endParaRPr lang="de-AT" dirty="0"/>
          </a:p>
          <a:p>
            <a:pPr>
              <a:spcAft>
                <a:spcPts val="1200"/>
              </a:spcAft>
              <a:defRPr sz="1800">
                <a:solidFill>
                  <a:srgbClr val="2D3436"/>
                </a:solidFill>
                <a:latin typeface="Aptos"/>
              </a:defRPr>
            </a:pPr>
            <a:r>
              <a:rPr lang="de-AT" b="1" dirty="0"/>
              <a:t>Solution: Train on Price-Shock + Post-Shock (N=56)</a:t>
            </a:r>
          </a:p>
        </p:txBody>
      </p:sp>
    </p:spTree>
    <p:extLst>
      <p:ext uri="{BB962C8B-B14F-4D97-AF65-F5344CB8AC3E}">
        <p14:creationId xmlns:p14="http://schemas.microsoft.com/office/powerpoint/2010/main" val="162899100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54D802-08BC-49BE-24BA-7C0FD2103C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637F638-B82F-156B-6906-0B8D0758C91A}"/>
              </a:ext>
            </a:extLst>
          </p:cNvPr>
          <p:cNvSpPr txBox="1"/>
          <p:nvPr/>
        </p:nvSpPr>
        <p:spPr>
          <a:xfrm>
            <a:off x="731520" y="548640"/>
            <a:ext cx="5098640" cy="64633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600" b="1">
                <a:solidFill>
                  <a:srgbClr val="2C5F7C"/>
                </a:solidFill>
                <a:latin typeface="Aptos Display"/>
              </a:defRPr>
            </a:pPr>
            <a:r>
              <a:rPr lang="de-AT" dirty="0"/>
              <a:t>Evaluation of Final Model</a:t>
            </a:r>
            <a:endParaRPr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02654E0-9C70-EA99-24B1-6AB2EE2E4981}"/>
              </a:ext>
            </a:extLst>
          </p:cNvPr>
          <p:cNvSpPr/>
          <p:nvPr/>
        </p:nvSpPr>
        <p:spPr>
          <a:xfrm>
            <a:off x="731520" y="1188720"/>
            <a:ext cx="7680960" cy="9144"/>
          </a:xfrm>
          <a:prstGeom prst="rect">
            <a:avLst/>
          </a:prstGeom>
          <a:solidFill>
            <a:srgbClr val="5A9E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086BD71-9661-DF92-63AD-AC1D348FB7DC}"/>
              </a:ext>
            </a:extLst>
          </p:cNvPr>
          <p:cNvSpPr txBox="1"/>
          <p:nvPr/>
        </p:nvSpPr>
        <p:spPr>
          <a:xfrm>
            <a:off x="7772400" y="6400800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>
                <a:solidFill>
                  <a:srgbClr val="8B7355"/>
                </a:solidFill>
                <a:latin typeface="Aptos"/>
              </a:defRPr>
            </a:pPr>
            <a:r>
              <a:t>2</a:t>
            </a:r>
          </a:p>
        </p:txBody>
      </p:sp>
      <p:graphicFrame>
        <p:nvGraphicFramePr>
          <p:cNvPr id="4" name="Tabelle 3">
            <a:extLst>
              <a:ext uri="{FF2B5EF4-FFF2-40B4-BE49-F238E27FC236}">
                <a16:creationId xmlns:a16="http://schemas.microsoft.com/office/drawing/2014/main" id="{F40F845C-4A5B-1A29-186C-01FDBD7508E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90172278"/>
              </p:ext>
            </p:extLst>
          </p:nvPr>
        </p:nvGraphicFramePr>
        <p:xfrm>
          <a:off x="493293" y="1729906"/>
          <a:ext cx="7002381" cy="1102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95799">
                  <a:extLst>
                    <a:ext uri="{9D8B030D-6E8A-4147-A177-3AD203B41FA5}">
                      <a16:colId xmlns:a16="http://schemas.microsoft.com/office/drawing/2014/main" val="837934747"/>
                    </a:ext>
                  </a:extLst>
                </a:gridCol>
                <a:gridCol w="1395799">
                  <a:extLst>
                    <a:ext uri="{9D8B030D-6E8A-4147-A177-3AD203B41FA5}">
                      <a16:colId xmlns:a16="http://schemas.microsoft.com/office/drawing/2014/main" val="2823163308"/>
                    </a:ext>
                  </a:extLst>
                </a:gridCol>
                <a:gridCol w="1346860">
                  <a:extLst>
                    <a:ext uri="{9D8B030D-6E8A-4147-A177-3AD203B41FA5}">
                      <a16:colId xmlns:a16="http://schemas.microsoft.com/office/drawing/2014/main" val="4182519786"/>
                    </a:ext>
                  </a:extLst>
                </a:gridCol>
                <a:gridCol w="902773">
                  <a:extLst>
                    <a:ext uri="{9D8B030D-6E8A-4147-A177-3AD203B41FA5}">
                      <a16:colId xmlns:a16="http://schemas.microsoft.com/office/drawing/2014/main" val="605764998"/>
                    </a:ext>
                  </a:extLst>
                </a:gridCol>
                <a:gridCol w="1961150">
                  <a:extLst>
                    <a:ext uri="{9D8B030D-6E8A-4147-A177-3AD203B41FA5}">
                      <a16:colId xmlns:a16="http://schemas.microsoft.com/office/drawing/2014/main" val="3339375568"/>
                    </a:ext>
                  </a:extLst>
                </a:gridCol>
              </a:tblGrid>
              <a:tr h="363936">
                <a:tc>
                  <a:txBody>
                    <a:bodyPr/>
                    <a:lstStyle/>
                    <a:p>
                      <a:r>
                        <a:rPr lang="de-AT" dirty="0"/>
                        <a:t>Variable</a:t>
                      </a:r>
                    </a:p>
                  </a:txBody>
                  <a:tcPr>
                    <a:solidFill>
                      <a:srgbClr val="2C5F7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de-AT" dirty="0" err="1"/>
                        <a:t>Coef</a:t>
                      </a:r>
                      <a:endParaRPr lang="de-AT" dirty="0"/>
                    </a:p>
                  </a:txBody>
                  <a:tcPr>
                    <a:solidFill>
                      <a:srgbClr val="2C5F7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de-AT" dirty="0"/>
                        <a:t>Std </a:t>
                      </a:r>
                      <a:r>
                        <a:rPr lang="de-AT" dirty="0" err="1"/>
                        <a:t>Err</a:t>
                      </a:r>
                      <a:endParaRPr lang="de-AT" dirty="0"/>
                    </a:p>
                  </a:txBody>
                  <a:tcPr>
                    <a:solidFill>
                      <a:srgbClr val="2C5F7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de-AT" dirty="0"/>
                        <a:t>Beta</a:t>
                      </a:r>
                    </a:p>
                  </a:txBody>
                  <a:tcPr>
                    <a:solidFill>
                      <a:srgbClr val="2C5F7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de-AT" dirty="0" err="1"/>
                        <a:t>Significant</a:t>
                      </a:r>
                      <a:r>
                        <a:rPr lang="de-AT" dirty="0"/>
                        <a:t>?</a:t>
                      </a:r>
                    </a:p>
                  </a:txBody>
                  <a:tcPr>
                    <a:solidFill>
                      <a:srgbClr val="2C5F7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63673726"/>
                  </a:ext>
                </a:extLst>
              </a:tr>
              <a:tr h="349499">
                <a:tc>
                  <a:txBody>
                    <a:bodyPr/>
                    <a:lstStyle/>
                    <a:p>
                      <a:r>
                        <a:rPr lang="de-AT" dirty="0"/>
                        <a:t>Constant</a:t>
                      </a:r>
                    </a:p>
                  </a:txBody>
                  <a:tcPr>
                    <a:solidFill>
                      <a:srgbClr val="C4DCE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de-AT" dirty="0"/>
                        <a:t>43,84</a:t>
                      </a:r>
                    </a:p>
                  </a:txBody>
                  <a:tcPr>
                    <a:solidFill>
                      <a:srgbClr val="C4DCE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de-AT" dirty="0"/>
                        <a:t>4,33</a:t>
                      </a:r>
                    </a:p>
                  </a:txBody>
                  <a:tcPr>
                    <a:solidFill>
                      <a:srgbClr val="C4DCE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de-AT" dirty="0"/>
                        <a:t>-</a:t>
                      </a:r>
                    </a:p>
                  </a:txBody>
                  <a:tcPr>
                    <a:solidFill>
                      <a:srgbClr val="C4DCE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de-AT" dirty="0" err="1"/>
                        <a:t>No</a:t>
                      </a:r>
                      <a:r>
                        <a:rPr lang="de-AT" dirty="0"/>
                        <a:t> (p = ,323)</a:t>
                      </a:r>
                    </a:p>
                  </a:txBody>
                  <a:tcPr>
                    <a:solidFill>
                      <a:srgbClr val="C4DCE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2700853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AT" dirty="0"/>
                        <a:t>Gas </a:t>
                      </a:r>
                      <a:r>
                        <a:rPr lang="de-AT" dirty="0" err="1"/>
                        <a:t>price</a:t>
                      </a:r>
                      <a:endParaRPr lang="de-AT" dirty="0"/>
                    </a:p>
                  </a:txBody>
                  <a:tcPr>
                    <a:solidFill>
                      <a:srgbClr val="E3EF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de-AT" dirty="0"/>
                        <a:t>1,61</a:t>
                      </a:r>
                    </a:p>
                  </a:txBody>
                  <a:tcPr>
                    <a:solidFill>
                      <a:srgbClr val="E3EF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de-AT" dirty="0"/>
                        <a:t>^0,41</a:t>
                      </a:r>
                    </a:p>
                  </a:txBody>
                  <a:tcPr>
                    <a:solidFill>
                      <a:srgbClr val="E3EF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de-AT" dirty="0"/>
                        <a:t>0,83</a:t>
                      </a:r>
                    </a:p>
                  </a:txBody>
                  <a:tcPr>
                    <a:solidFill>
                      <a:srgbClr val="E3EFF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AT" dirty="0"/>
                        <a:t>Yes (p = &lt; ,001)</a:t>
                      </a:r>
                    </a:p>
                  </a:txBody>
                  <a:tcPr>
                    <a:solidFill>
                      <a:srgbClr val="E3EF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10570008"/>
                  </a:ext>
                </a:extLst>
              </a:tr>
            </a:tbl>
          </a:graphicData>
        </a:graphic>
      </p:graphicFrame>
      <p:sp>
        <p:nvSpPr>
          <p:cNvPr id="6" name="TextBox 3">
            <a:extLst>
              <a:ext uri="{FF2B5EF4-FFF2-40B4-BE49-F238E27FC236}">
                <a16:creationId xmlns:a16="http://schemas.microsoft.com/office/drawing/2014/main" id="{EBA6452A-7CF5-545F-CE5F-2DCC9D92CBCA}"/>
              </a:ext>
            </a:extLst>
          </p:cNvPr>
          <p:cNvSpPr txBox="1"/>
          <p:nvPr/>
        </p:nvSpPr>
        <p:spPr>
          <a:xfrm>
            <a:off x="288758" y="2871255"/>
            <a:ext cx="8698831" cy="37702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>
                <a:solidFill>
                  <a:srgbClr val="2D3436"/>
                </a:solidFill>
                <a:latin typeface="Aptos"/>
              </a:defRPr>
            </a:pPr>
            <a:r>
              <a:rPr lang="de-AT" b="1" dirty="0"/>
              <a:t>r² = </a:t>
            </a:r>
            <a:r>
              <a:rPr lang="pt-BR" b="1" dirty="0"/>
              <a:t> 0,695, Adj. r² = 0,688 </a:t>
            </a:r>
            <a:endParaRPr lang="de-AT" b="1" dirty="0"/>
          </a:p>
          <a:p>
            <a:pPr marL="285750" indent="-285750">
              <a:spcAft>
                <a:spcPts val="1200"/>
              </a:spcAft>
              <a:buFont typeface="Arial" panose="020B0604020202020204" pitchFamily="34" charset="0"/>
              <a:buChar char="•"/>
              <a:defRPr sz="1800">
                <a:solidFill>
                  <a:srgbClr val="2D3436"/>
                </a:solidFill>
                <a:latin typeface="Aptos"/>
              </a:defRPr>
            </a:pPr>
            <a:r>
              <a:rPr lang="en-US" dirty="0"/>
              <a:t>RMSE: 21.14 EUR/MWh 		(~20-25% error at mean price of 90 EUR/MWh) </a:t>
            </a:r>
            <a:br>
              <a:rPr lang="en-US" dirty="0"/>
            </a:br>
            <a:r>
              <a:rPr lang="en-US" dirty="0"/>
              <a:t>vs. RMSE 30.76 (Persistence) 	(~XXX% Error)</a:t>
            </a:r>
          </a:p>
          <a:p>
            <a:pPr marL="285750" indent="-285750">
              <a:buFont typeface="Arial" panose="020B0604020202020204" pitchFamily="34" charset="0"/>
              <a:buChar char="•"/>
              <a:defRPr sz="1800">
                <a:solidFill>
                  <a:srgbClr val="2D3436"/>
                </a:solidFill>
                <a:latin typeface="Aptos"/>
              </a:defRPr>
            </a:pPr>
            <a:r>
              <a:rPr lang="de-AT" dirty="0" err="1"/>
              <a:t>Ljung</a:t>
            </a:r>
            <a:r>
              <a:rPr lang="de-AT" dirty="0"/>
              <a:t>-Box (lag 12): p = 0.83 &amp; (lag 24): p = 0.99 → </a:t>
            </a:r>
            <a:r>
              <a:rPr lang="de-AT" dirty="0" err="1"/>
              <a:t>No</a:t>
            </a:r>
            <a:r>
              <a:rPr lang="de-AT" dirty="0"/>
              <a:t> </a:t>
            </a:r>
            <a:r>
              <a:rPr lang="de-AT" dirty="0" err="1"/>
              <a:t>autocorrelation</a:t>
            </a:r>
            <a:endParaRPr lang="de-AT" dirty="0"/>
          </a:p>
          <a:p>
            <a:pPr marL="285750" indent="-285750">
              <a:buFont typeface="Arial" panose="020B0604020202020204" pitchFamily="34" charset="0"/>
              <a:buChar char="•"/>
              <a:defRPr sz="1800">
                <a:solidFill>
                  <a:srgbClr val="2D3436"/>
                </a:solidFill>
                <a:latin typeface="Aptos"/>
              </a:defRPr>
            </a:pPr>
            <a:r>
              <a:rPr lang="de-AT" dirty="0"/>
              <a:t>Shapiro-Wilk: p &lt; 0.001 → Non-normal </a:t>
            </a:r>
            <a:r>
              <a:rPr lang="de-AT" dirty="0" err="1"/>
              <a:t>residuals</a:t>
            </a:r>
            <a:r>
              <a:rPr lang="de-AT" dirty="0"/>
              <a:t> </a:t>
            </a:r>
          </a:p>
          <a:p>
            <a:pPr marL="285750" indent="-285750">
              <a:buFont typeface="Arial" panose="020B0604020202020204" pitchFamily="34" charset="0"/>
              <a:buChar char="•"/>
              <a:defRPr sz="1800">
                <a:solidFill>
                  <a:srgbClr val="2D3436"/>
                </a:solidFill>
                <a:latin typeface="Aptos"/>
              </a:defRPr>
            </a:pPr>
            <a:r>
              <a:rPr lang="de-AT" dirty="0" err="1"/>
              <a:t>Heteroskedasticity</a:t>
            </a:r>
            <a:r>
              <a:rPr lang="de-AT" dirty="0"/>
              <a:t>: H = 10.05, p &lt; 0.01 </a:t>
            </a:r>
          </a:p>
          <a:p>
            <a:pPr>
              <a:spcAft>
                <a:spcPts val="1200"/>
              </a:spcAft>
              <a:defRPr sz="1800">
                <a:solidFill>
                  <a:srgbClr val="2D3436"/>
                </a:solidFill>
                <a:latin typeface="Aptos"/>
              </a:defRPr>
            </a:pPr>
            <a:endParaRPr lang="de-AT" sz="100" dirty="0"/>
          </a:p>
          <a:p>
            <a:pPr>
              <a:spcAft>
                <a:spcPts val="1200"/>
              </a:spcAft>
              <a:defRPr sz="1800">
                <a:solidFill>
                  <a:srgbClr val="2D3436"/>
                </a:solidFill>
                <a:latin typeface="Aptos"/>
              </a:defRPr>
            </a:pPr>
            <a:r>
              <a:rPr lang="de-AT" b="1" dirty="0" err="1"/>
              <a:t>Limitations</a:t>
            </a:r>
            <a:r>
              <a:rPr lang="de-AT" dirty="0"/>
              <a:t>: Forecast </a:t>
            </a:r>
            <a:r>
              <a:rPr lang="de-AT" dirty="0" err="1"/>
              <a:t>degrades</a:t>
            </a:r>
            <a:r>
              <a:rPr lang="de-AT" dirty="0"/>
              <a:t> </a:t>
            </a:r>
            <a:r>
              <a:rPr lang="de-AT" dirty="0" err="1"/>
              <a:t>quickly</a:t>
            </a:r>
            <a:r>
              <a:rPr lang="de-AT" dirty="0"/>
              <a:t>, </a:t>
            </a:r>
            <a:r>
              <a:rPr lang="de-AT" dirty="0" err="1"/>
              <a:t>assumption</a:t>
            </a:r>
            <a:r>
              <a:rPr lang="de-AT" dirty="0"/>
              <a:t> of </a:t>
            </a:r>
            <a:r>
              <a:rPr lang="de-AT" dirty="0" err="1"/>
              <a:t>stable</a:t>
            </a:r>
            <a:r>
              <a:rPr lang="de-AT" dirty="0"/>
              <a:t> </a:t>
            </a:r>
            <a:r>
              <a:rPr lang="de-AT" dirty="0" err="1"/>
              <a:t>relationship</a:t>
            </a:r>
            <a:r>
              <a:rPr lang="de-AT" dirty="0"/>
              <a:t> </a:t>
            </a:r>
            <a:r>
              <a:rPr lang="de-AT" dirty="0" err="1"/>
              <a:t>between</a:t>
            </a:r>
            <a:r>
              <a:rPr lang="de-AT" dirty="0"/>
              <a:t> </a:t>
            </a:r>
            <a:r>
              <a:rPr lang="de-AT" dirty="0" err="1"/>
              <a:t>electricity</a:t>
            </a:r>
            <a:r>
              <a:rPr lang="de-AT" dirty="0"/>
              <a:t> and gas </a:t>
            </a:r>
            <a:r>
              <a:rPr lang="de-AT" dirty="0" err="1"/>
              <a:t>prices</a:t>
            </a:r>
            <a:r>
              <a:rPr lang="de-AT" dirty="0"/>
              <a:t> </a:t>
            </a:r>
            <a:r>
              <a:rPr lang="de-AT" dirty="0" err="1"/>
              <a:t>is</a:t>
            </a:r>
            <a:r>
              <a:rPr lang="de-AT" dirty="0"/>
              <a:t> </a:t>
            </a:r>
            <a:r>
              <a:rPr lang="de-AT" dirty="0" err="1"/>
              <a:t>brittle</a:t>
            </a:r>
            <a:r>
              <a:rPr lang="de-AT" dirty="0"/>
              <a:t>. Extreme </a:t>
            </a:r>
            <a:r>
              <a:rPr lang="de-AT" dirty="0" err="1"/>
              <a:t>outliers</a:t>
            </a:r>
            <a:r>
              <a:rPr lang="de-AT" dirty="0"/>
              <a:t> </a:t>
            </a:r>
            <a:r>
              <a:rPr lang="de-AT" dirty="0" err="1"/>
              <a:t>underestimated</a:t>
            </a:r>
            <a:r>
              <a:rPr lang="de-AT" dirty="0"/>
              <a:t>. </a:t>
            </a:r>
            <a:r>
              <a:rPr lang="de-AT" dirty="0" err="1"/>
              <a:t>Dependence</a:t>
            </a:r>
            <a:r>
              <a:rPr lang="de-AT" dirty="0"/>
              <a:t> on outside </a:t>
            </a:r>
            <a:r>
              <a:rPr lang="de-AT" dirty="0" err="1"/>
              <a:t>data</a:t>
            </a:r>
            <a:r>
              <a:rPr lang="de-AT" dirty="0"/>
              <a:t>.</a:t>
            </a:r>
          </a:p>
          <a:p>
            <a:pPr>
              <a:spcAft>
                <a:spcPts val="1200"/>
              </a:spcAft>
              <a:defRPr sz="1800">
                <a:solidFill>
                  <a:srgbClr val="2D3436"/>
                </a:solidFill>
                <a:latin typeface="Aptos"/>
              </a:defRPr>
            </a:pPr>
            <a:r>
              <a:rPr lang="de-AT" b="1" dirty="0"/>
              <a:t>Needs </a:t>
            </a:r>
            <a:r>
              <a:rPr lang="de-AT" b="1" dirty="0" err="1"/>
              <a:t>constant</a:t>
            </a:r>
            <a:r>
              <a:rPr lang="de-AT" b="1" dirty="0"/>
              <a:t> </a:t>
            </a:r>
            <a:r>
              <a:rPr lang="de-AT" b="1" dirty="0" err="1"/>
              <a:t>monitoring</a:t>
            </a:r>
            <a:r>
              <a:rPr lang="de-AT" b="1" dirty="0"/>
              <a:t>. </a:t>
            </a:r>
            <a:r>
              <a:rPr lang="de-AT" b="1" dirty="0" err="1"/>
              <a:t>Retraining</a:t>
            </a:r>
            <a:r>
              <a:rPr lang="de-AT" b="1" dirty="0"/>
              <a:t> &amp;  </a:t>
            </a:r>
            <a:r>
              <a:rPr lang="de-AT" b="1" dirty="0" err="1"/>
              <a:t>rebuild</a:t>
            </a:r>
            <a:r>
              <a:rPr lang="de-AT" b="1" dirty="0"/>
              <a:t> on pure post-shock </a:t>
            </a:r>
            <a:r>
              <a:rPr lang="de-AT" b="1" dirty="0" err="1"/>
              <a:t>data</a:t>
            </a:r>
            <a:r>
              <a:rPr lang="de-AT" b="1" dirty="0"/>
              <a:t> in XX </a:t>
            </a:r>
            <a:r>
              <a:rPr lang="de-AT" b="1" dirty="0" err="1"/>
              <a:t>months</a:t>
            </a:r>
            <a:endParaRPr lang="de-AT" b="1" dirty="0"/>
          </a:p>
        </p:txBody>
      </p:sp>
      <p:sp>
        <p:nvSpPr>
          <p:cNvPr id="8" name="TextBox 3">
            <a:extLst>
              <a:ext uri="{FF2B5EF4-FFF2-40B4-BE49-F238E27FC236}">
                <a16:creationId xmlns:a16="http://schemas.microsoft.com/office/drawing/2014/main" id="{BE87D6DF-BBDE-A9AF-51BB-BF031EF099B2}"/>
              </a:ext>
            </a:extLst>
          </p:cNvPr>
          <p:cNvSpPr txBox="1"/>
          <p:nvPr/>
        </p:nvSpPr>
        <p:spPr>
          <a:xfrm>
            <a:off x="731520" y="1329796"/>
            <a:ext cx="8145379" cy="8002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>
                <a:solidFill>
                  <a:srgbClr val="2D3436"/>
                </a:solidFill>
                <a:latin typeface="Aptos"/>
              </a:defRPr>
            </a:pPr>
            <a:r>
              <a:rPr lang="de-AT" b="1" dirty="0"/>
              <a:t>ARIMAX (0,0,0) + </a:t>
            </a:r>
            <a:r>
              <a:rPr lang="de-AT" b="1" dirty="0" err="1"/>
              <a:t>Indexed</a:t>
            </a:r>
            <a:r>
              <a:rPr lang="de-AT" b="1" dirty="0"/>
              <a:t> Gas Price</a:t>
            </a:r>
          </a:p>
          <a:p>
            <a:pPr marL="742950" lvl="1" indent="-285750">
              <a:spcAft>
                <a:spcPts val="1200"/>
              </a:spcAft>
              <a:buFont typeface="Courier New" panose="02070309020205020404" pitchFamily="49" charset="0"/>
              <a:buChar char="o"/>
              <a:defRPr sz="1800">
                <a:solidFill>
                  <a:srgbClr val="2D3436"/>
                </a:solidFill>
                <a:latin typeface="Aptos"/>
              </a:defRPr>
            </a:pPr>
            <a:endParaRPr lang="de-AT" dirty="0"/>
          </a:p>
        </p:txBody>
      </p:sp>
    </p:spTree>
    <p:extLst>
      <p:ext uri="{BB962C8B-B14F-4D97-AF65-F5344CB8AC3E}">
        <p14:creationId xmlns:p14="http://schemas.microsoft.com/office/powerpoint/2010/main" val="352762616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9BADB7-04B4-10E2-D39E-E9BCABA6D4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9ADE0427-0076-4F08-B469-8EAB393E1246}"/>
              </a:ext>
            </a:extLst>
          </p:cNvPr>
          <p:cNvSpPr txBox="1"/>
          <p:nvPr/>
        </p:nvSpPr>
        <p:spPr>
          <a:xfrm>
            <a:off x="731520" y="548640"/>
            <a:ext cx="6734985" cy="64633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600" b="1">
                <a:solidFill>
                  <a:srgbClr val="2C5F7C"/>
                </a:solidFill>
                <a:latin typeface="Aptos Display"/>
              </a:defRPr>
            </a:pPr>
            <a:r>
              <a:rPr lang="de-AT" dirty="0"/>
              <a:t>Software Development – Pipeline</a:t>
            </a:r>
            <a:endParaRPr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CE43FAC2-C359-8BDF-935A-56F32A8BFE00}"/>
              </a:ext>
            </a:extLst>
          </p:cNvPr>
          <p:cNvSpPr/>
          <p:nvPr/>
        </p:nvSpPr>
        <p:spPr>
          <a:xfrm>
            <a:off x="731520" y="1188720"/>
            <a:ext cx="7680960" cy="9144"/>
          </a:xfrm>
          <a:prstGeom prst="rect">
            <a:avLst/>
          </a:prstGeom>
          <a:solidFill>
            <a:srgbClr val="5A9E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79E7134-C88C-AB89-ACA9-17D9137C1E23}"/>
              </a:ext>
            </a:extLst>
          </p:cNvPr>
          <p:cNvSpPr txBox="1"/>
          <p:nvPr/>
        </p:nvSpPr>
        <p:spPr>
          <a:xfrm>
            <a:off x="7772400" y="6400800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>
                <a:solidFill>
                  <a:srgbClr val="8B7355"/>
                </a:solidFill>
                <a:latin typeface="Aptos"/>
              </a:defRPr>
            </a:pPr>
            <a:r>
              <a:t>2</a:t>
            </a:r>
          </a:p>
        </p:txBody>
      </p:sp>
      <p:sp>
        <p:nvSpPr>
          <p:cNvPr id="8" name="TextBox 4">
            <a:extLst>
              <a:ext uri="{FF2B5EF4-FFF2-40B4-BE49-F238E27FC236}">
                <a16:creationId xmlns:a16="http://schemas.microsoft.com/office/drawing/2014/main" id="{B586C283-DDBD-0155-00B2-D5479B332D0C}"/>
              </a:ext>
            </a:extLst>
          </p:cNvPr>
          <p:cNvSpPr txBox="1"/>
          <p:nvPr/>
        </p:nvSpPr>
        <p:spPr>
          <a:xfrm>
            <a:off x="7772400" y="6400800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>
                <a:solidFill>
                  <a:srgbClr val="8B7355"/>
                </a:solidFill>
                <a:latin typeface="Aptos"/>
              </a:defRPr>
            </a:pPr>
            <a:r>
              <a:t>2</a:t>
            </a:r>
          </a:p>
        </p:txBody>
      </p:sp>
      <p:sp>
        <p:nvSpPr>
          <p:cNvPr id="9" name="Rounded Rectangle 3">
            <a:extLst>
              <a:ext uri="{FF2B5EF4-FFF2-40B4-BE49-F238E27FC236}">
                <a16:creationId xmlns:a16="http://schemas.microsoft.com/office/drawing/2014/main" id="{3FDA5AC3-677C-7614-8872-09A8A6590678}"/>
              </a:ext>
            </a:extLst>
          </p:cNvPr>
          <p:cNvSpPr/>
          <p:nvPr/>
        </p:nvSpPr>
        <p:spPr>
          <a:xfrm>
            <a:off x="731266" y="1259775"/>
            <a:ext cx="2527540" cy="952356"/>
          </a:xfrm>
          <a:prstGeom prst="roundRect">
            <a:avLst/>
          </a:prstGeom>
          <a:solidFill>
            <a:srgbClr val="F5F6FA"/>
          </a:solidFill>
          <a:ln w="25400">
            <a:solidFill>
              <a:srgbClr val="2C5F7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>
                <a:solidFill>
                  <a:srgbClr val="2D3436"/>
                </a:solidFill>
                <a:latin typeface="Aptos"/>
              </a:defRPr>
            </a:pPr>
            <a:r>
              <a:rPr lang="de-AT" sz="1600" dirty="0">
                <a:solidFill>
                  <a:schemeClr val="tx2">
                    <a:lumMod val="60000"/>
                    <a:lumOff val="40000"/>
                  </a:schemeClr>
                </a:solidFill>
              </a:rPr>
              <a:t>[01_electricity]</a:t>
            </a:r>
          </a:p>
          <a:p>
            <a:pPr algn="ctr">
              <a:defRPr sz="1600">
                <a:solidFill>
                  <a:srgbClr val="2D3436"/>
                </a:solidFill>
                <a:latin typeface="Aptos"/>
              </a:defRPr>
            </a:pPr>
            <a:r>
              <a:rPr lang="en-US" sz="1200" dirty="0">
                <a:sym typeface="Wingdings" panose="05000000000000000000" pitchFamily="2" charset="2"/>
              </a:rPr>
              <a:t></a:t>
            </a:r>
            <a:r>
              <a:rPr lang="en-US" sz="1200" dirty="0"/>
              <a:t> </a:t>
            </a:r>
            <a:r>
              <a:rPr lang="en-US" sz="1200" dirty="0">
                <a:solidFill>
                  <a:schemeClr val="accent6">
                    <a:lumMod val="75000"/>
                  </a:schemeClr>
                </a:solidFill>
              </a:rPr>
              <a:t>electricity_consolidated.csv </a:t>
            </a:r>
            <a:r>
              <a:rPr lang="en-US" sz="1200" dirty="0"/>
              <a:t>(daily + weekly + monthly)</a:t>
            </a:r>
            <a:endParaRPr sz="1050" dirty="0"/>
          </a:p>
        </p:txBody>
      </p:sp>
      <p:cxnSp>
        <p:nvCxnSpPr>
          <p:cNvPr id="10" name="Connector 4">
            <a:extLst>
              <a:ext uri="{FF2B5EF4-FFF2-40B4-BE49-F238E27FC236}">
                <a16:creationId xmlns:a16="http://schemas.microsoft.com/office/drawing/2014/main" id="{7726AA20-9768-09E9-2E29-3B3CF06AFA90}"/>
              </a:ext>
            </a:extLst>
          </p:cNvPr>
          <p:cNvCxnSpPr>
            <a:cxnSpLocks/>
            <a:stCxn id="9" idx="3"/>
            <a:endCxn id="11" idx="1"/>
          </p:cNvCxnSpPr>
          <p:nvPr/>
        </p:nvCxnSpPr>
        <p:spPr>
          <a:xfrm flipV="1">
            <a:off x="3258806" y="1733324"/>
            <a:ext cx="1220640" cy="2629"/>
          </a:xfrm>
          <a:prstGeom prst="line">
            <a:avLst/>
          </a:prstGeom>
          <a:ln w="38100">
            <a:solidFill>
              <a:srgbClr val="5A9E6F"/>
            </a:solidFill>
            <a:headEnd type="non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5">
            <a:extLst>
              <a:ext uri="{FF2B5EF4-FFF2-40B4-BE49-F238E27FC236}">
                <a16:creationId xmlns:a16="http://schemas.microsoft.com/office/drawing/2014/main" id="{58C0196D-BF96-AADA-C917-1F89D77F7D87}"/>
              </a:ext>
            </a:extLst>
          </p:cNvPr>
          <p:cNvSpPr>
            <a:spLocks/>
          </p:cNvSpPr>
          <p:nvPr/>
        </p:nvSpPr>
        <p:spPr>
          <a:xfrm>
            <a:off x="4479446" y="1256324"/>
            <a:ext cx="2527200" cy="954000"/>
          </a:xfrm>
          <a:prstGeom prst="roundRect">
            <a:avLst/>
          </a:prstGeom>
          <a:solidFill>
            <a:srgbClr val="F5F6FA"/>
          </a:solidFill>
          <a:ln w="25400">
            <a:solidFill>
              <a:srgbClr val="2C5F7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>
                <a:solidFill>
                  <a:srgbClr val="2D3436"/>
                </a:solidFill>
                <a:latin typeface="Aptos"/>
              </a:defRPr>
            </a:pPr>
            <a:r>
              <a:rPr lang="de-AT" sz="1600" dirty="0">
                <a:solidFill>
                  <a:schemeClr val="tx2">
                    <a:lumMod val="60000"/>
                    <a:lumOff val="40000"/>
                  </a:schemeClr>
                </a:solidFill>
              </a:rPr>
              <a:t>[02_carbon]</a:t>
            </a:r>
            <a:r>
              <a:rPr lang="de-AT" sz="1600" dirty="0"/>
              <a:t> </a:t>
            </a:r>
            <a:r>
              <a:rPr lang="en-US" sz="1200" dirty="0"/>
              <a:t>+ electricity </a:t>
            </a:r>
            <a:r>
              <a:rPr lang="en-US" sz="1200" dirty="0">
                <a:sym typeface="Wingdings" panose="05000000000000000000" pitchFamily="2" charset="2"/>
              </a:rPr>
              <a:t></a:t>
            </a:r>
            <a:r>
              <a:rPr lang="en-US" sz="1200" dirty="0"/>
              <a:t> </a:t>
            </a:r>
            <a:r>
              <a:rPr lang="en-US" sz="1200" dirty="0">
                <a:solidFill>
                  <a:schemeClr val="accent6">
                    <a:lumMod val="75000"/>
                  </a:schemeClr>
                </a:solidFill>
              </a:rPr>
              <a:t>data_consolidated.csv</a:t>
            </a:r>
            <a:r>
              <a:rPr lang="en-US" sz="1200" dirty="0"/>
              <a:t> (daily + weekly + monthly)</a:t>
            </a:r>
            <a:endParaRPr sz="900" dirty="0"/>
          </a:p>
        </p:txBody>
      </p:sp>
      <p:sp>
        <p:nvSpPr>
          <p:cNvPr id="12" name="Rounded Rectangle 7">
            <a:extLst>
              <a:ext uri="{FF2B5EF4-FFF2-40B4-BE49-F238E27FC236}">
                <a16:creationId xmlns:a16="http://schemas.microsoft.com/office/drawing/2014/main" id="{4CA40F73-7BE8-06D7-E3B7-A5AF4C7D3FA5}"/>
              </a:ext>
            </a:extLst>
          </p:cNvPr>
          <p:cNvSpPr/>
          <p:nvPr/>
        </p:nvSpPr>
        <p:spPr>
          <a:xfrm>
            <a:off x="731606" y="4022024"/>
            <a:ext cx="2527200" cy="954000"/>
          </a:xfrm>
          <a:prstGeom prst="roundRect">
            <a:avLst/>
          </a:prstGeom>
          <a:solidFill>
            <a:srgbClr val="F5F6FA"/>
          </a:solidFill>
          <a:ln w="25400">
            <a:solidFill>
              <a:srgbClr val="2C5F7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>
                <a:solidFill>
                  <a:srgbClr val="2D3436"/>
                </a:solidFill>
                <a:latin typeface="Aptos"/>
              </a:defRPr>
            </a:pPr>
            <a:r>
              <a:rPr lang="de-AT" sz="1600" dirty="0">
                <a:solidFill>
                  <a:schemeClr val="tx2">
                    <a:lumMod val="60000"/>
                    <a:lumOff val="40000"/>
                  </a:schemeClr>
                </a:solidFill>
              </a:rPr>
              <a:t>[05_gas] </a:t>
            </a:r>
            <a:r>
              <a:rPr lang="en-US" sz="1200" dirty="0"/>
              <a:t>+ consolidated </a:t>
            </a:r>
            <a:r>
              <a:rPr lang="en-US" sz="1200" dirty="0">
                <a:sym typeface="Wingdings" panose="05000000000000000000" pitchFamily="2" charset="2"/>
              </a:rPr>
              <a:t></a:t>
            </a:r>
            <a:r>
              <a:rPr lang="en-US" sz="1200" dirty="0"/>
              <a:t> </a:t>
            </a:r>
            <a:r>
              <a:rPr lang="en-US" sz="1200" dirty="0">
                <a:solidFill>
                  <a:schemeClr val="accent6">
                    <a:lumMod val="75000"/>
                  </a:schemeClr>
                </a:solidFill>
              </a:rPr>
              <a:t>data_consolidated.csv </a:t>
            </a:r>
            <a:r>
              <a:rPr lang="en-US" sz="1200" dirty="0"/>
              <a:t>(monthly only added)</a:t>
            </a:r>
            <a:endParaRPr dirty="0"/>
          </a:p>
        </p:txBody>
      </p:sp>
      <p:sp>
        <p:nvSpPr>
          <p:cNvPr id="13" name="Rounded Rectangle 5">
            <a:extLst>
              <a:ext uri="{FF2B5EF4-FFF2-40B4-BE49-F238E27FC236}">
                <a16:creationId xmlns:a16="http://schemas.microsoft.com/office/drawing/2014/main" id="{372C99D4-77B2-B3B1-BA19-D7F58B0FBB82}"/>
              </a:ext>
            </a:extLst>
          </p:cNvPr>
          <p:cNvSpPr>
            <a:spLocks/>
          </p:cNvSpPr>
          <p:nvPr/>
        </p:nvSpPr>
        <p:spPr>
          <a:xfrm>
            <a:off x="731266" y="2639174"/>
            <a:ext cx="2527200" cy="954000"/>
          </a:xfrm>
          <a:prstGeom prst="roundRect">
            <a:avLst/>
          </a:prstGeom>
          <a:solidFill>
            <a:srgbClr val="F5F6FA"/>
          </a:solidFill>
          <a:ln w="25400">
            <a:solidFill>
              <a:srgbClr val="2C5F7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>
                <a:solidFill>
                  <a:srgbClr val="2D3436"/>
                </a:solidFill>
                <a:latin typeface="Aptos"/>
              </a:defRPr>
            </a:pPr>
            <a:r>
              <a:rPr lang="de-AT" sz="1600" dirty="0">
                <a:solidFill>
                  <a:schemeClr val="tx2">
                    <a:lumMod val="60000"/>
                    <a:lumOff val="40000"/>
                  </a:schemeClr>
                </a:solidFill>
              </a:rPr>
              <a:t>[03_climate]</a:t>
            </a:r>
          </a:p>
          <a:p>
            <a:pPr algn="ctr">
              <a:defRPr sz="1600">
                <a:solidFill>
                  <a:srgbClr val="2D3436"/>
                </a:solidFill>
                <a:latin typeface="Aptos"/>
              </a:defRPr>
            </a:pPr>
            <a:r>
              <a:rPr lang="en-US" sz="1200" dirty="0"/>
              <a:t>+ consolidated </a:t>
            </a:r>
            <a:r>
              <a:rPr lang="en-US" sz="1200" dirty="0">
                <a:sym typeface="Wingdings" panose="05000000000000000000" pitchFamily="2" charset="2"/>
              </a:rPr>
              <a:t></a:t>
            </a:r>
            <a:r>
              <a:rPr lang="en-US" sz="1200" dirty="0"/>
              <a:t> </a:t>
            </a:r>
            <a:r>
              <a:rPr lang="en-US" sz="1200" dirty="0">
                <a:solidFill>
                  <a:schemeClr val="accent6">
                    <a:lumMod val="75000"/>
                  </a:schemeClr>
                </a:solidFill>
              </a:rPr>
              <a:t>data_consolidated.csv </a:t>
            </a:r>
            <a:r>
              <a:rPr lang="en-US" sz="1200" dirty="0"/>
              <a:t>(monthly only added)</a:t>
            </a:r>
            <a:endParaRPr sz="1050" dirty="0"/>
          </a:p>
        </p:txBody>
      </p:sp>
      <p:cxnSp>
        <p:nvCxnSpPr>
          <p:cNvPr id="14" name="Verbinder: gewinkelt 13">
            <a:extLst>
              <a:ext uri="{FF2B5EF4-FFF2-40B4-BE49-F238E27FC236}">
                <a16:creationId xmlns:a16="http://schemas.microsoft.com/office/drawing/2014/main" id="{71532226-C07C-63BC-66D5-8910724FA3E0}"/>
              </a:ext>
            </a:extLst>
          </p:cNvPr>
          <p:cNvCxnSpPr>
            <a:cxnSpLocks/>
            <a:stCxn id="11" idx="3"/>
            <a:endCxn id="13" idx="0"/>
          </p:cNvCxnSpPr>
          <p:nvPr/>
        </p:nvCxnSpPr>
        <p:spPr>
          <a:xfrm flipH="1">
            <a:off x="1994866" y="1733324"/>
            <a:ext cx="5011780" cy="905850"/>
          </a:xfrm>
          <a:prstGeom prst="bentConnector4">
            <a:avLst>
              <a:gd name="adj1" fmla="val -4561"/>
              <a:gd name="adj2" fmla="val 76329"/>
            </a:avLst>
          </a:prstGeom>
          <a:ln w="38100">
            <a:solidFill>
              <a:srgbClr val="5A9E6F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4">
            <a:extLst>
              <a:ext uri="{FF2B5EF4-FFF2-40B4-BE49-F238E27FC236}">
                <a16:creationId xmlns:a16="http://schemas.microsoft.com/office/drawing/2014/main" id="{EB86E9BE-728C-5B02-AA80-7A8DC10063D7}"/>
              </a:ext>
            </a:extLst>
          </p:cNvPr>
          <p:cNvCxnSpPr>
            <a:cxnSpLocks/>
            <a:stCxn id="13" idx="3"/>
            <a:endCxn id="16" idx="1"/>
          </p:cNvCxnSpPr>
          <p:nvPr/>
        </p:nvCxnSpPr>
        <p:spPr>
          <a:xfrm>
            <a:off x="3258466" y="3116174"/>
            <a:ext cx="1220980" cy="0"/>
          </a:xfrm>
          <a:prstGeom prst="line">
            <a:avLst/>
          </a:prstGeom>
          <a:ln w="38100">
            <a:solidFill>
              <a:srgbClr val="5A9E6F"/>
            </a:solidFill>
            <a:headEnd type="non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5">
            <a:extLst>
              <a:ext uri="{FF2B5EF4-FFF2-40B4-BE49-F238E27FC236}">
                <a16:creationId xmlns:a16="http://schemas.microsoft.com/office/drawing/2014/main" id="{7FC60EA0-A121-23AD-48F2-633ACFD9A42B}"/>
              </a:ext>
            </a:extLst>
          </p:cNvPr>
          <p:cNvSpPr/>
          <p:nvPr/>
        </p:nvSpPr>
        <p:spPr>
          <a:xfrm>
            <a:off x="4479446" y="2639174"/>
            <a:ext cx="2527200" cy="954000"/>
          </a:xfrm>
          <a:prstGeom prst="roundRect">
            <a:avLst/>
          </a:prstGeom>
          <a:solidFill>
            <a:srgbClr val="F5F6FA"/>
          </a:solidFill>
          <a:ln w="25400">
            <a:solidFill>
              <a:srgbClr val="2C5F7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>
                <a:solidFill>
                  <a:srgbClr val="2D3436"/>
                </a:solidFill>
                <a:latin typeface="Aptos"/>
              </a:defRPr>
            </a:pPr>
            <a:r>
              <a:rPr lang="de-AT" sz="1600" dirty="0">
                <a:solidFill>
                  <a:schemeClr val="tx2">
                    <a:lumMod val="60000"/>
                    <a:lumOff val="40000"/>
                  </a:schemeClr>
                </a:solidFill>
              </a:rPr>
              <a:t>[04_production]</a:t>
            </a:r>
            <a:r>
              <a:rPr lang="de-AT" sz="1200" dirty="0">
                <a:solidFill>
                  <a:schemeClr val="tx2">
                    <a:lumMod val="60000"/>
                    <a:lumOff val="40000"/>
                  </a:schemeClr>
                </a:solidFill>
              </a:rPr>
              <a:t> </a:t>
            </a:r>
            <a:r>
              <a:rPr lang="en-US" sz="1200" dirty="0"/>
              <a:t>+ consolidated </a:t>
            </a:r>
            <a:r>
              <a:rPr lang="en-US" sz="1200" dirty="0">
                <a:sym typeface="Wingdings" panose="05000000000000000000" pitchFamily="2" charset="2"/>
              </a:rPr>
              <a:t></a:t>
            </a:r>
            <a:r>
              <a:rPr lang="en-US" sz="1200" dirty="0"/>
              <a:t> </a:t>
            </a:r>
            <a:r>
              <a:rPr lang="en-US" sz="1200" dirty="0">
                <a:solidFill>
                  <a:schemeClr val="accent6">
                    <a:lumMod val="75000"/>
                  </a:schemeClr>
                </a:solidFill>
              </a:rPr>
              <a:t>data_consolidated.csv </a:t>
            </a:r>
            <a:r>
              <a:rPr lang="en-US" sz="1200" dirty="0"/>
              <a:t>(monthly only added)</a:t>
            </a:r>
            <a:endParaRPr sz="1050" dirty="0"/>
          </a:p>
        </p:txBody>
      </p:sp>
      <p:cxnSp>
        <p:nvCxnSpPr>
          <p:cNvPr id="17" name="Verbinder: gewinkelt 16">
            <a:extLst>
              <a:ext uri="{FF2B5EF4-FFF2-40B4-BE49-F238E27FC236}">
                <a16:creationId xmlns:a16="http://schemas.microsoft.com/office/drawing/2014/main" id="{D4CEC8A2-A88A-0ECE-90CB-E23CA134ED77}"/>
              </a:ext>
            </a:extLst>
          </p:cNvPr>
          <p:cNvCxnSpPr>
            <a:cxnSpLocks/>
            <a:stCxn id="16" idx="3"/>
            <a:endCxn id="12" idx="0"/>
          </p:cNvCxnSpPr>
          <p:nvPr/>
        </p:nvCxnSpPr>
        <p:spPr>
          <a:xfrm flipH="1">
            <a:off x="1995206" y="3116174"/>
            <a:ext cx="5011440" cy="905850"/>
          </a:xfrm>
          <a:prstGeom prst="bentConnector4">
            <a:avLst>
              <a:gd name="adj1" fmla="val -4562"/>
              <a:gd name="adj2" fmla="val 76329"/>
            </a:avLst>
          </a:prstGeom>
          <a:ln w="38100">
            <a:solidFill>
              <a:srgbClr val="5A9E6F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7">
            <a:extLst>
              <a:ext uri="{FF2B5EF4-FFF2-40B4-BE49-F238E27FC236}">
                <a16:creationId xmlns:a16="http://schemas.microsoft.com/office/drawing/2014/main" id="{2BD7D538-4C15-71A9-ED6D-E795E8E80DC1}"/>
              </a:ext>
            </a:extLst>
          </p:cNvPr>
          <p:cNvSpPr/>
          <p:nvPr/>
        </p:nvSpPr>
        <p:spPr>
          <a:xfrm>
            <a:off x="4500756" y="4022024"/>
            <a:ext cx="2527200" cy="954000"/>
          </a:xfrm>
          <a:prstGeom prst="roundRect">
            <a:avLst/>
          </a:prstGeom>
          <a:solidFill>
            <a:srgbClr val="F5F6FA"/>
          </a:solidFill>
          <a:ln w="25400">
            <a:solidFill>
              <a:srgbClr val="2C5F7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>
                <a:solidFill>
                  <a:srgbClr val="2D3436"/>
                </a:solidFill>
                <a:latin typeface="Aptos"/>
              </a:defRPr>
            </a:pPr>
            <a:r>
              <a:rPr lang="de-AT" sz="1600" dirty="0">
                <a:solidFill>
                  <a:schemeClr val="tx2">
                    <a:lumMod val="60000"/>
                    <a:lumOff val="40000"/>
                  </a:schemeClr>
                </a:solidFill>
              </a:rPr>
              <a:t>[06_economy] </a:t>
            </a:r>
            <a:r>
              <a:rPr lang="en-US" sz="1200" dirty="0"/>
              <a:t>+ consolidated </a:t>
            </a:r>
            <a:r>
              <a:rPr lang="en-US" sz="1200" dirty="0">
                <a:sym typeface="Wingdings" panose="05000000000000000000" pitchFamily="2" charset="2"/>
              </a:rPr>
              <a:t></a:t>
            </a:r>
            <a:r>
              <a:rPr lang="en-US" sz="1200" dirty="0"/>
              <a:t> </a:t>
            </a:r>
            <a:r>
              <a:rPr lang="en-US" sz="1200" dirty="0">
                <a:solidFill>
                  <a:schemeClr val="accent6">
                    <a:lumMod val="75000"/>
                  </a:schemeClr>
                </a:solidFill>
              </a:rPr>
              <a:t>data_consolidated.csv </a:t>
            </a:r>
            <a:r>
              <a:rPr lang="en-US" sz="1200" dirty="0"/>
              <a:t>(monthly only added)</a:t>
            </a:r>
            <a:endParaRPr lang="de-AT" dirty="0"/>
          </a:p>
        </p:txBody>
      </p:sp>
      <p:cxnSp>
        <p:nvCxnSpPr>
          <p:cNvPr id="19" name="Connector 4">
            <a:extLst>
              <a:ext uri="{FF2B5EF4-FFF2-40B4-BE49-F238E27FC236}">
                <a16:creationId xmlns:a16="http://schemas.microsoft.com/office/drawing/2014/main" id="{15A2AB9A-04E3-7212-7A97-CA5409F4BD90}"/>
              </a:ext>
            </a:extLst>
          </p:cNvPr>
          <p:cNvCxnSpPr>
            <a:cxnSpLocks/>
            <a:stCxn id="12" idx="3"/>
            <a:endCxn id="18" idx="1"/>
          </p:cNvCxnSpPr>
          <p:nvPr/>
        </p:nvCxnSpPr>
        <p:spPr>
          <a:xfrm>
            <a:off x="3258806" y="4499024"/>
            <a:ext cx="1241950" cy="0"/>
          </a:xfrm>
          <a:prstGeom prst="line">
            <a:avLst/>
          </a:prstGeom>
          <a:ln w="38100">
            <a:solidFill>
              <a:srgbClr val="5A9E6F"/>
            </a:solidFill>
            <a:headEnd type="non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7">
            <a:extLst>
              <a:ext uri="{FF2B5EF4-FFF2-40B4-BE49-F238E27FC236}">
                <a16:creationId xmlns:a16="http://schemas.microsoft.com/office/drawing/2014/main" id="{5B160BE0-A22B-4B58-F615-89046686AB2F}"/>
              </a:ext>
            </a:extLst>
          </p:cNvPr>
          <p:cNvSpPr/>
          <p:nvPr/>
        </p:nvSpPr>
        <p:spPr>
          <a:xfrm>
            <a:off x="731606" y="5677939"/>
            <a:ext cx="2527200" cy="954000"/>
          </a:xfrm>
          <a:prstGeom prst="roundRect">
            <a:avLst/>
          </a:prstGeom>
          <a:solidFill>
            <a:srgbClr val="F5F6FA"/>
          </a:solidFill>
          <a:ln w="25400">
            <a:solidFill>
              <a:srgbClr val="2C5F7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>
                <a:solidFill>
                  <a:srgbClr val="2D3436"/>
                </a:solidFill>
                <a:latin typeface="Aptos"/>
              </a:defRPr>
            </a:pPr>
            <a:r>
              <a:rPr lang="en-US" sz="1200" dirty="0">
                <a:solidFill>
                  <a:schemeClr val="accent6">
                    <a:lumMod val="75000"/>
                  </a:schemeClr>
                </a:solidFill>
                <a:latin typeface="Aptos"/>
              </a:rPr>
              <a:t>data_consolidated.csv </a:t>
            </a:r>
            <a:r>
              <a:rPr lang="en-US" sz="1200" dirty="0">
                <a:sym typeface="Wingdings" panose="05000000000000000000" pitchFamily="2" charset="2"/>
              </a:rPr>
              <a:t> 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Aptos"/>
              </a:rPr>
              <a:t>data_analysis_ready.csv </a:t>
            </a:r>
            <a:endParaRPr dirty="0"/>
          </a:p>
        </p:txBody>
      </p:sp>
      <p:cxnSp>
        <p:nvCxnSpPr>
          <p:cNvPr id="25" name="Verbinder: gewinkelt 24">
            <a:extLst>
              <a:ext uri="{FF2B5EF4-FFF2-40B4-BE49-F238E27FC236}">
                <a16:creationId xmlns:a16="http://schemas.microsoft.com/office/drawing/2014/main" id="{0E94FDD0-D52E-F6A9-37D7-1A23AC38786B}"/>
              </a:ext>
            </a:extLst>
          </p:cNvPr>
          <p:cNvCxnSpPr>
            <a:cxnSpLocks/>
            <a:stCxn id="18" idx="3"/>
            <a:endCxn id="6" idx="0"/>
          </p:cNvCxnSpPr>
          <p:nvPr/>
        </p:nvCxnSpPr>
        <p:spPr>
          <a:xfrm flipH="1">
            <a:off x="1995206" y="4499024"/>
            <a:ext cx="5032750" cy="1178915"/>
          </a:xfrm>
          <a:prstGeom prst="bentConnector4">
            <a:avLst>
              <a:gd name="adj1" fmla="val -4542"/>
              <a:gd name="adj2" fmla="val 70230"/>
            </a:avLst>
          </a:prstGeom>
          <a:ln w="57150">
            <a:solidFill>
              <a:schemeClr val="tx2">
                <a:lumMod val="20000"/>
                <a:lumOff val="8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feld 29">
            <a:extLst>
              <a:ext uri="{FF2B5EF4-FFF2-40B4-BE49-F238E27FC236}">
                <a16:creationId xmlns:a16="http://schemas.microsoft.com/office/drawing/2014/main" id="{C5A8A65B-922D-FABC-E9C3-FD0EAE7FD721}"/>
              </a:ext>
            </a:extLst>
          </p:cNvPr>
          <p:cNvSpPr txBox="1"/>
          <p:nvPr/>
        </p:nvSpPr>
        <p:spPr>
          <a:xfrm>
            <a:off x="2596815" y="4983005"/>
            <a:ext cx="335881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AT" sz="1800" dirty="0">
                <a:solidFill>
                  <a:schemeClr val="tx2">
                    <a:lumMod val="60000"/>
                    <a:lumOff val="40000"/>
                  </a:schemeClr>
                </a:solidFill>
              </a:rPr>
              <a:t>[EDA]</a:t>
            </a:r>
            <a:r>
              <a:rPr lang="de-AT" sz="1800" dirty="0"/>
              <a:t> + </a:t>
            </a:r>
            <a:r>
              <a:rPr lang="de-AT" dirty="0">
                <a:solidFill>
                  <a:schemeClr val="tx2">
                    <a:lumMod val="60000"/>
                    <a:lumOff val="40000"/>
                  </a:schemeClr>
                </a:solidFill>
              </a:rPr>
              <a:t>[</a:t>
            </a:r>
            <a:r>
              <a:rPr lang="de-AT" dirty="0" err="1">
                <a:solidFill>
                  <a:schemeClr val="tx2">
                    <a:lumMod val="60000"/>
                    <a:lumOff val="40000"/>
                  </a:schemeClr>
                </a:solidFill>
              </a:rPr>
              <a:t>feature_engineering</a:t>
            </a:r>
            <a:r>
              <a:rPr lang="de-AT" dirty="0">
                <a:solidFill>
                  <a:schemeClr val="tx2">
                    <a:lumMod val="60000"/>
                    <a:lumOff val="40000"/>
                  </a:schemeClr>
                </a:solidFill>
              </a:rPr>
              <a:t>]</a:t>
            </a:r>
          </a:p>
        </p:txBody>
      </p:sp>
      <p:cxnSp>
        <p:nvCxnSpPr>
          <p:cNvPr id="40" name="Gerade Verbindung mit Pfeil 39">
            <a:extLst>
              <a:ext uri="{FF2B5EF4-FFF2-40B4-BE49-F238E27FC236}">
                <a16:creationId xmlns:a16="http://schemas.microsoft.com/office/drawing/2014/main" id="{853A7463-237B-2545-6BF7-52737BE15478}"/>
              </a:ext>
            </a:extLst>
          </p:cNvPr>
          <p:cNvCxnSpPr>
            <a:cxnSpLocks/>
            <a:stCxn id="6" idx="3"/>
          </p:cNvCxnSpPr>
          <p:nvPr/>
        </p:nvCxnSpPr>
        <p:spPr>
          <a:xfrm>
            <a:off x="3258806" y="6154939"/>
            <a:ext cx="1252775" cy="6980"/>
          </a:xfrm>
          <a:prstGeom prst="straightConnector1">
            <a:avLst/>
          </a:prstGeom>
          <a:ln w="57150">
            <a:solidFill>
              <a:schemeClr val="tx2">
                <a:lumMod val="20000"/>
                <a:lumOff val="8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Textfeld 43">
            <a:extLst>
              <a:ext uri="{FF2B5EF4-FFF2-40B4-BE49-F238E27FC236}">
                <a16:creationId xmlns:a16="http://schemas.microsoft.com/office/drawing/2014/main" id="{4EA99418-A29A-976F-C640-7291FECB7344}"/>
              </a:ext>
            </a:extLst>
          </p:cNvPr>
          <p:cNvSpPr txBox="1"/>
          <p:nvPr/>
        </p:nvSpPr>
        <p:spPr>
          <a:xfrm>
            <a:off x="7559714" y="1735953"/>
            <a:ext cx="1421063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AT" sz="1800" dirty="0">
                <a:solidFill>
                  <a:schemeClr val="accent6"/>
                </a:solidFill>
              </a:rPr>
              <a:t> </a:t>
            </a:r>
            <a:r>
              <a:rPr lang="de-AT" sz="1800" dirty="0" err="1">
                <a:solidFill>
                  <a:schemeClr val="accent6"/>
                </a:solidFill>
              </a:rPr>
              <a:t>data_file</a:t>
            </a:r>
            <a:endParaRPr lang="de-AT" sz="1800" dirty="0">
              <a:solidFill>
                <a:schemeClr val="accent6"/>
              </a:solidFill>
            </a:endParaRPr>
          </a:p>
          <a:p>
            <a:r>
              <a:rPr lang="de-AT" sz="1800" dirty="0">
                <a:solidFill>
                  <a:schemeClr val="tx2">
                    <a:lumMod val="60000"/>
                    <a:lumOff val="40000"/>
                  </a:schemeClr>
                </a:solidFill>
              </a:rPr>
              <a:t>[</a:t>
            </a:r>
            <a:r>
              <a:rPr lang="de-AT" sz="1800" dirty="0" err="1">
                <a:solidFill>
                  <a:schemeClr val="tx2">
                    <a:lumMod val="60000"/>
                    <a:lumOff val="40000"/>
                  </a:schemeClr>
                </a:solidFill>
              </a:rPr>
              <a:t>notebook</a:t>
            </a:r>
            <a:r>
              <a:rPr lang="de-AT" sz="1800" dirty="0">
                <a:solidFill>
                  <a:schemeClr val="tx2">
                    <a:lumMod val="60000"/>
                    <a:lumOff val="40000"/>
                  </a:schemeClr>
                </a:solidFill>
              </a:rPr>
              <a:t>]</a:t>
            </a:r>
            <a:endParaRPr lang="de-AT" dirty="0">
              <a:solidFill>
                <a:schemeClr val="tx2">
                  <a:lumMod val="60000"/>
                  <a:lumOff val="40000"/>
                </a:schemeClr>
              </a:solidFill>
            </a:endParaRPr>
          </a:p>
        </p:txBody>
      </p:sp>
      <p:sp>
        <p:nvSpPr>
          <p:cNvPr id="45" name="Rounded Rectangle 7">
            <a:extLst>
              <a:ext uri="{FF2B5EF4-FFF2-40B4-BE49-F238E27FC236}">
                <a16:creationId xmlns:a16="http://schemas.microsoft.com/office/drawing/2014/main" id="{02317C99-1A3D-19AE-9E6B-3E82336A2F3B}"/>
              </a:ext>
            </a:extLst>
          </p:cNvPr>
          <p:cNvSpPr/>
          <p:nvPr/>
        </p:nvSpPr>
        <p:spPr>
          <a:xfrm>
            <a:off x="4621596" y="5698807"/>
            <a:ext cx="2527200" cy="954000"/>
          </a:xfrm>
          <a:prstGeom prst="roundRect">
            <a:avLst/>
          </a:prstGeom>
          <a:solidFill>
            <a:srgbClr val="F5F6FA"/>
          </a:solidFill>
          <a:ln w="25400">
            <a:solidFill>
              <a:srgbClr val="2C5F7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>
                <a:solidFill>
                  <a:srgbClr val="2D3436"/>
                </a:solidFill>
                <a:latin typeface="Aptos"/>
              </a:defRPr>
            </a:pPr>
            <a:r>
              <a:rPr lang="de-AT" dirty="0">
                <a:solidFill>
                  <a:schemeClr val="tx2">
                    <a:lumMod val="60000"/>
                    <a:lumOff val="40000"/>
                  </a:schemeClr>
                </a:solidFill>
              </a:rPr>
              <a:t>[</a:t>
            </a:r>
            <a:r>
              <a:rPr lang="de-AT" dirty="0" err="1">
                <a:solidFill>
                  <a:schemeClr val="tx2">
                    <a:lumMod val="60000"/>
                    <a:lumOff val="40000"/>
                  </a:schemeClr>
                </a:solidFill>
              </a:rPr>
              <a:t>model_building</a:t>
            </a:r>
            <a:r>
              <a:rPr lang="de-AT" dirty="0">
                <a:solidFill>
                  <a:schemeClr val="tx2">
                    <a:lumMod val="60000"/>
                    <a:lumOff val="40000"/>
                  </a:schemeClr>
                </a:solidFill>
              </a:rPr>
              <a:t>]</a:t>
            </a:r>
            <a:r>
              <a:rPr lang="de-AT" sz="1600" dirty="0">
                <a:solidFill>
                  <a:schemeClr val="tx2">
                    <a:lumMod val="60000"/>
                    <a:lumOff val="40000"/>
                  </a:schemeClr>
                </a:solidFill>
              </a:rPr>
              <a:t> </a:t>
            </a:r>
            <a:r>
              <a:rPr lang="en-US" sz="1200" dirty="0">
                <a:solidFill>
                  <a:schemeClr val="accent6">
                    <a:lumMod val="75000"/>
                  </a:schemeClr>
                </a:solidFill>
                <a:latin typeface="Aptos"/>
              </a:rPr>
              <a:t>data_analysis_ready.csv </a:t>
            </a:r>
            <a:r>
              <a:rPr lang="en-US" sz="1200" dirty="0">
                <a:sym typeface="Wingdings" panose="05000000000000000000" pitchFamily="2" charset="2"/>
              </a:rPr>
              <a:t> 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Aptos"/>
              </a:rPr>
              <a:t>data_tableau.csv </a:t>
            </a:r>
            <a:endParaRPr dirty="0"/>
          </a:p>
        </p:txBody>
      </p:sp>
      <p:cxnSp>
        <p:nvCxnSpPr>
          <p:cNvPr id="46" name="Verbinder: gewinkelt 45">
            <a:extLst>
              <a:ext uri="{FF2B5EF4-FFF2-40B4-BE49-F238E27FC236}">
                <a16:creationId xmlns:a16="http://schemas.microsoft.com/office/drawing/2014/main" id="{B54FCA7A-5886-636C-6AF9-4DFF18D67D3F}"/>
              </a:ext>
            </a:extLst>
          </p:cNvPr>
          <p:cNvCxnSpPr>
            <a:cxnSpLocks/>
          </p:cNvCxnSpPr>
          <p:nvPr/>
        </p:nvCxnSpPr>
        <p:spPr>
          <a:xfrm>
            <a:off x="7470387" y="2510579"/>
            <a:ext cx="535774" cy="309706"/>
          </a:xfrm>
          <a:prstGeom prst="bentConnector3">
            <a:avLst>
              <a:gd name="adj1" fmla="val 50000"/>
            </a:avLst>
          </a:prstGeom>
          <a:ln w="38100">
            <a:solidFill>
              <a:srgbClr val="5A9E6F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Textfeld 48">
            <a:extLst>
              <a:ext uri="{FF2B5EF4-FFF2-40B4-BE49-F238E27FC236}">
                <a16:creationId xmlns:a16="http://schemas.microsoft.com/office/drawing/2014/main" id="{F05CE762-E2F4-177D-2C8A-B6FCAE7A78EB}"/>
              </a:ext>
            </a:extLst>
          </p:cNvPr>
          <p:cNvSpPr txBox="1"/>
          <p:nvPr/>
        </p:nvSpPr>
        <p:spPr>
          <a:xfrm>
            <a:off x="7932953" y="2454508"/>
            <a:ext cx="142106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AT" sz="1800" dirty="0"/>
              <a:t> script.py</a:t>
            </a:r>
            <a:endParaRPr lang="de-AT" dirty="0"/>
          </a:p>
        </p:txBody>
      </p:sp>
      <p:cxnSp>
        <p:nvCxnSpPr>
          <p:cNvPr id="50" name="Verbinder: gewinkelt 49">
            <a:extLst>
              <a:ext uri="{FF2B5EF4-FFF2-40B4-BE49-F238E27FC236}">
                <a16:creationId xmlns:a16="http://schemas.microsoft.com/office/drawing/2014/main" id="{47CB8C30-5207-09CF-C037-FEEBE171B1CC}"/>
              </a:ext>
            </a:extLst>
          </p:cNvPr>
          <p:cNvCxnSpPr>
            <a:cxnSpLocks/>
          </p:cNvCxnSpPr>
          <p:nvPr/>
        </p:nvCxnSpPr>
        <p:spPr>
          <a:xfrm>
            <a:off x="7543595" y="3172245"/>
            <a:ext cx="535774" cy="309706"/>
          </a:xfrm>
          <a:prstGeom prst="bentConnector3">
            <a:avLst>
              <a:gd name="adj1" fmla="val 50000"/>
            </a:avLst>
          </a:prstGeom>
          <a:ln w="38100">
            <a:solidFill>
              <a:srgbClr val="A2C9DE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Textfeld 50">
            <a:extLst>
              <a:ext uri="{FF2B5EF4-FFF2-40B4-BE49-F238E27FC236}">
                <a16:creationId xmlns:a16="http://schemas.microsoft.com/office/drawing/2014/main" id="{9055B998-7340-750F-1EE3-D93F8207845A}"/>
              </a:ext>
            </a:extLst>
          </p:cNvPr>
          <p:cNvSpPr txBox="1"/>
          <p:nvPr/>
        </p:nvSpPr>
        <p:spPr>
          <a:xfrm>
            <a:off x="8006161" y="3128206"/>
            <a:ext cx="142106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AT" sz="1800" dirty="0"/>
              <a:t> </a:t>
            </a:r>
            <a:r>
              <a:rPr lang="de-AT" sz="1800" dirty="0" err="1"/>
              <a:t>manual</a:t>
            </a:r>
            <a:endParaRPr lang="de-AT" dirty="0"/>
          </a:p>
        </p:txBody>
      </p:sp>
    </p:spTree>
    <p:extLst>
      <p:ext uri="{BB962C8B-B14F-4D97-AF65-F5344CB8AC3E}">
        <p14:creationId xmlns:p14="http://schemas.microsoft.com/office/powerpoint/2010/main" val="85910083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6E41A4-0456-49E8-A054-5A988E38EF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5B74394-9AF0-3931-A5DE-A535BC81D4FB}"/>
              </a:ext>
            </a:extLst>
          </p:cNvPr>
          <p:cNvSpPr txBox="1"/>
          <p:nvPr/>
        </p:nvSpPr>
        <p:spPr>
          <a:xfrm>
            <a:off x="731520" y="548640"/>
            <a:ext cx="6396559" cy="64633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600" b="1">
                <a:solidFill>
                  <a:srgbClr val="2C5F7C"/>
                </a:solidFill>
                <a:latin typeface="Aptos Display"/>
              </a:defRPr>
            </a:pPr>
            <a:r>
              <a:rPr lang="de-AT" dirty="0"/>
              <a:t>DRY – </a:t>
            </a:r>
            <a:r>
              <a:rPr lang="de-AT" dirty="0" err="1"/>
              <a:t>Principle</a:t>
            </a:r>
            <a:r>
              <a:rPr lang="de-AT" dirty="0"/>
              <a:t> Implementation</a:t>
            </a:r>
            <a:endParaRPr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EC2D1BE4-749D-8EDE-DC4D-BF2038702829}"/>
              </a:ext>
            </a:extLst>
          </p:cNvPr>
          <p:cNvSpPr/>
          <p:nvPr/>
        </p:nvSpPr>
        <p:spPr>
          <a:xfrm>
            <a:off x="731520" y="1188720"/>
            <a:ext cx="7680960" cy="9144"/>
          </a:xfrm>
          <a:prstGeom prst="rect">
            <a:avLst/>
          </a:prstGeom>
          <a:solidFill>
            <a:srgbClr val="5A9E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3903717-9425-4DF2-32EE-BB9008DE478B}"/>
              </a:ext>
            </a:extLst>
          </p:cNvPr>
          <p:cNvSpPr txBox="1"/>
          <p:nvPr/>
        </p:nvSpPr>
        <p:spPr>
          <a:xfrm>
            <a:off x="7772400" y="6400800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>
                <a:solidFill>
                  <a:srgbClr val="8B7355"/>
                </a:solidFill>
                <a:latin typeface="Aptos"/>
              </a:defRPr>
            </a:pPr>
            <a:r>
              <a:t>2</a:t>
            </a:r>
          </a:p>
        </p:txBody>
      </p:sp>
      <p:sp>
        <p:nvSpPr>
          <p:cNvPr id="7" name="TextBox 3">
            <a:extLst>
              <a:ext uri="{FF2B5EF4-FFF2-40B4-BE49-F238E27FC236}">
                <a16:creationId xmlns:a16="http://schemas.microsoft.com/office/drawing/2014/main" id="{9A9985E3-FF4F-FCB0-86F5-CE0374C66E78}"/>
              </a:ext>
            </a:extLst>
          </p:cNvPr>
          <p:cNvSpPr txBox="1"/>
          <p:nvPr/>
        </p:nvSpPr>
        <p:spPr>
          <a:xfrm>
            <a:off x="914399" y="1645920"/>
            <a:ext cx="8145379" cy="8002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>
                <a:solidFill>
                  <a:srgbClr val="2D3436"/>
                </a:solidFill>
                <a:latin typeface="Aptos"/>
              </a:defRPr>
            </a:pPr>
            <a:r>
              <a:rPr lang="de-AT" b="1" dirty="0"/>
              <a:t>TO DO</a:t>
            </a:r>
            <a:endParaRPr lang="de-AT" dirty="0"/>
          </a:p>
          <a:p>
            <a:pPr marL="742950" lvl="1" indent="-285750">
              <a:spcAft>
                <a:spcPts val="1200"/>
              </a:spcAft>
              <a:buFont typeface="Courier New" panose="02070309020205020404" pitchFamily="49" charset="0"/>
              <a:buChar char="o"/>
              <a:defRPr sz="1800">
                <a:solidFill>
                  <a:srgbClr val="2D3436"/>
                </a:solidFill>
                <a:latin typeface="Aptos"/>
              </a:defRPr>
            </a:pPr>
            <a:endParaRPr lang="de-AT" dirty="0"/>
          </a:p>
        </p:txBody>
      </p:sp>
    </p:spTree>
    <p:extLst>
      <p:ext uri="{BB962C8B-B14F-4D97-AF65-F5344CB8AC3E}">
        <p14:creationId xmlns:p14="http://schemas.microsoft.com/office/powerpoint/2010/main" val="116085324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C5F7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077653" y="2286000"/>
            <a:ext cx="2988703" cy="83099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800" b="1">
                <a:solidFill>
                  <a:srgbClr val="F5F6FA"/>
                </a:solidFill>
                <a:latin typeface="Aptos Display"/>
              </a:defRPr>
            </a:pPr>
            <a:r>
              <a:rPr lang="de-AT" dirty="0" err="1"/>
              <a:t>Thank</a:t>
            </a:r>
            <a:r>
              <a:rPr lang="de-AT" dirty="0"/>
              <a:t> </a:t>
            </a:r>
            <a:r>
              <a:rPr lang="de-AT" dirty="0" err="1"/>
              <a:t>you</a:t>
            </a:r>
            <a:r>
              <a:rPr lang="de-AT" dirty="0"/>
              <a:t>!</a:t>
            </a:r>
            <a:endParaRPr dirty="0"/>
          </a:p>
        </p:txBody>
      </p:sp>
      <p:sp>
        <p:nvSpPr>
          <p:cNvPr id="4" name="Rectangle 3"/>
          <p:cNvSpPr/>
          <p:nvPr/>
        </p:nvSpPr>
        <p:spPr>
          <a:xfrm>
            <a:off x="3200399" y="3036498"/>
            <a:ext cx="2743200" cy="18288"/>
          </a:xfrm>
          <a:prstGeom prst="rect">
            <a:avLst/>
          </a:prstGeom>
          <a:solidFill>
            <a:srgbClr val="5A9E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025516" y="4572000"/>
            <a:ext cx="7092967" cy="58477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>
                <a:solidFill>
                  <a:srgbClr val="F5F6FA"/>
                </a:solidFill>
                <a:latin typeface="Aptos"/>
              </a:defRPr>
            </a:pPr>
            <a:r>
              <a:rPr lang="de-AT" dirty="0"/>
              <a:t>paul.ringler@gmx.at</a:t>
            </a:r>
            <a:br>
              <a:rPr dirty="0"/>
            </a:br>
            <a:r>
              <a:rPr lang="de-AT" dirty="0"/>
              <a:t>https://github.com/Pringlebot/austrian_electricity_prices_capstone/tree/main</a:t>
            </a:r>
            <a:endParaRPr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1424</Words>
  <Application>Microsoft Office PowerPoint</Application>
  <PresentationFormat>Bildschirmpräsentation (4:3)</PresentationFormat>
  <Paragraphs>181</Paragraphs>
  <Slides>10</Slides>
  <Notes>10</Notes>
  <HiddenSlides>1</HiddenSlides>
  <MMClips>0</MMClips>
  <ScaleCrop>false</ScaleCrop>
  <HeadingPairs>
    <vt:vector size="6" baseType="variant">
      <vt:variant>
        <vt:lpstr>Verwendete Schriftarten</vt:lpstr>
      </vt:variant>
      <vt:variant>
        <vt:i4>5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10</vt:i4>
      </vt:variant>
    </vt:vector>
  </HeadingPairs>
  <TitlesOfParts>
    <vt:vector size="16" baseType="lpstr">
      <vt:lpstr>Aptos</vt:lpstr>
      <vt:lpstr>Arial</vt:lpstr>
      <vt:lpstr>Calibri</vt:lpstr>
      <vt:lpstr>Courier New</vt:lpstr>
      <vt:lpstr>Wingdings</vt:lpstr>
      <vt:lpstr>Office Theme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Paul Ringler</dc:creator>
  <cp:keywords/>
  <dc:description>generated using python-pptx</dc:description>
  <cp:lastModifiedBy>Paul Ringler (FORESIGHT)</cp:lastModifiedBy>
  <cp:revision>5</cp:revision>
  <dcterms:created xsi:type="dcterms:W3CDTF">2013-01-27T09:14:16Z</dcterms:created>
  <dcterms:modified xsi:type="dcterms:W3CDTF">2025-10-23T11:51:20Z</dcterms:modified>
  <cp:category/>
</cp:coreProperties>
</file>