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1" r:id="rId3"/>
    <p:sldId id="263" r:id="rId4"/>
    <p:sldId id="264" r:id="rId5"/>
    <p:sldId id="275" r:id="rId6"/>
    <p:sldId id="276" r:id="rId7"/>
    <p:sldId id="272" r:id="rId8"/>
    <p:sldId id="278" r:id="rId9"/>
    <p:sldId id="280" r:id="rId10"/>
    <p:sldId id="277" r:id="rId11"/>
    <p:sldId id="281" r:id="rId12"/>
    <p:sldId id="282" r:id="rId13"/>
    <p:sldId id="283" r:id="rId14"/>
    <p:sldId id="273" r:id="rId15"/>
    <p:sldId id="26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2C9DE"/>
    <a:srgbClr val="E3EFF5"/>
    <a:srgbClr val="5A9E6F"/>
    <a:srgbClr val="C4DCEA"/>
    <a:srgbClr val="2C5F7C"/>
    <a:srgbClr val="8B735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49" autoAdjust="0"/>
  </p:normalViewPr>
  <p:slideViewPr>
    <p:cSldViewPr snapToGrid="0" snapToObjects="1">
      <p:cViewPr>
        <p:scale>
          <a:sx n="100" d="100"/>
          <a:sy n="100" d="100"/>
        </p:scale>
        <p:origin x="1896" y="4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294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16F3D-AFAA-47CB-BB97-3BC1CCDC8235}" type="datetimeFigureOut">
              <a:rPr lang="de-AT" smtClean="0"/>
              <a:t>23.10.2025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313929-3CD4-4E13-B022-FAF4159C863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6440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40049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Post-Ukraine invasion: Austrian energy prices surged and became highly volatile </a:t>
            </a: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dirty="0"/>
              <a:t> Target audience: Small manufacturing companies, power suppliers </a:t>
            </a: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dirty="0"/>
              <a:t> Over-the-counter contracts: fixed prices for 1-6 months ahead </a:t>
            </a: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dirty="0"/>
              <a:t> Forecasting enables: (1) Risk hedging, (2) Optimal contract timing </a:t>
            </a: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dirty="0"/>
              <a:t> This project: Lightweight forecasting tool prototype using ARIMA/ARIMAX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64360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AT" dirty="0"/>
              <a:t>Classic ML </a:t>
            </a:r>
            <a:r>
              <a:rPr lang="de-AT" dirty="0" err="1"/>
              <a:t>workflow</a:t>
            </a:r>
            <a:r>
              <a:rPr lang="de-AT" dirty="0"/>
              <a:t>: Problem Definition → Data → Model → Evaluation </a:t>
            </a:r>
          </a:p>
          <a:p>
            <a:pPr marL="171450" indent="-171450">
              <a:buFontTx/>
              <a:buChar char="-"/>
            </a:pPr>
            <a:r>
              <a:rPr lang="de-AT" dirty="0"/>
              <a:t>This </a:t>
            </a:r>
            <a:r>
              <a:rPr lang="de-AT" dirty="0" err="1"/>
              <a:t>project</a:t>
            </a:r>
            <a:r>
              <a:rPr lang="de-AT" dirty="0"/>
              <a:t> </a:t>
            </a:r>
            <a:r>
              <a:rPr lang="de-AT" dirty="0" err="1"/>
              <a:t>covers</a:t>
            </a:r>
            <a:r>
              <a:rPr lang="de-AT" dirty="0"/>
              <a:t>: ✓ Data Engineering, ✓ EDA, ✓ Model Building, ✓ Evaluation </a:t>
            </a:r>
          </a:p>
          <a:p>
            <a:pPr marL="171450" indent="-171450">
              <a:buFontTx/>
              <a:buChar char="-"/>
            </a:pPr>
            <a:r>
              <a:rPr lang="de-AT" dirty="0"/>
              <a:t>Out of </a:t>
            </a:r>
            <a:r>
              <a:rPr lang="de-AT" dirty="0" err="1"/>
              <a:t>scope</a:t>
            </a:r>
            <a:r>
              <a:rPr lang="de-AT" dirty="0"/>
              <a:t>: </a:t>
            </a:r>
            <a:r>
              <a:rPr lang="de-AT" dirty="0" err="1"/>
              <a:t>Deployment</a:t>
            </a:r>
            <a:r>
              <a:rPr lang="de-AT" dirty="0"/>
              <a:t>, Monitoring (</a:t>
            </a:r>
            <a:r>
              <a:rPr lang="de-AT" dirty="0" err="1"/>
              <a:t>future</a:t>
            </a:r>
            <a:r>
              <a:rPr lang="de-AT" dirty="0"/>
              <a:t> </a:t>
            </a:r>
            <a:r>
              <a:rPr lang="de-AT" dirty="0" err="1"/>
              <a:t>work</a:t>
            </a:r>
            <a:r>
              <a:rPr lang="de-AT" dirty="0"/>
              <a:t>) </a:t>
            </a:r>
          </a:p>
          <a:p>
            <a:pPr marL="171450" indent="-171450">
              <a:buFontTx/>
              <a:buChar char="-"/>
            </a:pPr>
            <a:r>
              <a:rPr lang="de-AT" dirty="0"/>
              <a:t>6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sources</a:t>
            </a:r>
            <a:r>
              <a:rPr lang="de-AT" dirty="0"/>
              <a:t>: </a:t>
            </a:r>
            <a:r>
              <a:rPr lang="de-AT" dirty="0" err="1"/>
              <a:t>Electricity</a:t>
            </a:r>
            <a:r>
              <a:rPr lang="de-AT" dirty="0"/>
              <a:t> </a:t>
            </a:r>
            <a:r>
              <a:rPr lang="de-AT" dirty="0" err="1"/>
              <a:t>prices</a:t>
            </a:r>
            <a:r>
              <a:rPr lang="de-AT" dirty="0"/>
              <a:t>, CO2, Gas, Climate, </a:t>
            </a:r>
            <a:r>
              <a:rPr lang="de-AT" dirty="0" err="1"/>
              <a:t>Production</a:t>
            </a:r>
            <a:r>
              <a:rPr lang="de-AT" dirty="0"/>
              <a:t> Mix, Economy </a:t>
            </a:r>
          </a:p>
          <a:p>
            <a:pPr marL="171450" indent="-171450">
              <a:buFontTx/>
              <a:buChar char="-"/>
            </a:pPr>
            <a:r>
              <a:rPr lang="de-AT" dirty="0"/>
              <a:t>Semi-</a:t>
            </a:r>
            <a:r>
              <a:rPr lang="de-AT" dirty="0" err="1"/>
              <a:t>automated</a:t>
            </a:r>
            <a:r>
              <a:rPr lang="de-AT" dirty="0"/>
              <a:t> ETL </a:t>
            </a:r>
            <a:r>
              <a:rPr lang="de-AT" dirty="0" err="1"/>
              <a:t>pipeline</a:t>
            </a:r>
            <a:r>
              <a:rPr lang="de-AT" dirty="0"/>
              <a:t> </a:t>
            </a:r>
            <a:r>
              <a:rPr lang="de-AT" dirty="0" err="1"/>
              <a:t>designed</a:t>
            </a:r>
            <a:r>
              <a:rPr lang="de-AT" dirty="0"/>
              <a:t> for </a:t>
            </a:r>
            <a:r>
              <a:rPr lang="de-AT" dirty="0" err="1"/>
              <a:t>continuous</a:t>
            </a:r>
            <a:r>
              <a:rPr lang="de-AT" dirty="0"/>
              <a:t> </a:t>
            </a:r>
            <a:r>
              <a:rPr lang="de-AT" dirty="0" err="1"/>
              <a:t>updates</a:t>
            </a:r>
            <a:r>
              <a:rPr lang="de-AT" dirty="0"/>
              <a:t>. </a:t>
            </a:r>
            <a:r>
              <a:rPr lang="de-AT" dirty="0" err="1"/>
              <a:t>I.e</a:t>
            </a:r>
            <a:r>
              <a:rPr lang="de-AT" dirty="0"/>
              <a:t>: Data </a:t>
            </a:r>
            <a:r>
              <a:rPr lang="de-AT" dirty="0" err="1"/>
              <a:t>extraction</a:t>
            </a:r>
            <a:r>
              <a:rPr lang="de-AT" dirty="0"/>
              <a:t>, </a:t>
            </a:r>
            <a:r>
              <a:rPr lang="de-AT" dirty="0" err="1"/>
              <a:t>then</a:t>
            </a:r>
            <a:r>
              <a:rPr lang="de-AT" dirty="0"/>
              <a:t> </a:t>
            </a:r>
            <a:r>
              <a:rPr lang="de-AT" dirty="0" err="1"/>
              <a:t>transformation</a:t>
            </a:r>
            <a:r>
              <a:rPr lang="de-AT" dirty="0"/>
              <a:t> and </a:t>
            </a:r>
            <a:r>
              <a:rPr lang="de-AT" dirty="0" err="1"/>
              <a:t>finally</a:t>
            </a:r>
            <a:r>
              <a:rPr lang="de-AT" dirty="0"/>
              <a:t> </a:t>
            </a:r>
            <a:r>
              <a:rPr lang="de-AT" dirty="0" err="1"/>
              <a:t>shaping</a:t>
            </a:r>
            <a:r>
              <a:rPr lang="de-AT" dirty="0"/>
              <a:t> </a:t>
            </a:r>
            <a:r>
              <a:rPr lang="de-AT" dirty="0" err="1"/>
              <a:t>into</a:t>
            </a:r>
            <a:r>
              <a:rPr lang="de-AT" dirty="0"/>
              <a:t> a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file</a:t>
            </a:r>
            <a:r>
              <a:rPr lang="de-AT" dirty="0"/>
              <a:t> for </a:t>
            </a:r>
            <a:r>
              <a:rPr lang="de-AT" dirty="0" err="1"/>
              <a:t>further</a:t>
            </a:r>
            <a:r>
              <a:rPr lang="de-AT" dirty="0"/>
              <a:t> </a:t>
            </a:r>
            <a:r>
              <a:rPr lang="de-AT" dirty="0" err="1"/>
              <a:t>work</a:t>
            </a:r>
            <a:r>
              <a:rPr lang="de-AT" dirty="0"/>
              <a:t>. Code </a:t>
            </a:r>
            <a:r>
              <a:rPr lang="de-AT" dirty="0" err="1"/>
              <a:t>once</a:t>
            </a:r>
            <a:r>
              <a:rPr lang="de-AT" dirty="0"/>
              <a:t>, and </a:t>
            </a:r>
            <a:r>
              <a:rPr lang="de-AT" dirty="0" err="1"/>
              <a:t>then</a:t>
            </a:r>
            <a:r>
              <a:rPr lang="de-AT" dirty="0"/>
              <a:t> </a:t>
            </a:r>
            <a:r>
              <a:rPr lang="de-AT" dirty="0" err="1"/>
              <a:t>analyse</a:t>
            </a:r>
            <a:r>
              <a:rPr lang="de-AT" dirty="0"/>
              <a:t>.</a:t>
            </a:r>
          </a:p>
          <a:p>
            <a:pPr marL="171450" indent="-171450">
              <a:buFontTx/>
              <a:buChar char="-"/>
            </a:pPr>
            <a:r>
              <a:rPr lang="de-AT" dirty="0"/>
              <a:t>(vs. </a:t>
            </a:r>
            <a:r>
              <a:rPr lang="de-AT" dirty="0" err="1"/>
              <a:t>loading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into</a:t>
            </a:r>
            <a:r>
              <a:rPr lang="de-AT" dirty="0"/>
              <a:t> a </a:t>
            </a:r>
            <a:r>
              <a:rPr lang="de-AT" dirty="0" err="1"/>
              <a:t>raw</a:t>
            </a:r>
            <a:r>
              <a:rPr lang="de-AT" dirty="0"/>
              <a:t> </a:t>
            </a:r>
            <a:r>
              <a:rPr lang="de-AT" dirty="0" err="1"/>
              <a:t>file</a:t>
            </a:r>
            <a:r>
              <a:rPr lang="de-AT" dirty="0"/>
              <a:t> and </a:t>
            </a:r>
            <a:r>
              <a:rPr lang="de-AT" dirty="0" err="1"/>
              <a:t>only</a:t>
            </a:r>
            <a:r>
              <a:rPr lang="de-AT" dirty="0"/>
              <a:t> </a:t>
            </a:r>
            <a:r>
              <a:rPr lang="de-AT" dirty="0" err="1"/>
              <a:t>transforming</a:t>
            </a:r>
            <a:r>
              <a:rPr lang="de-AT" dirty="0"/>
              <a:t> </a:t>
            </a:r>
            <a:r>
              <a:rPr lang="de-AT" dirty="0" err="1"/>
              <a:t>it</a:t>
            </a:r>
            <a:r>
              <a:rPr lang="de-AT" dirty="0"/>
              <a:t> </a:t>
            </a:r>
            <a:r>
              <a:rPr lang="de-AT" dirty="0" err="1"/>
              <a:t>whenever</a:t>
            </a:r>
            <a:r>
              <a:rPr lang="de-AT" dirty="0"/>
              <a:t> </a:t>
            </a:r>
            <a:r>
              <a:rPr lang="de-AT" dirty="0" err="1"/>
              <a:t>it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needed</a:t>
            </a:r>
            <a:r>
              <a:rPr lang="de-AT" dirty="0"/>
              <a:t> for </a:t>
            </a:r>
            <a:r>
              <a:rPr lang="de-AT" dirty="0" err="1"/>
              <a:t>analysis</a:t>
            </a:r>
            <a:r>
              <a:rPr lang="de-AT" dirty="0"/>
              <a:t>) Transformation Code for </a:t>
            </a:r>
            <a:r>
              <a:rPr lang="de-AT" dirty="0" err="1"/>
              <a:t>each</a:t>
            </a:r>
            <a:r>
              <a:rPr lang="de-AT" dirty="0"/>
              <a:t> </a:t>
            </a:r>
            <a:r>
              <a:rPr lang="de-AT" dirty="0" err="1"/>
              <a:t>analysis</a:t>
            </a:r>
            <a:r>
              <a:rPr lang="de-AT" dirty="0"/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93299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F104A-A9CC-2A3C-893A-EAF615C71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779E91D-6846-0F79-7D8B-195636F4C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B280ED4-7569-D021-56F3-853993E87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ausgeblendet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C1B0B7-DB65-2C66-8554-EF0568098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77795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487C7-3249-6259-3E67-86E2FD38D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EFC7E90-E74B-83C3-36B3-0D73DAD22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6336CF7-D528-6458-4483-A8BB350C5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EF69F6-166B-D2B2-51FD-B99D0B95B9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3597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C3263-465E-35B6-3CC4-DC5128758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CD6F502-5BE5-F1C6-41F1-EEAE68315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7F2627C-F41D-9737-F06E-403CA0121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AT" dirty="0"/>
              <a:t>Research ADF and KPSS </a:t>
            </a:r>
            <a:r>
              <a:rPr lang="de-AT" dirty="0" err="1"/>
              <a:t>tests</a:t>
            </a:r>
            <a:r>
              <a:rPr lang="de-AT" dirty="0"/>
              <a:t> </a:t>
            </a:r>
            <a:r>
              <a:rPr lang="de-AT" dirty="0" err="1"/>
              <a:t>again</a:t>
            </a:r>
            <a:r>
              <a:rPr lang="de-AT" dirty="0"/>
              <a:t>, </a:t>
            </a:r>
            <a:r>
              <a:rPr lang="de-AT" dirty="0" err="1"/>
              <a:t>short</a:t>
            </a:r>
            <a:r>
              <a:rPr lang="de-AT" dirty="0"/>
              <a:t> </a:t>
            </a:r>
            <a:r>
              <a:rPr lang="de-AT" dirty="0" err="1"/>
              <a:t>explanation</a:t>
            </a:r>
            <a:r>
              <a:rPr lang="de-AT" dirty="0"/>
              <a:t> for </a:t>
            </a:r>
            <a:r>
              <a:rPr lang="de-AT" dirty="0" err="1"/>
              <a:t>those</a:t>
            </a:r>
            <a:endParaRPr lang="de-A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ADF (</a:t>
            </a:r>
            <a:r>
              <a:rPr lang="de-AT" dirty="0" err="1"/>
              <a:t>Augmented</a:t>
            </a:r>
            <a:r>
              <a:rPr lang="de-AT" dirty="0"/>
              <a:t> Dickey-Fuller)</a:t>
            </a:r>
            <a:r>
              <a:rPr lang="en-US" dirty="0"/>
              <a:t> test assumes non-stationarity, that a unit root exists (H₀: non-stationary).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 tests whether the series reverts to its mean using lagged values. </a:t>
            </a:r>
            <a:r>
              <a:rPr lang="en-US" b="1" dirty="0"/>
              <a:t>Low p-value (&lt;0.05) = reject H₀ = stationary.</a:t>
            </a:r>
            <a:r>
              <a:rPr lang="en-US" dirty="0"/>
              <a:t>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unit root is a property of a time series where shocks in a system don´t fade away but remain.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behavior in such a period is unpredictable.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AT" dirty="0"/>
          </a:p>
          <a:p>
            <a:pPr marL="0" indent="0">
              <a:buFontTx/>
              <a:buNone/>
            </a:pPr>
            <a:r>
              <a:rPr lang="de-AT" dirty="0"/>
              <a:t>The KPSS Test (Kwiatkowski-Phillips-Schmidt-Shin) </a:t>
            </a:r>
            <a:r>
              <a:rPr lang="de-AT" dirty="0" err="1"/>
              <a:t>tests</a:t>
            </a:r>
            <a:r>
              <a:rPr lang="de-AT" dirty="0"/>
              <a:t> </a:t>
            </a:r>
            <a:r>
              <a:rPr lang="de-AT" dirty="0" err="1"/>
              <a:t>more</a:t>
            </a:r>
            <a:r>
              <a:rPr lang="de-AT" dirty="0"/>
              <a:t> </a:t>
            </a:r>
            <a:r>
              <a:rPr lang="de-AT" dirty="0" err="1"/>
              <a:t>directly</a:t>
            </a:r>
            <a:r>
              <a:rPr lang="de-AT" dirty="0"/>
              <a:t> </a:t>
            </a:r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mean</a:t>
            </a:r>
            <a:r>
              <a:rPr lang="de-AT" dirty="0"/>
              <a:t> and </a:t>
            </a:r>
            <a:r>
              <a:rPr lang="de-AT" dirty="0" err="1"/>
              <a:t>variance</a:t>
            </a:r>
            <a:r>
              <a:rPr lang="de-AT" dirty="0"/>
              <a:t> </a:t>
            </a:r>
            <a:r>
              <a:rPr lang="de-AT" dirty="0" err="1"/>
              <a:t>remain</a:t>
            </a:r>
            <a:r>
              <a:rPr lang="de-AT" dirty="0"/>
              <a:t> </a:t>
            </a:r>
            <a:r>
              <a:rPr lang="de-AT" dirty="0" err="1"/>
              <a:t>statistically</a:t>
            </a:r>
            <a:r>
              <a:rPr lang="de-AT" dirty="0"/>
              <a:t> </a:t>
            </a:r>
            <a:r>
              <a:rPr lang="de-AT" dirty="0" err="1"/>
              <a:t>constant</a:t>
            </a:r>
            <a:r>
              <a:rPr lang="de-AT" dirty="0"/>
              <a:t> </a:t>
            </a:r>
            <a:r>
              <a:rPr lang="de-AT" dirty="0" err="1"/>
              <a:t>over</a:t>
            </a:r>
            <a:r>
              <a:rPr lang="de-AT" dirty="0"/>
              <a:t> time </a:t>
            </a:r>
          </a:p>
          <a:p>
            <a:pPr marL="0" indent="0">
              <a:buFontTx/>
              <a:buNone/>
            </a:pPr>
            <a:r>
              <a:rPr lang="en-US" dirty="0"/>
              <a:t>The KPSS test assumes stationarity (H₀: stationary). </a:t>
            </a:r>
            <a:r>
              <a:rPr lang="en-US" b="1" dirty="0"/>
              <a:t>High p-value (&gt;0.05) = fail to reject H₀ = stationary.</a:t>
            </a:r>
          </a:p>
          <a:p>
            <a:pPr marL="0" indent="0">
              <a:buFontTx/>
              <a:buNone/>
            </a:pPr>
            <a:endParaRPr lang="de-AT" dirty="0"/>
          </a:p>
          <a:p>
            <a:pPr marL="171450" indent="-171450">
              <a:buFontTx/>
              <a:buChar char="-"/>
            </a:pPr>
            <a:r>
              <a:rPr lang="en-US" dirty="0"/>
              <a:t>Three regimes: Stable-Volatile-Stable sandwich structure </a:t>
            </a:r>
          </a:p>
          <a:p>
            <a:pPr marL="171450" indent="-171450">
              <a:buFontTx/>
              <a:buChar char="-"/>
            </a:pPr>
            <a:r>
              <a:rPr lang="en-US" dirty="0"/>
              <a:t>Pre-shock: Low prices, low volatility, stationary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dirty="0"/>
              <a:t>Price shock: Mean jumped 5x, volatility exploded, non-stationary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dirty="0"/>
              <a:t>Post-shock: Prices normalized at higher level, volatility decreased, stationary again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dirty="0"/>
              <a:t>Modeling challenges: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Training on full period = learning from regime no longer valid </a:t>
            </a:r>
          </a:p>
          <a:p>
            <a:pPr marL="628650" lvl="1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en-US" dirty="0"/>
              <a:t>olution: Train on Period (2020-2023) = 56 months with available exogenous data</a:t>
            </a:r>
          </a:p>
          <a:p>
            <a:pPr marL="457200" lvl="1" indent="0">
              <a:buFontTx/>
              <a:buNone/>
            </a:pPr>
            <a:endParaRPr lang="en-US" dirty="0"/>
          </a:p>
          <a:p>
            <a:pPr marL="457200" lvl="1" indent="0">
              <a:buFontTx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n_months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	mean 	median 	std 	cv 	min 	max	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iqr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457200" lvl="1" indent="0">
              <a:buFontTx/>
              <a:buNone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stationary_pre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	72.0 	35.94 	33.50 	9.60 	0.27 	18.0 	62.0 	10.00 </a:t>
            </a:r>
          </a:p>
          <a:p>
            <a:pPr marL="457200" lvl="1" indent="0">
              <a:buFontTx/>
              <a:buNone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price_shock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	26.0 	181.92 	174.25 	112.44 	0.62 	50.5 	488.0 	140.25 </a:t>
            </a:r>
          </a:p>
          <a:p>
            <a:pPr marL="457200" lvl="1" indent="0">
              <a:buFontTx/>
              <a:buNone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stationary_post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	30.0 	89.27 	85.00 	22.70 	0.25 	59.0 	141.0 	29.00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89DCFE-4E2E-42AD-7EC2-44356AD7E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6231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AT" dirty="0" err="1"/>
              <a:t>Ljung</a:t>
            </a:r>
            <a:r>
              <a:rPr lang="de-AT" dirty="0"/>
              <a:t>-Box </a:t>
            </a:r>
            <a:r>
              <a:rPr lang="de-AT" dirty="0" err="1"/>
              <a:t>tests</a:t>
            </a:r>
            <a:r>
              <a:rPr lang="de-AT" dirty="0"/>
              <a:t>: </a:t>
            </a:r>
            <a:r>
              <a:rPr lang="de-AT" dirty="0" err="1"/>
              <a:t>Residuals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uncorrelated</a:t>
            </a:r>
            <a:r>
              <a:rPr lang="de-AT" dirty="0"/>
              <a:t> → Model </a:t>
            </a:r>
            <a:r>
              <a:rPr lang="de-AT" dirty="0" err="1"/>
              <a:t>captured</a:t>
            </a:r>
            <a:r>
              <a:rPr lang="de-AT" dirty="0"/>
              <a:t> all </a:t>
            </a:r>
            <a:r>
              <a:rPr lang="de-AT" dirty="0" err="1"/>
              <a:t>predictable</a:t>
            </a:r>
            <a:r>
              <a:rPr lang="de-AT" dirty="0"/>
              <a:t> </a:t>
            </a:r>
            <a:r>
              <a:rPr lang="de-AT" dirty="0" err="1"/>
              <a:t>patterns</a:t>
            </a:r>
            <a:r>
              <a:rPr lang="de-AT" dirty="0"/>
              <a:t> </a:t>
            </a:r>
          </a:p>
          <a:p>
            <a:pPr marL="171450" indent="-171450">
              <a:buFontTx/>
              <a:buChar char="-"/>
            </a:pPr>
            <a:r>
              <a:rPr lang="de-AT" dirty="0"/>
              <a:t>Shapiro-Wilk </a:t>
            </a:r>
            <a:r>
              <a:rPr lang="de-AT" dirty="0" err="1"/>
              <a:t>failure</a:t>
            </a:r>
            <a:r>
              <a:rPr lang="de-AT" dirty="0"/>
              <a:t>: </a:t>
            </a:r>
            <a:r>
              <a:rPr lang="de-AT" dirty="0" err="1"/>
              <a:t>Residuals</a:t>
            </a:r>
            <a:r>
              <a:rPr lang="de-AT" dirty="0"/>
              <a:t> </a:t>
            </a:r>
            <a:r>
              <a:rPr lang="de-AT" dirty="0" err="1"/>
              <a:t>have</a:t>
            </a:r>
            <a:r>
              <a:rPr lang="de-AT" dirty="0"/>
              <a:t> heavy </a:t>
            </a:r>
            <a:r>
              <a:rPr lang="de-AT" dirty="0" err="1"/>
              <a:t>tails</a:t>
            </a:r>
            <a:r>
              <a:rPr lang="de-AT" dirty="0"/>
              <a:t> → Extreme </a:t>
            </a:r>
            <a:r>
              <a:rPr lang="de-AT" dirty="0" err="1"/>
              <a:t>events</a:t>
            </a:r>
            <a:r>
              <a:rPr lang="de-AT" dirty="0"/>
              <a:t> </a:t>
            </a:r>
            <a:r>
              <a:rPr lang="de-AT" dirty="0" err="1"/>
              <a:t>harder</a:t>
            </a:r>
            <a:r>
              <a:rPr lang="de-AT" dirty="0"/>
              <a:t> to </a:t>
            </a:r>
            <a:r>
              <a:rPr lang="de-AT" dirty="0" err="1"/>
              <a:t>predict</a:t>
            </a:r>
            <a:r>
              <a:rPr lang="de-AT" dirty="0"/>
              <a:t> </a:t>
            </a:r>
            <a:endParaRPr lang="de-A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de-AT" dirty="0" err="1"/>
              <a:t>Heteroskedasticity</a:t>
            </a:r>
            <a:r>
              <a:rPr lang="de-AT" dirty="0"/>
              <a:t>: Error </a:t>
            </a:r>
            <a:r>
              <a:rPr lang="de-AT" dirty="0" err="1"/>
              <a:t>variance</a:t>
            </a:r>
            <a:r>
              <a:rPr lang="de-AT" dirty="0"/>
              <a:t> not </a:t>
            </a:r>
            <a:r>
              <a:rPr lang="de-AT" dirty="0" err="1"/>
              <a:t>constant</a:t>
            </a:r>
            <a:r>
              <a:rPr lang="de-AT" dirty="0"/>
              <a:t> → CI </a:t>
            </a:r>
            <a:r>
              <a:rPr lang="de-AT" dirty="0" err="1"/>
              <a:t>widths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approximate</a:t>
            </a:r>
            <a:r>
              <a:rPr lang="de-AT" dirty="0"/>
              <a:t> </a:t>
            </a:r>
            <a:endParaRPr lang="de-A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de-AT" dirty="0"/>
              <a:t>Bootstrap CI: </a:t>
            </a:r>
            <a:r>
              <a:rPr lang="de-AT" dirty="0" err="1"/>
              <a:t>Realistic</a:t>
            </a:r>
            <a:r>
              <a:rPr lang="de-AT" dirty="0"/>
              <a:t> </a:t>
            </a:r>
            <a:r>
              <a:rPr lang="de-AT" dirty="0" err="1"/>
              <a:t>uncertainty</a:t>
            </a:r>
            <a:r>
              <a:rPr lang="de-AT" dirty="0"/>
              <a:t> </a:t>
            </a:r>
            <a:r>
              <a:rPr lang="de-AT" dirty="0" err="1"/>
              <a:t>quantification</a:t>
            </a:r>
            <a:r>
              <a:rPr lang="de-AT" dirty="0"/>
              <a:t> → 95% CI = ±42 EUR/MWh = ±40-50% of </a:t>
            </a:r>
            <a:r>
              <a:rPr lang="de-AT" dirty="0" err="1"/>
              <a:t>typical</a:t>
            </a:r>
            <a:r>
              <a:rPr lang="de-AT" dirty="0"/>
              <a:t> </a:t>
            </a:r>
            <a:r>
              <a:rPr lang="de-AT" dirty="0" err="1"/>
              <a:t>price</a:t>
            </a:r>
            <a:r>
              <a:rPr lang="de-AT" dirty="0"/>
              <a:t> → Still </a:t>
            </a:r>
            <a:r>
              <a:rPr lang="de-AT" dirty="0" err="1"/>
              <a:t>useful</a:t>
            </a:r>
            <a:r>
              <a:rPr lang="de-AT" dirty="0"/>
              <a:t> for </a:t>
            </a:r>
            <a:r>
              <a:rPr lang="de-AT" dirty="0" err="1"/>
              <a:t>scenario</a:t>
            </a:r>
            <a:r>
              <a:rPr lang="de-AT" dirty="0"/>
              <a:t> </a:t>
            </a:r>
            <a:r>
              <a:rPr lang="de-AT" dirty="0" err="1"/>
              <a:t>planning</a:t>
            </a:r>
            <a:r>
              <a:rPr lang="de-AT" dirty="0"/>
              <a:t>, not </a:t>
            </a:r>
            <a:r>
              <a:rPr lang="de-AT" dirty="0" err="1"/>
              <a:t>point</a:t>
            </a:r>
            <a:r>
              <a:rPr lang="de-AT" dirty="0"/>
              <a:t> </a:t>
            </a:r>
            <a:r>
              <a:rPr lang="de-AT" dirty="0" err="1"/>
              <a:t>predictions</a:t>
            </a:r>
            <a:r>
              <a:rPr lang="de-AT" dirty="0"/>
              <a:t> </a:t>
            </a:r>
          </a:p>
          <a:p>
            <a:pPr marL="171450" indent="-171450">
              <a:buFontTx/>
              <a:buChar char="-"/>
            </a:pPr>
            <a:endParaRPr lang="de-A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OLS: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intercept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gas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coefficient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3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parameters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n=30</a:t>
            </a:r>
          </a:p>
          <a:p>
            <a:pPr marL="171450" indent="-171450">
              <a:buFontTx/>
              <a:buChar char="-"/>
            </a:pP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ARIMAX: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intercept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 lag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coefficients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gas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coefficient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6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parameters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n=60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07858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F1B45-E294-58A7-ECC1-E476FDAC0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5F29F5A-807B-0EA6-B711-D647FC3F8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5BD70AE-29D3-4333-0818-AAD189730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AT" dirty="0" err="1"/>
              <a:t>Ljung</a:t>
            </a:r>
            <a:r>
              <a:rPr lang="de-AT" dirty="0"/>
              <a:t>-Box </a:t>
            </a:r>
            <a:r>
              <a:rPr lang="de-AT" dirty="0" err="1"/>
              <a:t>tests</a:t>
            </a:r>
            <a:r>
              <a:rPr lang="de-AT" dirty="0"/>
              <a:t>: </a:t>
            </a:r>
            <a:r>
              <a:rPr lang="de-AT" dirty="0" err="1"/>
              <a:t>Residuals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uncorrelated</a:t>
            </a:r>
            <a:r>
              <a:rPr lang="de-AT" dirty="0"/>
              <a:t> → Model </a:t>
            </a:r>
            <a:r>
              <a:rPr lang="de-AT" dirty="0" err="1"/>
              <a:t>captured</a:t>
            </a:r>
            <a:r>
              <a:rPr lang="de-AT" dirty="0"/>
              <a:t> all </a:t>
            </a:r>
            <a:r>
              <a:rPr lang="de-AT" dirty="0" err="1"/>
              <a:t>predictable</a:t>
            </a:r>
            <a:r>
              <a:rPr lang="de-AT" dirty="0"/>
              <a:t> </a:t>
            </a:r>
            <a:r>
              <a:rPr lang="de-AT" dirty="0" err="1"/>
              <a:t>patterns</a:t>
            </a:r>
            <a:r>
              <a:rPr lang="de-AT" dirty="0"/>
              <a:t> </a:t>
            </a:r>
          </a:p>
          <a:p>
            <a:pPr marL="171450" indent="-171450">
              <a:buFontTx/>
              <a:buChar char="-"/>
            </a:pPr>
            <a:r>
              <a:rPr lang="de-AT" dirty="0"/>
              <a:t>Shapiro-Wilk </a:t>
            </a:r>
            <a:r>
              <a:rPr lang="de-AT" dirty="0" err="1"/>
              <a:t>failure</a:t>
            </a:r>
            <a:r>
              <a:rPr lang="de-AT" dirty="0"/>
              <a:t>: </a:t>
            </a:r>
            <a:r>
              <a:rPr lang="de-AT" dirty="0" err="1"/>
              <a:t>Residuals</a:t>
            </a:r>
            <a:r>
              <a:rPr lang="de-AT" dirty="0"/>
              <a:t> </a:t>
            </a:r>
            <a:r>
              <a:rPr lang="de-AT" dirty="0" err="1"/>
              <a:t>have</a:t>
            </a:r>
            <a:r>
              <a:rPr lang="de-AT" dirty="0"/>
              <a:t> heavy </a:t>
            </a:r>
            <a:r>
              <a:rPr lang="de-AT" dirty="0" err="1"/>
              <a:t>tails</a:t>
            </a:r>
            <a:r>
              <a:rPr lang="de-AT" dirty="0"/>
              <a:t> → Extreme </a:t>
            </a:r>
            <a:r>
              <a:rPr lang="de-AT" dirty="0" err="1"/>
              <a:t>events</a:t>
            </a:r>
            <a:r>
              <a:rPr lang="de-AT" dirty="0"/>
              <a:t> </a:t>
            </a:r>
            <a:r>
              <a:rPr lang="de-AT" dirty="0" err="1"/>
              <a:t>harder</a:t>
            </a:r>
            <a:r>
              <a:rPr lang="de-AT" dirty="0"/>
              <a:t> to </a:t>
            </a:r>
            <a:r>
              <a:rPr lang="de-AT" dirty="0" err="1"/>
              <a:t>predict</a:t>
            </a:r>
            <a:r>
              <a:rPr lang="de-AT" dirty="0"/>
              <a:t> </a:t>
            </a:r>
            <a:endParaRPr lang="de-A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de-AT" dirty="0" err="1"/>
              <a:t>Heteroskedasticity</a:t>
            </a:r>
            <a:r>
              <a:rPr lang="de-AT" dirty="0"/>
              <a:t>: Error </a:t>
            </a:r>
            <a:r>
              <a:rPr lang="de-AT" dirty="0" err="1"/>
              <a:t>variance</a:t>
            </a:r>
            <a:r>
              <a:rPr lang="de-AT" dirty="0"/>
              <a:t> not </a:t>
            </a:r>
            <a:r>
              <a:rPr lang="de-AT" dirty="0" err="1"/>
              <a:t>constant</a:t>
            </a:r>
            <a:r>
              <a:rPr lang="de-AT" dirty="0"/>
              <a:t> → CI </a:t>
            </a:r>
            <a:r>
              <a:rPr lang="de-AT" dirty="0" err="1"/>
              <a:t>widths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approximate</a:t>
            </a:r>
            <a:r>
              <a:rPr lang="de-AT" dirty="0"/>
              <a:t> </a:t>
            </a:r>
            <a:endParaRPr lang="de-A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de-AT" dirty="0"/>
              <a:t>Bootstrap CI: </a:t>
            </a:r>
            <a:r>
              <a:rPr lang="de-AT" dirty="0" err="1"/>
              <a:t>Realistic</a:t>
            </a:r>
            <a:r>
              <a:rPr lang="de-AT" dirty="0"/>
              <a:t> </a:t>
            </a:r>
            <a:r>
              <a:rPr lang="de-AT" dirty="0" err="1"/>
              <a:t>uncertainty</a:t>
            </a:r>
            <a:r>
              <a:rPr lang="de-AT" dirty="0"/>
              <a:t> </a:t>
            </a:r>
            <a:r>
              <a:rPr lang="de-AT" dirty="0" err="1"/>
              <a:t>quantification</a:t>
            </a:r>
            <a:r>
              <a:rPr lang="de-AT" dirty="0"/>
              <a:t> → 95% CI = ±42 EUR/MWh = ±40-50% of </a:t>
            </a:r>
            <a:r>
              <a:rPr lang="de-AT" dirty="0" err="1"/>
              <a:t>typical</a:t>
            </a:r>
            <a:r>
              <a:rPr lang="de-AT" dirty="0"/>
              <a:t> </a:t>
            </a:r>
            <a:r>
              <a:rPr lang="de-AT" dirty="0" err="1"/>
              <a:t>price</a:t>
            </a:r>
            <a:r>
              <a:rPr lang="de-AT" dirty="0"/>
              <a:t> → Still </a:t>
            </a:r>
            <a:r>
              <a:rPr lang="de-AT" dirty="0" err="1"/>
              <a:t>useful</a:t>
            </a:r>
            <a:r>
              <a:rPr lang="de-AT" dirty="0"/>
              <a:t> for </a:t>
            </a:r>
            <a:r>
              <a:rPr lang="de-AT" dirty="0" err="1"/>
              <a:t>scenario</a:t>
            </a:r>
            <a:r>
              <a:rPr lang="de-AT" dirty="0"/>
              <a:t> </a:t>
            </a:r>
            <a:r>
              <a:rPr lang="de-AT" dirty="0" err="1"/>
              <a:t>planning</a:t>
            </a:r>
            <a:r>
              <a:rPr lang="de-AT" dirty="0"/>
              <a:t>, not </a:t>
            </a:r>
            <a:r>
              <a:rPr lang="de-AT" dirty="0" err="1"/>
              <a:t>point</a:t>
            </a:r>
            <a:r>
              <a:rPr lang="de-AT" dirty="0"/>
              <a:t> </a:t>
            </a:r>
            <a:r>
              <a:rPr lang="de-AT" dirty="0" err="1"/>
              <a:t>predictions</a:t>
            </a:r>
            <a:r>
              <a:rPr lang="de-AT" dirty="0"/>
              <a:t> </a:t>
            </a:r>
          </a:p>
          <a:p>
            <a:pPr marL="171450" indent="-171450">
              <a:buFontTx/>
              <a:buChar char="-"/>
            </a:pPr>
            <a:endParaRPr lang="de-A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OLS: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intercept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gas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coefficient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3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parameters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n=30</a:t>
            </a:r>
          </a:p>
          <a:p>
            <a:pPr marL="171450" indent="-171450">
              <a:buFontTx/>
              <a:buChar char="-"/>
            </a:pP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ARIMAX: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intercept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 lag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coefficients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gas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coefficient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6 </a:t>
            </a:r>
            <a:r>
              <a:rPr lang="de-A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parameters</a:t>
            </a:r>
            <a:r>
              <a:rPr lang="de-A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n=60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9790C0-715B-02DB-03F3-2E22E8FEC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83609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65927-E266-1E14-FCD7-96CAE1AE1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89B56D4-B3BE-FA23-7EAF-647E61025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797A878-895A-EF63-5533-DDD451D52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AT" dirty="0" err="1"/>
              <a:t>Ljung</a:t>
            </a:r>
            <a:r>
              <a:rPr lang="de-AT" dirty="0"/>
              <a:t>-Box </a:t>
            </a:r>
            <a:r>
              <a:rPr lang="de-AT" dirty="0" err="1"/>
              <a:t>tests</a:t>
            </a:r>
            <a:r>
              <a:rPr lang="de-AT" dirty="0"/>
              <a:t>: </a:t>
            </a:r>
            <a:r>
              <a:rPr lang="de-AT" dirty="0" err="1"/>
              <a:t>Residuals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uncorrelated</a:t>
            </a:r>
            <a:r>
              <a:rPr lang="de-AT" dirty="0"/>
              <a:t> → Model </a:t>
            </a:r>
            <a:r>
              <a:rPr lang="de-AT" dirty="0" err="1"/>
              <a:t>captured</a:t>
            </a:r>
            <a:r>
              <a:rPr lang="de-AT" dirty="0"/>
              <a:t> all </a:t>
            </a:r>
            <a:r>
              <a:rPr lang="de-AT" dirty="0" err="1"/>
              <a:t>predictable</a:t>
            </a:r>
            <a:r>
              <a:rPr lang="de-AT" dirty="0"/>
              <a:t> </a:t>
            </a:r>
            <a:r>
              <a:rPr lang="de-AT" dirty="0" err="1"/>
              <a:t>patterns</a:t>
            </a:r>
            <a:r>
              <a:rPr lang="de-AT" dirty="0"/>
              <a:t>, </a:t>
            </a:r>
            <a:r>
              <a:rPr lang="de-AT" dirty="0" err="1"/>
              <a:t>see</a:t>
            </a:r>
            <a:r>
              <a:rPr lang="de-AT" dirty="0"/>
              <a:t> ACF of </a:t>
            </a:r>
            <a:r>
              <a:rPr lang="de-AT" dirty="0" err="1"/>
              <a:t>residuals</a:t>
            </a:r>
            <a:endParaRPr lang="de-AT" dirty="0"/>
          </a:p>
          <a:p>
            <a:pPr marL="171450" indent="-171450">
              <a:buFontTx/>
              <a:buChar char="-"/>
            </a:pPr>
            <a:r>
              <a:rPr lang="de-AT" dirty="0" err="1"/>
              <a:t>Heteroskedasticity</a:t>
            </a:r>
            <a:r>
              <a:rPr lang="de-AT" dirty="0"/>
              <a:t> in QQ Plot and </a:t>
            </a:r>
            <a:r>
              <a:rPr lang="de-AT" dirty="0" err="1"/>
              <a:t>Residuals</a:t>
            </a:r>
            <a:r>
              <a:rPr lang="de-AT" dirty="0"/>
              <a:t> </a:t>
            </a:r>
            <a:r>
              <a:rPr lang="de-AT" dirty="0" err="1"/>
              <a:t>over</a:t>
            </a:r>
            <a:r>
              <a:rPr lang="de-AT" dirty="0"/>
              <a:t> time, Error </a:t>
            </a:r>
            <a:r>
              <a:rPr lang="de-AT" dirty="0" err="1"/>
              <a:t>variance</a:t>
            </a:r>
            <a:r>
              <a:rPr lang="de-AT" dirty="0"/>
              <a:t> not </a:t>
            </a:r>
            <a:r>
              <a:rPr lang="de-AT" dirty="0" err="1"/>
              <a:t>constant</a:t>
            </a:r>
            <a:r>
              <a:rPr lang="de-AT" dirty="0"/>
              <a:t> → CI </a:t>
            </a:r>
            <a:r>
              <a:rPr lang="de-AT" dirty="0" err="1"/>
              <a:t>widths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likely</a:t>
            </a:r>
            <a:r>
              <a:rPr lang="de-AT" dirty="0"/>
              <a:t> </a:t>
            </a:r>
            <a:r>
              <a:rPr lang="de-AT" dirty="0" err="1"/>
              <a:t>understimated</a:t>
            </a:r>
            <a:r>
              <a:rPr lang="de-AT" dirty="0"/>
              <a:t> </a:t>
            </a:r>
            <a:endParaRPr lang="de-A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de-A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E12148-3DDD-964B-A007-570D791B4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93606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3BA1-8956-4A81-37F5-76FF486B5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FFFDB17-F2DB-4EC4-BB4E-D600D8461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C556FAC-3915-95BA-F020-F0E60CB4F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56EA44-E6A3-9FAE-9F8D-8F656BD37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46361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47FBE-A740-54F4-6056-66DF4169C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A67D95-B45C-3C79-2FF1-B22C12AE8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7A44096-845C-3F66-4747-24A1BB480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AT" dirty="0" err="1"/>
              <a:t>You</a:t>
            </a:r>
            <a:r>
              <a:rPr lang="de-AT" dirty="0"/>
              <a:t> </a:t>
            </a:r>
            <a:r>
              <a:rPr lang="de-AT" dirty="0" err="1"/>
              <a:t>decompose</a:t>
            </a:r>
            <a:r>
              <a:rPr lang="de-AT" dirty="0"/>
              <a:t> a time </a:t>
            </a:r>
            <a:r>
              <a:rPr lang="de-AT" dirty="0" err="1"/>
              <a:t>series</a:t>
            </a:r>
            <a:r>
              <a:rPr lang="de-AT" dirty="0"/>
              <a:t> to </a:t>
            </a:r>
            <a:r>
              <a:rPr lang="de-AT" dirty="0" err="1"/>
              <a:t>get</a:t>
            </a:r>
            <a:r>
              <a:rPr lang="de-AT" dirty="0"/>
              <a:t> out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signal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noise</a:t>
            </a:r>
            <a:endParaRPr lang="de-AT" dirty="0"/>
          </a:p>
          <a:p>
            <a:pPr marL="628650" lvl="1" indent="-171450">
              <a:buFontTx/>
              <a:buChar char="-"/>
            </a:pPr>
            <a:r>
              <a:rPr lang="de-AT" dirty="0"/>
              <a:t>Signals in time </a:t>
            </a:r>
            <a:r>
              <a:rPr lang="de-AT" dirty="0" err="1"/>
              <a:t>series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trends</a:t>
            </a:r>
            <a:r>
              <a:rPr lang="de-AT" dirty="0"/>
              <a:t>, </a:t>
            </a:r>
            <a:r>
              <a:rPr lang="de-AT" dirty="0" err="1"/>
              <a:t>or</a:t>
            </a:r>
            <a:r>
              <a:rPr lang="de-AT" dirty="0"/>
              <a:t> </a:t>
            </a:r>
            <a:r>
              <a:rPr lang="de-AT" dirty="0" err="1"/>
              <a:t>seasonal</a:t>
            </a:r>
            <a:r>
              <a:rPr lang="de-AT" dirty="0"/>
              <a:t>/</a:t>
            </a:r>
            <a:r>
              <a:rPr lang="de-AT" dirty="0" err="1"/>
              <a:t>cyclic</a:t>
            </a:r>
            <a:r>
              <a:rPr lang="de-AT" dirty="0"/>
              <a:t> </a:t>
            </a:r>
            <a:r>
              <a:rPr lang="de-AT" dirty="0" err="1"/>
              <a:t>patterns</a:t>
            </a:r>
            <a:r>
              <a:rPr lang="de-AT" dirty="0"/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AT" dirty="0"/>
              <a:t>To </a:t>
            </a:r>
            <a:r>
              <a:rPr lang="de-AT" dirty="0" err="1"/>
              <a:t>decompose</a:t>
            </a:r>
            <a:r>
              <a:rPr lang="de-AT" dirty="0"/>
              <a:t> </a:t>
            </a:r>
            <a:r>
              <a:rPr lang="de-AT" dirty="0" err="1"/>
              <a:t>you</a:t>
            </a:r>
            <a:r>
              <a:rPr lang="de-AT" dirty="0"/>
              <a:t> </a:t>
            </a:r>
            <a:r>
              <a:rPr lang="de-AT" dirty="0" err="1"/>
              <a:t>first</a:t>
            </a:r>
            <a:r>
              <a:rPr lang="de-AT" dirty="0"/>
              <a:t> find out: </a:t>
            </a:r>
            <a:r>
              <a:rPr lang="de-AT" dirty="0" err="1"/>
              <a:t>How</a:t>
            </a:r>
            <a:r>
              <a:rPr lang="de-AT" dirty="0"/>
              <a:t> </a:t>
            </a:r>
            <a:r>
              <a:rPr lang="de-AT" dirty="0" err="1"/>
              <a:t>does</a:t>
            </a:r>
            <a:r>
              <a:rPr lang="de-AT" dirty="0"/>
              <a:t> </a:t>
            </a:r>
            <a:r>
              <a:rPr lang="de-AT" dirty="0" err="1"/>
              <a:t>volatility</a:t>
            </a:r>
            <a:r>
              <a:rPr lang="de-AT" dirty="0"/>
              <a:t> </a:t>
            </a:r>
            <a:r>
              <a:rPr lang="de-AT" dirty="0" err="1"/>
              <a:t>look</a:t>
            </a:r>
            <a:r>
              <a:rPr lang="de-AT" dirty="0"/>
              <a:t> </a:t>
            </a:r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mean</a:t>
            </a:r>
            <a:r>
              <a:rPr lang="de-AT" dirty="0"/>
              <a:t> </a:t>
            </a:r>
            <a:r>
              <a:rPr lang="de-AT" dirty="0" err="1"/>
              <a:t>increases</a:t>
            </a:r>
            <a:r>
              <a:rPr lang="de-AT" dirty="0"/>
              <a:t> / </a:t>
            </a:r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there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a </a:t>
            </a:r>
            <a:r>
              <a:rPr lang="de-AT" dirty="0" err="1"/>
              <a:t>trend</a:t>
            </a:r>
            <a:r>
              <a:rPr lang="de-AT" dirty="0"/>
              <a:t>?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volatility</a:t>
            </a:r>
            <a:r>
              <a:rPr lang="de-AT" dirty="0"/>
              <a:t> </a:t>
            </a:r>
            <a:r>
              <a:rPr lang="de-AT" dirty="0" err="1"/>
              <a:t>increases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mean</a:t>
            </a:r>
            <a:r>
              <a:rPr lang="de-AT" dirty="0"/>
              <a:t>, </a:t>
            </a:r>
            <a:r>
              <a:rPr lang="de-AT" dirty="0" err="1"/>
              <a:t>it´s</a:t>
            </a:r>
            <a:r>
              <a:rPr lang="de-AT" dirty="0"/>
              <a:t> </a:t>
            </a:r>
            <a:r>
              <a:rPr lang="de-AT" dirty="0" err="1"/>
              <a:t>most</a:t>
            </a:r>
            <a:r>
              <a:rPr lang="de-AT" dirty="0"/>
              <a:t> </a:t>
            </a:r>
            <a:r>
              <a:rPr lang="de-AT" dirty="0" err="1"/>
              <a:t>likely</a:t>
            </a:r>
            <a:r>
              <a:rPr lang="de-AT" dirty="0"/>
              <a:t> </a:t>
            </a:r>
            <a:r>
              <a:rPr lang="de-AT" dirty="0" err="1"/>
              <a:t>multiplicative</a:t>
            </a:r>
            <a:r>
              <a:rPr lang="de-AT" dirty="0"/>
              <a:t>, </a:t>
            </a:r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it</a:t>
            </a:r>
            <a:r>
              <a:rPr lang="de-AT" dirty="0"/>
              <a:t> </a:t>
            </a:r>
            <a:r>
              <a:rPr lang="de-AT" dirty="0" err="1"/>
              <a:t>stays</a:t>
            </a:r>
            <a:r>
              <a:rPr lang="de-AT" dirty="0"/>
              <a:t> </a:t>
            </a:r>
            <a:r>
              <a:rPr lang="de-AT" dirty="0" err="1"/>
              <a:t>constant</a:t>
            </a:r>
            <a:r>
              <a:rPr lang="de-AT" dirty="0"/>
              <a:t>, </a:t>
            </a:r>
            <a:r>
              <a:rPr lang="de-AT" dirty="0" err="1"/>
              <a:t>its</a:t>
            </a:r>
            <a:r>
              <a:rPr lang="de-AT" dirty="0"/>
              <a:t> </a:t>
            </a:r>
            <a:r>
              <a:rPr lang="de-AT" dirty="0" err="1"/>
              <a:t>most</a:t>
            </a:r>
            <a:r>
              <a:rPr lang="de-AT" dirty="0"/>
              <a:t> </a:t>
            </a:r>
            <a:r>
              <a:rPr lang="de-AT" dirty="0" err="1"/>
              <a:t>likely</a:t>
            </a:r>
            <a:r>
              <a:rPr lang="de-AT" dirty="0"/>
              <a:t> additive.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de-AT" dirty="0" err="1"/>
              <a:t>Two</a:t>
            </a:r>
            <a:r>
              <a:rPr lang="de-AT" dirty="0"/>
              <a:t> </a:t>
            </a:r>
            <a:r>
              <a:rPr lang="de-AT" dirty="0" err="1"/>
              <a:t>tests</a:t>
            </a:r>
            <a:r>
              <a:rPr lang="de-AT" dirty="0"/>
              <a:t> </a:t>
            </a:r>
            <a:r>
              <a:rPr lang="de-AT" dirty="0" err="1"/>
              <a:t>comparing</a:t>
            </a:r>
            <a:r>
              <a:rPr lang="de-AT" dirty="0"/>
              <a:t> additive and </a:t>
            </a:r>
            <a:r>
              <a:rPr lang="de-AT" dirty="0" err="1"/>
              <a:t>multiplicative</a:t>
            </a:r>
            <a:r>
              <a:rPr lang="de-AT" dirty="0"/>
              <a:t> </a:t>
            </a:r>
            <a:r>
              <a:rPr lang="de-AT" dirty="0" err="1"/>
              <a:t>models</a:t>
            </a:r>
            <a:r>
              <a:rPr lang="de-AT" dirty="0"/>
              <a:t>: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de-AT" dirty="0"/>
              <a:t>	1. See </a:t>
            </a:r>
            <a:r>
              <a:rPr lang="de-AT" dirty="0" err="1"/>
              <a:t>where</a:t>
            </a:r>
            <a:r>
              <a:rPr lang="de-AT" dirty="0"/>
              <a:t> </a:t>
            </a:r>
            <a:r>
              <a:rPr lang="de-AT" dirty="0" err="1"/>
              <a:t>residuals</a:t>
            </a:r>
            <a:r>
              <a:rPr lang="de-AT" dirty="0"/>
              <a:t> </a:t>
            </a:r>
            <a:r>
              <a:rPr lang="de-AT" dirty="0" err="1"/>
              <a:t>increase</a:t>
            </a:r>
            <a:r>
              <a:rPr lang="de-AT" dirty="0"/>
              <a:t> in </a:t>
            </a:r>
            <a:r>
              <a:rPr lang="de-AT" dirty="0" err="1"/>
              <a:t>trend</a:t>
            </a:r>
            <a:r>
              <a:rPr lang="de-AT" dirty="0"/>
              <a:t> an </a:t>
            </a:r>
            <a:r>
              <a:rPr lang="de-AT" dirty="0" err="1"/>
              <a:t>where</a:t>
            </a:r>
            <a:r>
              <a:rPr lang="de-AT" dirty="0"/>
              <a:t> </a:t>
            </a:r>
            <a:r>
              <a:rPr lang="de-AT" dirty="0" err="1"/>
              <a:t>they</a:t>
            </a:r>
            <a:r>
              <a:rPr lang="de-AT" dirty="0"/>
              <a:t> </a:t>
            </a:r>
            <a:r>
              <a:rPr lang="de-AT" dirty="0" err="1"/>
              <a:t>don´t</a:t>
            </a:r>
            <a:r>
              <a:rPr lang="de-AT" dirty="0"/>
              <a:t> (</a:t>
            </a:r>
            <a:r>
              <a:rPr lang="de-AT" dirty="0" err="1"/>
              <a:t>multiplicative</a:t>
            </a:r>
            <a:r>
              <a:rPr lang="de-AT" dirty="0"/>
              <a:t> </a:t>
            </a:r>
            <a:r>
              <a:rPr lang="de-AT" dirty="0" err="1"/>
              <a:t>model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marginally</a:t>
            </a:r>
            <a:r>
              <a:rPr lang="de-AT" dirty="0"/>
              <a:t> </a:t>
            </a:r>
            <a:r>
              <a:rPr lang="de-AT" dirty="0" err="1"/>
              <a:t>flatter</a:t>
            </a:r>
            <a:r>
              <a:rPr lang="de-AT" dirty="0"/>
              <a:t>).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de-AT" dirty="0"/>
              <a:t>	2. See </a:t>
            </a:r>
            <a:r>
              <a:rPr lang="de-AT" dirty="0" err="1"/>
              <a:t>where</a:t>
            </a:r>
            <a:r>
              <a:rPr lang="de-AT" dirty="0"/>
              <a:t> </a:t>
            </a:r>
            <a:r>
              <a:rPr lang="de-AT" dirty="0" err="1"/>
              <a:t>fewer</a:t>
            </a:r>
            <a:r>
              <a:rPr lang="de-AT" dirty="0"/>
              <a:t> </a:t>
            </a:r>
            <a:r>
              <a:rPr lang="de-AT" dirty="0" err="1"/>
              <a:t>residuals</a:t>
            </a:r>
            <a:r>
              <a:rPr lang="de-AT" dirty="0"/>
              <a:t> </a:t>
            </a:r>
            <a:r>
              <a:rPr lang="de-AT" dirty="0" err="1"/>
              <a:t>remain</a:t>
            </a:r>
            <a:r>
              <a:rPr lang="de-AT" dirty="0"/>
              <a:t> after </a:t>
            </a:r>
            <a:r>
              <a:rPr lang="de-AT" dirty="0" err="1"/>
              <a:t>accounting</a:t>
            </a:r>
            <a:r>
              <a:rPr lang="de-AT" dirty="0"/>
              <a:t> for </a:t>
            </a:r>
            <a:r>
              <a:rPr lang="de-AT" dirty="0" err="1"/>
              <a:t>trend</a:t>
            </a:r>
            <a:r>
              <a:rPr lang="de-AT" dirty="0"/>
              <a:t> and </a:t>
            </a:r>
            <a:r>
              <a:rPr lang="de-AT" dirty="0" err="1"/>
              <a:t>seasonality</a:t>
            </a:r>
            <a:r>
              <a:rPr lang="de-AT" dirty="0"/>
              <a:t> (</a:t>
            </a:r>
            <a:r>
              <a:rPr lang="de-AT" dirty="0" err="1"/>
              <a:t>multiplicative</a:t>
            </a:r>
            <a:r>
              <a:rPr lang="de-AT" dirty="0"/>
              <a:t> </a:t>
            </a:r>
            <a:r>
              <a:rPr lang="de-AT" dirty="0" err="1"/>
              <a:t>model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better</a:t>
            </a:r>
            <a:r>
              <a:rPr lang="de-AT" dirty="0"/>
              <a:t>).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de-AT" b="1" dirty="0" err="1"/>
              <a:t>Electricity</a:t>
            </a:r>
            <a:r>
              <a:rPr lang="de-AT" b="1" dirty="0"/>
              <a:t> Price </a:t>
            </a:r>
            <a:r>
              <a:rPr lang="de-AT" b="1" dirty="0" err="1"/>
              <a:t>is</a:t>
            </a:r>
            <a:r>
              <a:rPr lang="de-AT" b="1" dirty="0"/>
              <a:t> </a:t>
            </a:r>
            <a:r>
              <a:rPr lang="de-AT" b="1" dirty="0" err="1"/>
              <a:t>multiplicative</a:t>
            </a:r>
            <a:r>
              <a:rPr lang="de-AT" b="1" dirty="0"/>
              <a:t> -&gt; </a:t>
            </a:r>
            <a:r>
              <a:rPr lang="de-AT" b="1" dirty="0" err="1"/>
              <a:t>can</a:t>
            </a:r>
            <a:r>
              <a:rPr lang="de-AT" b="1" dirty="0"/>
              <a:t> </a:t>
            </a:r>
            <a:r>
              <a:rPr lang="de-AT" b="1" dirty="0" err="1"/>
              <a:t>be</a:t>
            </a:r>
            <a:r>
              <a:rPr lang="de-AT" b="1" dirty="0"/>
              <a:t> </a:t>
            </a:r>
            <a:r>
              <a:rPr lang="de-AT" b="1" dirty="0" err="1"/>
              <a:t>seen</a:t>
            </a:r>
            <a:r>
              <a:rPr lang="de-AT" b="1" dirty="0"/>
              <a:t> in </a:t>
            </a:r>
            <a:r>
              <a:rPr lang="de-AT" b="1" dirty="0" err="1"/>
              <a:t>increasing</a:t>
            </a:r>
            <a:r>
              <a:rPr lang="de-AT" b="1" dirty="0"/>
              <a:t> </a:t>
            </a:r>
            <a:r>
              <a:rPr lang="de-AT" b="1" dirty="0" err="1"/>
              <a:t>volatility</a:t>
            </a:r>
            <a:r>
              <a:rPr lang="de-AT" b="1" dirty="0"/>
              <a:t> </a:t>
            </a:r>
            <a:r>
              <a:rPr lang="de-AT" b="1" dirty="0" err="1"/>
              <a:t>with</a:t>
            </a:r>
            <a:r>
              <a:rPr lang="de-AT" b="1" dirty="0"/>
              <a:t> </a:t>
            </a:r>
            <a:r>
              <a:rPr lang="de-AT" b="1" dirty="0" err="1"/>
              <a:t>increasing</a:t>
            </a:r>
            <a:r>
              <a:rPr lang="de-AT" b="1" dirty="0"/>
              <a:t> </a:t>
            </a:r>
            <a:r>
              <a:rPr lang="de-AT" b="1" dirty="0" err="1"/>
              <a:t>means</a:t>
            </a:r>
            <a:r>
              <a:rPr lang="de-AT" b="1" dirty="0"/>
              <a:t> in all </a:t>
            </a:r>
            <a:r>
              <a:rPr lang="de-AT" b="1" dirty="0" err="1"/>
              <a:t>three</a:t>
            </a:r>
            <a:r>
              <a:rPr lang="de-AT" b="1" dirty="0"/>
              <a:t> </a:t>
            </a:r>
            <a:r>
              <a:rPr lang="de-AT" b="1" dirty="0" err="1"/>
              <a:t>phases</a:t>
            </a:r>
            <a:endParaRPr lang="de-AT" b="1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de-AT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AT" dirty="0" err="1"/>
              <a:t>Then</a:t>
            </a:r>
            <a:r>
              <a:rPr lang="de-AT" dirty="0"/>
              <a:t>: </a:t>
            </a:r>
            <a:r>
              <a:rPr lang="de-AT" dirty="0" err="1"/>
              <a:t>Decomposition</a:t>
            </a:r>
            <a:r>
              <a:rPr lang="de-AT" dirty="0"/>
              <a:t> Trend Analysis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de-DE" dirty="0"/>
              <a:t>Panel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de-DE" dirty="0"/>
              <a:t>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de-DE" dirty="0"/>
              <a:t> Trend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:**</a:t>
            </a:r>
            <a:r>
              <a:rPr lang="de-DE" dirty="0"/>
              <a:t>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de-DE" dirty="0"/>
              <a:t>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„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decomposition_mult.trend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12m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And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massive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de-DE" dirty="0"/>
              <a:t>Panel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de-DE" dirty="0"/>
              <a:t>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de-DE" dirty="0"/>
              <a:t> </a:t>
            </a:r>
            <a:r>
              <a:rPr lang="de-DE" dirty="0" err="1"/>
              <a:t>Seasonal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:**</a:t>
            </a:r>
            <a:r>
              <a:rPr lang="de-DE" dirty="0"/>
              <a:t>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de-DE" dirty="0"/>
              <a:t>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„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decomposition_mult.seasonal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produces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seasonal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component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Winter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15%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Trend (1.15), Summer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25%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below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(0.75). 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de-DE" dirty="0"/>
              <a:t>Panel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de-DE" dirty="0"/>
              <a:t>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de-DE" dirty="0"/>
              <a:t> </a:t>
            </a:r>
            <a:r>
              <a:rPr lang="de-DE" dirty="0" err="1"/>
              <a:t>Residuals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:**</a:t>
            </a:r>
            <a:r>
              <a:rPr lang="de-DE" dirty="0"/>
              <a:t>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de-DE" dirty="0"/>
              <a:t>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„The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residuals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unexplained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movements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stable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periods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0,8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1,2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around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shock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deviations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80%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So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after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accounting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trend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seasonality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massive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residuals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explained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SARIMA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dummies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 additional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estimate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i.e.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overfitting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</a:t>
            </a:r>
            <a:endParaRPr lang="de-AT" dirty="0"/>
          </a:p>
          <a:p>
            <a:pPr marL="628650" lvl="1" indent="-171450">
              <a:buFontTx/>
              <a:buChar char="-"/>
            </a:pP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4B118C-C67B-2B1A-6565-334E61A7A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764052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4A4B2-5EF9-49CA-CC2D-B3DB5323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1E02E51-C6E2-10BD-B872-02C094449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325CB95-28E8-909B-8596-E2B82D305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de-AT" dirty="0"/>
              <a:t>So, ARIMA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models</a:t>
            </a:r>
            <a:r>
              <a:rPr lang="de-AT" dirty="0"/>
              <a:t> </a:t>
            </a:r>
            <a:r>
              <a:rPr lang="de-AT" dirty="0" err="1"/>
              <a:t>written</a:t>
            </a:r>
            <a:r>
              <a:rPr lang="de-AT" dirty="0"/>
              <a:t> p, d, q</a:t>
            </a:r>
          </a:p>
          <a:p>
            <a:pPr marL="0" indent="0">
              <a:buFontTx/>
              <a:buNone/>
            </a:pPr>
            <a:r>
              <a:rPr lang="de-AT" dirty="0"/>
              <a:t>p… Autoregressive lag </a:t>
            </a:r>
            <a:r>
              <a:rPr lang="de-AT" dirty="0" err="1"/>
              <a:t>terms</a:t>
            </a:r>
            <a:endParaRPr lang="de-AT" dirty="0"/>
          </a:p>
          <a:p>
            <a:pPr marL="0" indent="0">
              <a:buFontTx/>
              <a:buNone/>
            </a:pPr>
            <a:r>
              <a:rPr lang="de-AT" dirty="0"/>
              <a:t>d… </a:t>
            </a:r>
            <a:r>
              <a:rPr lang="de-AT" dirty="0" err="1"/>
              <a:t>differentiation</a:t>
            </a:r>
            <a:r>
              <a:rPr lang="de-AT" dirty="0"/>
              <a:t> (</a:t>
            </a:r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you</a:t>
            </a:r>
            <a:r>
              <a:rPr lang="de-AT" dirty="0"/>
              <a:t> </a:t>
            </a:r>
            <a:r>
              <a:rPr lang="de-AT" dirty="0" err="1"/>
              <a:t>have</a:t>
            </a:r>
            <a:r>
              <a:rPr lang="de-AT" dirty="0"/>
              <a:t> non-</a:t>
            </a:r>
            <a:r>
              <a:rPr lang="de-AT" dirty="0" err="1"/>
              <a:t>stationary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)</a:t>
            </a:r>
          </a:p>
          <a:p>
            <a:pPr marL="0" indent="0">
              <a:buFontTx/>
              <a:buNone/>
            </a:pPr>
            <a:r>
              <a:rPr lang="de-AT" dirty="0"/>
              <a:t>q… Moving </a:t>
            </a:r>
            <a:r>
              <a:rPr lang="de-AT" dirty="0" err="1"/>
              <a:t>average</a:t>
            </a:r>
            <a:r>
              <a:rPr lang="de-AT" dirty="0"/>
              <a:t> lag </a:t>
            </a:r>
            <a:r>
              <a:rPr lang="de-AT" dirty="0" err="1"/>
              <a:t>terms</a:t>
            </a:r>
            <a:endParaRPr lang="de-AT" dirty="0"/>
          </a:p>
          <a:p>
            <a:pPr marL="0" indent="0">
              <a:buFontTx/>
              <a:buNone/>
            </a:pPr>
            <a:endParaRPr lang="de-AT" dirty="0"/>
          </a:p>
          <a:p>
            <a:pPr marL="0" indent="0">
              <a:buFontTx/>
              <a:buNone/>
            </a:pPr>
            <a:r>
              <a:rPr lang="de-AT" dirty="0"/>
              <a:t>And </a:t>
            </a:r>
            <a:r>
              <a:rPr lang="de-AT" dirty="0" err="1"/>
              <a:t>you</a:t>
            </a:r>
            <a:r>
              <a:rPr lang="de-AT" dirty="0"/>
              <a:t> </a:t>
            </a:r>
            <a:r>
              <a:rPr lang="de-AT" dirty="0" err="1"/>
              <a:t>need</a:t>
            </a:r>
            <a:r>
              <a:rPr lang="de-AT" dirty="0"/>
              <a:t> to </a:t>
            </a:r>
            <a:r>
              <a:rPr lang="de-AT" dirty="0" err="1"/>
              <a:t>determine</a:t>
            </a:r>
            <a:r>
              <a:rPr lang="de-AT" dirty="0"/>
              <a:t>, </a:t>
            </a:r>
            <a:r>
              <a:rPr lang="de-AT" dirty="0" err="1"/>
              <a:t>how</a:t>
            </a:r>
            <a:r>
              <a:rPr lang="de-AT" dirty="0"/>
              <a:t> to </a:t>
            </a:r>
            <a:r>
              <a:rPr lang="de-AT" dirty="0" err="1"/>
              <a:t>model</a:t>
            </a:r>
            <a:r>
              <a:rPr lang="de-AT" dirty="0"/>
              <a:t> </a:t>
            </a:r>
            <a:r>
              <a:rPr lang="de-AT" dirty="0" err="1"/>
              <a:t>your</a:t>
            </a:r>
            <a:r>
              <a:rPr lang="de-AT" dirty="0"/>
              <a:t> </a:t>
            </a:r>
            <a:r>
              <a:rPr lang="de-AT" dirty="0" err="1"/>
              <a:t>predictions</a:t>
            </a:r>
            <a:r>
              <a:rPr lang="de-AT" dirty="0"/>
              <a:t> best.</a:t>
            </a:r>
          </a:p>
          <a:p>
            <a:pPr marL="0" indent="0">
              <a:buFontTx/>
              <a:buNone/>
            </a:pPr>
            <a:endParaRPr lang="de-AT" dirty="0"/>
          </a:p>
          <a:p>
            <a:pPr marL="0" indent="0">
              <a:buFontTx/>
              <a:buNone/>
            </a:pPr>
            <a:r>
              <a:rPr lang="de-AT" dirty="0"/>
              <a:t>I </a:t>
            </a:r>
            <a:r>
              <a:rPr lang="de-AT" dirty="0" err="1"/>
              <a:t>tested</a:t>
            </a:r>
            <a:r>
              <a:rPr lang="de-AT" dirty="0"/>
              <a:t> </a:t>
            </a:r>
            <a:r>
              <a:rPr lang="de-AT" dirty="0" err="1"/>
              <a:t>both</a:t>
            </a:r>
            <a:r>
              <a:rPr lang="de-AT" dirty="0"/>
              <a:t> </a:t>
            </a:r>
            <a:r>
              <a:rPr lang="de-AT" dirty="0" err="1"/>
              <a:t>models</a:t>
            </a:r>
            <a:r>
              <a:rPr lang="de-AT" dirty="0"/>
              <a:t> for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complete</a:t>
            </a:r>
            <a:r>
              <a:rPr lang="de-AT" dirty="0"/>
              <a:t> </a:t>
            </a:r>
            <a:r>
              <a:rPr lang="de-AT" dirty="0" err="1"/>
              <a:t>series</a:t>
            </a:r>
            <a:r>
              <a:rPr lang="de-AT" dirty="0"/>
              <a:t> and a </a:t>
            </a:r>
            <a:r>
              <a:rPr lang="de-AT" dirty="0" err="1"/>
              <a:t>reduced</a:t>
            </a:r>
            <a:r>
              <a:rPr lang="de-AT" dirty="0"/>
              <a:t> </a:t>
            </a:r>
            <a:r>
              <a:rPr lang="de-AT" dirty="0" err="1"/>
              <a:t>model</a:t>
            </a:r>
            <a:r>
              <a:rPr lang="de-AT" dirty="0"/>
              <a:t> </a:t>
            </a:r>
            <a:r>
              <a:rPr lang="de-AT" dirty="0" err="1"/>
              <a:t>over</a:t>
            </a:r>
            <a:r>
              <a:rPr lang="de-AT" dirty="0"/>
              <a:t> </a:t>
            </a:r>
            <a:r>
              <a:rPr lang="de-AT" dirty="0" err="1"/>
              <a:t>part</a:t>
            </a:r>
            <a:r>
              <a:rPr lang="de-AT" dirty="0"/>
              <a:t> of </a:t>
            </a:r>
            <a:r>
              <a:rPr lang="de-AT" dirty="0" err="1"/>
              <a:t>the</a:t>
            </a:r>
            <a:r>
              <a:rPr lang="de-AT" dirty="0"/>
              <a:t> non-</a:t>
            </a:r>
            <a:r>
              <a:rPr lang="de-AT" dirty="0" err="1"/>
              <a:t>stationary</a:t>
            </a:r>
            <a:r>
              <a:rPr lang="de-AT" dirty="0"/>
              <a:t> and </a:t>
            </a:r>
            <a:r>
              <a:rPr lang="de-AT" dirty="0" err="1"/>
              <a:t>the</a:t>
            </a:r>
            <a:r>
              <a:rPr lang="de-AT" dirty="0"/>
              <a:t> last </a:t>
            </a:r>
            <a:r>
              <a:rPr lang="de-AT" dirty="0" err="1"/>
              <a:t>stationary</a:t>
            </a:r>
            <a:r>
              <a:rPr lang="de-AT" dirty="0"/>
              <a:t> </a:t>
            </a:r>
            <a:r>
              <a:rPr lang="de-AT" dirty="0" err="1"/>
              <a:t>period</a:t>
            </a:r>
            <a:r>
              <a:rPr lang="de-AT" dirty="0"/>
              <a:t> to </a:t>
            </a:r>
            <a:r>
              <a:rPr lang="de-AT" dirty="0" err="1"/>
              <a:t>see</a:t>
            </a:r>
            <a:r>
              <a:rPr lang="de-AT" dirty="0"/>
              <a:t> </a:t>
            </a:r>
            <a:r>
              <a:rPr lang="de-AT" dirty="0" err="1"/>
              <a:t>what</a:t>
            </a:r>
            <a:r>
              <a:rPr lang="de-AT" dirty="0"/>
              <a:t> </a:t>
            </a:r>
            <a:r>
              <a:rPr lang="de-AT" dirty="0" err="1"/>
              <a:t>works</a:t>
            </a:r>
            <a:r>
              <a:rPr lang="de-AT" dirty="0"/>
              <a:t> </a:t>
            </a:r>
            <a:r>
              <a:rPr lang="de-AT" dirty="0" err="1"/>
              <a:t>better</a:t>
            </a:r>
            <a:r>
              <a:rPr lang="de-AT" dirty="0"/>
              <a:t>.</a:t>
            </a:r>
          </a:p>
          <a:p>
            <a:pPr marL="0" indent="0">
              <a:buFontTx/>
              <a:buNone/>
            </a:pPr>
            <a:r>
              <a:rPr lang="de-AT" dirty="0"/>
              <a:t>I </a:t>
            </a:r>
            <a:r>
              <a:rPr lang="de-AT" dirty="0" err="1"/>
              <a:t>differentiated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complete</a:t>
            </a:r>
            <a:r>
              <a:rPr lang="de-AT" dirty="0"/>
              <a:t> </a:t>
            </a:r>
            <a:r>
              <a:rPr lang="de-AT" dirty="0" err="1"/>
              <a:t>series</a:t>
            </a:r>
            <a:r>
              <a:rPr lang="de-AT" dirty="0"/>
              <a:t> for ACF and PACF (</a:t>
            </a:r>
            <a:r>
              <a:rPr lang="de-AT" dirty="0" err="1"/>
              <a:t>that´s</a:t>
            </a:r>
            <a:r>
              <a:rPr lang="de-AT" dirty="0"/>
              <a:t> </a:t>
            </a:r>
            <a:r>
              <a:rPr lang="de-AT" dirty="0" err="1"/>
              <a:t>why</a:t>
            </a:r>
            <a:r>
              <a:rPr lang="de-AT" dirty="0"/>
              <a:t> i </a:t>
            </a:r>
            <a:r>
              <a:rPr lang="de-AT" dirty="0" err="1"/>
              <a:t>only</a:t>
            </a:r>
            <a:r>
              <a:rPr lang="de-AT" dirty="0"/>
              <a:t> </a:t>
            </a:r>
            <a:r>
              <a:rPr lang="de-AT" dirty="0" err="1"/>
              <a:t>have</a:t>
            </a:r>
            <a:r>
              <a:rPr lang="de-AT" dirty="0"/>
              <a:t> n=127, </a:t>
            </a:r>
            <a:r>
              <a:rPr lang="de-AT" dirty="0" err="1"/>
              <a:t>differencing</a:t>
            </a:r>
            <a:r>
              <a:rPr lang="de-AT" dirty="0"/>
              <a:t> </a:t>
            </a:r>
            <a:r>
              <a:rPr lang="de-AT" dirty="0" err="1"/>
              <a:t>costs</a:t>
            </a:r>
            <a:r>
              <a:rPr lang="de-AT" dirty="0"/>
              <a:t> </a:t>
            </a:r>
            <a:r>
              <a:rPr lang="de-AT" dirty="0" err="1"/>
              <a:t>you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point</a:t>
            </a:r>
            <a:r>
              <a:rPr lang="de-AT" dirty="0"/>
              <a:t> </a:t>
            </a:r>
            <a:r>
              <a:rPr lang="de-AT" dirty="0" err="1"/>
              <a:t>you</a:t>
            </a:r>
            <a:r>
              <a:rPr lang="de-AT" dirty="0"/>
              <a:t> </a:t>
            </a:r>
            <a:r>
              <a:rPr lang="de-AT" dirty="0" err="1"/>
              <a:t>use</a:t>
            </a:r>
            <a:r>
              <a:rPr lang="de-AT" dirty="0"/>
              <a:t> to </a:t>
            </a:r>
            <a:r>
              <a:rPr lang="de-AT" dirty="0" err="1"/>
              <a:t>establish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differences</a:t>
            </a:r>
            <a:r>
              <a:rPr lang="de-AT" dirty="0"/>
              <a:t>)</a:t>
            </a:r>
          </a:p>
          <a:p>
            <a:pPr marL="0" indent="0">
              <a:buFontTx/>
              <a:buNone/>
            </a:pPr>
            <a:r>
              <a:rPr lang="de-AT" dirty="0"/>
              <a:t>For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reduced</a:t>
            </a:r>
            <a:r>
              <a:rPr lang="de-AT" dirty="0"/>
              <a:t> </a:t>
            </a:r>
            <a:r>
              <a:rPr lang="de-AT" dirty="0" err="1"/>
              <a:t>model</a:t>
            </a:r>
            <a:r>
              <a:rPr lang="de-AT" dirty="0"/>
              <a:t> i </a:t>
            </a:r>
            <a:r>
              <a:rPr lang="de-AT" dirty="0" err="1"/>
              <a:t>differentiated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shock</a:t>
            </a:r>
            <a:r>
              <a:rPr lang="de-AT" dirty="0"/>
              <a:t> </a:t>
            </a:r>
            <a:r>
              <a:rPr lang="de-AT" dirty="0" err="1"/>
              <a:t>period</a:t>
            </a:r>
            <a:r>
              <a:rPr lang="de-AT" dirty="0"/>
              <a:t> </a:t>
            </a:r>
            <a:r>
              <a:rPr lang="de-AT" dirty="0" err="1"/>
              <a:t>only</a:t>
            </a:r>
            <a:r>
              <a:rPr lang="de-AT" dirty="0"/>
              <a:t>.</a:t>
            </a:r>
          </a:p>
          <a:p>
            <a:pPr marL="0" indent="0">
              <a:buFontTx/>
              <a:buNone/>
            </a:pPr>
            <a:endParaRPr lang="de-A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ACF: </a:t>
            </a:r>
            <a:r>
              <a:rPr lang="de-AT" dirty="0" err="1"/>
              <a:t>shows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total </a:t>
            </a:r>
            <a:r>
              <a:rPr lang="de-AT" dirty="0" err="1"/>
              <a:t>correlation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earlier</a:t>
            </a:r>
            <a:r>
              <a:rPr lang="de-AT" dirty="0"/>
              <a:t> </a:t>
            </a:r>
            <a:r>
              <a:rPr lang="de-AT" dirty="0" err="1"/>
              <a:t>prices</a:t>
            </a:r>
            <a:r>
              <a:rPr lang="de-AT" dirty="0"/>
              <a:t> </a:t>
            </a:r>
            <a:r>
              <a:rPr lang="de-AT" dirty="0" err="1"/>
              <a:t>have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my</a:t>
            </a:r>
            <a:r>
              <a:rPr lang="de-AT" dirty="0"/>
              <a:t> </a:t>
            </a:r>
            <a:r>
              <a:rPr lang="de-AT" dirty="0" err="1"/>
              <a:t>current</a:t>
            </a:r>
            <a:r>
              <a:rPr lang="de-AT" dirty="0"/>
              <a:t> </a:t>
            </a:r>
            <a:r>
              <a:rPr lang="de-AT" dirty="0" err="1"/>
              <a:t>price</a:t>
            </a:r>
            <a:r>
              <a:rPr lang="de-AT" dirty="0"/>
              <a:t>, but </a:t>
            </a:r>
            <a:r>
              <a:rPr lang="de-AT" dirty="0" err="1"/>
              <a:t>thaincludes</a:t>
            </a:r>
            <a:r>
              <a:rPr lang="de-AT" dirty="0"/>
              <a:t> </a:t>
            </a:r>
            <a:r>
              <a:rPr lang="de-AT" dirty="0" err="1"/>
              <a:t>both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direct</a:t>
            </a:r>
            <a:r>
              <a:rPr lang="de-AT" dirty="0"/>
              <a:t> </a:t>
            </a:r>
            <a:r>
              <a:rPr lang="de-AT" dirty="0" err="1"/>
              <a:t>effect</a:t>
            </a:r>
            <a:r>
              <a:rPr lang="de-AT" dirty="0"/>
              <a:t> of an </a:t>
            </a:r>
            <a:r>
              <a:rPr lang="de-AT" dirty="0" err="1"/>
              <a:t>earlier</a:t>
            </a:r>
            <a:r>
              <a:rPr lang="de-AT" dirty="0"/>
              <a:t> </a:t>
            </a:r>
            <a:r>
              <a:rPr lang="de-AT" dirty="0" err="1"/>
              <a:t>price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</a:t>
            </a:r>
            <a:r>
              <a:rPr lang="de-AT" dirty="0" err="1"/>
              <a:t>well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indirect</a:t>
            </a:r>
            <a:r>
              <a:rPr lang="de-AT" dirty="0"/>
              <a:t> </a:t>
            </a:r>
            <a:r>
              <a:rPr lang="de-AT" dirty="0" err="1"/>
              <a:t>effects</a:t>
            </a:r>
            <a:r>
              <a:rPr lang="de-AT" dirty="0"/>
              <a:t> via all </a:t>
            </a:r>
            <a:r>
              <a:rPr lang="de-AT" dirty="0" err="1"/>
              <a:t>prices</a:t>
            </a:r>
            <a:r>
              <a:rPr lang="de-AT" dirty="0"/>
              <a:t> </a:t>
            </a:r>
            <a:r>
              <a:rPr lang="de-AT" dirty="0" err="1"/>
              <a:t>up</a:t>
            </a:r>
            <a:r>
              <a:rPr lang="de-AT" dirty="0"/>
              <a:t> to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current</a:t>
            </a:r>
            <a:r>
              <a:rPr lang="de-AT" dirty="0"/>
              <a:t> </a:t>
            </a:r>
            <a:r>
              <a:rPr lang="de-AT" dirty="0" err="1"/>
              <a:t>one</a:t>
            </a:r>
            <a:r>
              <a:rPr lang="de-AT" dirty="0"/>
              <a:t>.</a:t>
            </a:r>
            <a:br>
              <a:rPr lang="de-AT" baseline="0" dirty="0"/>
            </a:br>
            <a:r>
              <a:rPr lang="de-AT" baseline="0" dirty="0" err="1"/>
              <a:t>They</a:t>
            </a:r>
            <a:r>
              <a:rPr lang="de-AT" baseline="0" dirty="0"/>
              <a:t> </a:t>
            </a:r>
            <a:r>
              <a:rPr lang="de-AT" baseline="0" dirty="0" err="1"/>
              <a:t>are</a:t>
            </a:r>
            <a:r>
              <a:rPr lang="de-AT" baseline="0" dirty="0"/>
              <a:t> </a:t>
            </a:r>
            <a:r>
              <a:rPr lang="de-AT" baseline="0" dirty="0" err="1"/>
              <a:t>cumulative</a:t>
            </a:r>
            <a:r>
              <a:rPr lang="de-AT" baseline="0" dirty="0"/>
              <a:t>. </a:t>
            </a:r>
            <a:r>
              <a:rPr lang="de-AT" dirty="0"/>
              <a:t>So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further</a:t>
            </a:r>
            <a:r>
              <a:rPr lang="de-AT" dirty="0"/>
              <a:t> </a:t>
            </a:r>
            <a:r>
              <a:rPr lang="de-AT" dirty="0" err="1"/>
              <a:t>you</a:t>
            </a:r>
            <a:r>
              <a:rPr lang="de-AT" dirty="0"/>
              <a:t> </a:t>
            </a:r>
            <a:r>
              <a:rPr lang="de-AT" dirty="0" err="1"/>
              <a:t>go</a:t>
            </a:r>
            <a:r>
              <a:rPr lang="de-AT" dirty="0"/>
              <a:t> 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back,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influence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„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watered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down“,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decays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PACF: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dirty="0" err="1"/>
              <a:t>correlation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earlier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price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price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Directly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inf. Of t-3 on t</a:t>
            </a:r>
            <a:r>
              <a:rPr lang="de-AT" sz="1200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t-4 on t</a:t>
            </a:r>
            <a:r>
              <a:rPr lang="de-AT" sz="1200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AT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de-A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</a:t>
            </a:r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prevalent</a:t>
            </a:r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rule</a:t>
            </a:r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de-A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thumb</a:t>
            </a:r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de-A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found</a:t>
            </a:r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was:</a:t>
            </a:r>
            <a:b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 AR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at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last lag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cuts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sharply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PACF,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ACF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decays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time.</a:t>
            </a:r>
          </a:p>
          <a:p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 MA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last lag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cuts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sharply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ACF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PACF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decays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ARMA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complex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behavior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decays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de-A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</a:t>
            </a:r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did</a:t>
            </a:r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de-A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</a:t>
            </a:r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rule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thumb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wasn´t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very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helpful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messy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real-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differentiated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series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showed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very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similar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patterns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both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cases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but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significant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coeff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at lag 2.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10C466B-96D6-973A-1009-0540A3E18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12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35998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1D8DE-639A-B95B-95D4-107C1E44C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B6A2862-8DBC-876E-8B11-9EB21D70A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04B4A24-3B82-4AEA-5918-2855DEC94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de-AT" dirty="0"/>
              <a:t>My </a:t>
            </a:r>
            <a:r>
              <a:rPr lang="de-AT" dirty="0" err="1"/>
              <a:t>test</a:t>
            </a:r>
            <a:r>
              <a:rPr lang="de-AT" dirty="0"/>
              <a:t> </a:t>
            </a:r>
            <a:r>
              <a:rPr lang="de-AT" dirty="0" err="1"/>
              <a:t>period</a:t>
            </a:r>
            <a:r>
              <a:rPr lang="de-AT" dirty="0"/>
              <a:t> </a:t>
            </a:r>
            <a:r>
              <a:rPr lang="de-AT" dirty="0" err="1"/>
              <a:t>has</a:t>
            </a:r>
            <a:r>
              <a:rPr lang="de-AT" dirty="0"/>
              <a:t> </a:t>
            </a:r>
            <a:r>
              <a:rPr lang="de-AT" dirty="0" err="1"/>
              <a:t>both</a:t>
            </a:r>
            <a:r>
              <a:rPr lang="de-AT" dirty="0"/>
              <a:t> a non-</a:t>
            </a:r>
            <a:r>
              <a:rPr lang="de-AT" dirty="0" err="1"/>
              <a:t>stationary</a:t>
            </a:r>
            <a:r>
              <a:rPr lang="de-AT" dirty="0"/>
              <a:t> and a </a:t>
            </a:r>
            <a:r>
              <a:rPr lang="de-AT" dirty="0" err="1"/>
              <a:t>stationary</a:t>
            </a:r>
            <a:r>
              <a:rPr lang="de-AT" dirty="0"/>
              <a:t> </a:t>
            </a:r>
            <a:r>
              <a:rPr lang="de-AT" dirty="0" err="1"/>
              <a:t>component</a:t>
            </a:r>
            <a:r>
              <a:rPr lang="de-AT" dirty="0"/>
              <a:t>. </a:t>
            </a:r>
          </a:p>
          <a:p>
            <a:pPr marL="0" indent="0">
              <a:buFontTx/>
              <a:buNone/>
            </a:pPr>
            <a:r>
              <a:rPr lang="de-AT" dirty="0"/>
              <a:t>The non-</a:t>
            </a:r>
            <a:r>
              <a:rPr lang="de-AT" dirty="0" err="1"/>
              <a:t>stationary</a:t>
            </a:r>
            <a:r>
              <a:rPr lang="de-AT" dirty="0"/>
              <a:t> </a:t>
            </a:r>
            <a:r>
              <a:rPr lang="de-AT" dirty="0" err="1"/>
              <a:t>component</a:t>
            </a:r>
            <a:r>
              <a:rPr lang="de-AT" dirty="0"/>
              <a:t> for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shock-period</a:t>
            </a:r>
            <a:r>
              <a:rPr lang="de-AT" dirty="0"/>
              <a:t> </a:t>
            </a:r>
            <a:r>
              <a:rPr lang="de-AT" dirty="0" err="1"/>
              <a:t>looks</a:t>
            </a:r>
            <a:r>
              <a:rPr lang="de-AT" dirty="0"/>
              <a:t> a </a:t>
            </a:r>
            <a:r>
              <a:rPr lang="de-AT" dirty="0" err="1"/>
              <a:t>lot</a:t>
            </a:r>
            <a:r>
              <a:rPr lang="de-AT" dirty="0"/>
              <a:t> like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complete</a:t>
            </a:r>
            <a:r>
              <a:rPr lang="de-AT" dirty="0"/>
              <a:t> time </a:t>
            </a:r>
            <a:r>
              <a:rPr lang="de-AT" dirty="0" err="1"/>
              <a:t>series</a:t>
            </a:r>
            <a:r>
              <a:rPr lang="de-AT" dirty="0"/>
              <a:t>, </a:t>
            </a:r>
            <a:r>
              <a:rPr lang="de-AT" dirty="0" err="1"/>
              <a:t>with</a:t>
            </a:r>
            <a:r>
              <a:rPr lang="de-AT" dirty="0"/>
              <a:t> a </a:t>
            </a:r>
            <a:r>
              <a:rPr lang="de-AT" dirty="0" err="1"/>
              <a:t>sig</a:t>
            </a:r>
            <a:r>
              <a:rPr lang="de-AT" dirty="0"/>
              <a:t>. negative </a:t>
            </a:r>
            <a:r>
              <a:rPr lang="de-AT" dirty="0" err="1"/>
              <a:t>coefficient</a:t>
            </a:r>
            <a:r>
              <a:rPr lang="de-AT" dirty="0"/>
              <a:t> at lag 2. </a:t>
            </a:r>
          </a:p>
          <a:p>
            <a:pPr marL="0" indent="0">
              <a:buFontTx/>
              <a:buNone/>
            </a:pPr>
            <a:r>
              <a:rPr lang="de-AT" dirty="0"/>
              <a:t>(i </a:t>
            </a:r>
            <a:r>
              <a:rPr lang="de-AT" dirty="0" err="1"/>
              <a:t>only</a:t>
            </a:r>
            <a:r>
              <a:rPr lang="de-AT" dirty="0"/>
              <a:t> </a:t>
            </a:r>
            <a:r>
              <a:rPr lang="de-AT" dirty="0" err="1"/>
              <a:t>have</a:t>
            </a:r>
            <a:r>
              <a:rPr lang="de-AT" dirty="0"/>
              <a:t> n=25 in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shock</a:t>
            </a:r>
            <a:r>
              <a:rPr lang="de-AT" dirty="0"/>
              <a:t> </a:t>
            </a:r>
            <a:r>
              <a:rPr lang="de-AT" dirty="0" err="1"/>
              <a:t>period</a:t>
            </a:r>
            <a:r>
              <a:rPr lang="de-AT" dirty="0"/>
              <a:t>, </a:t>
            </a:r>
            <a:r>
              <a:rPr lang="de-AT" dirty="0" err="1"/>
              <a:t>differencing</a:t>
            </a:r>
            <a:r>
              <a:rPr lang="de-AT" dirty="0"/>
              <a:t> </a:t>
            </a:r>
            <a:r>
              <a:rPr lang="de-AT" dirty="0" err="1"/>
              <a:t>costs</a:t>
            </a:r>
            <a:r>
              <a:rPr lang="de-AT" dirty="0"/>
              <a:t> </a:t>
            </a:r>
            <a:r>
              <a:rPr lang="de-AT" dirty="0" err="1"/>
              <a:t>you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point</a:t>
            </a:r>
            <a:r>
              <a:rPr lang="de-AT" dirty="0"/>
              <a:t> </a:t>
            </a:r>
            <a:r>
              <a:rPr lang="de-AT" dirty="0" err="1"/>
              <a:t>you</a:t>
            </a:r>
            <a:r>
              <a:rPr lang="de-AT" dirty="0"/>
              <a:t> </a:t>
            </a:r>
            <a:r>
              <a:rPr lang="de-AT" dirty="0" err="1"/>
              <a:t>use</a:t>
            </a:r>
            <a:r>
              <a:rPr lang="de-AT" dirty="0"/>
              <a:t> to </a:t>
            </a:r>
            <a:r>
              <a:rPr lang="de-AT" dirty="0" err="1"/>
              <a:t>establish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differences</a:t>
            </a:r>
            <a:r>
              <a:rPr lang="de-AT" dirty="0"/>
              <a:t>)</a:t>
            </a:r>
          </a:p>
          <a:p>
            <a:pPr marL="0" indent="0">
              <a:buFontTx/>
              <a:buNone/>
            </a:pPr>
            <a:endParaRPr lang="de-AT" dirty="0"/>
          </a:p>
          <a:p>
            <a:pPr marL="0" indent="0">
              <a:buFontTx/>
              <a:buNone/>
            </a:pPr>
            <a:r>
              <a:rPr lang="de-AT" dirty="0"/>
              <a:t>The </a:t>
            </a:r>
            <a:r>
              <a:rPr lang="de-AT" dirty="0" err="1"/>
              <a:t>stationary</a:t>
            </a:r>
            <a:r>
              <a:rPr lang="de-AT" dirty="0"/>
              <a:t> post-shock </a:t>
            </a:r>
            <a:r>
              <a:rPr lang="de-AT" dirty="0" err="1"/>
              <a:t>component</a:t>
            </a:r>
            <a:r>
              <a:rPr lang="de-AT" dirty="0"/>
              <a:t> </a:t>
            </a:r>
            <a:r>
              <a:rPr lang="de-AT" dirty="0" err="1"/>
              <a:t>looks</a:t>
            </a:r>
            <a:r>
              <a:rPr lang="de-AT" dirty="0"/>
              <a:t> </a:t>
            </a:r>
            <a:r>
              <a:rPr lang="de-AT" dirty="0" err="1"/>
              <a:t>similar</a:t>
            </a:r>
            <a:r>
              <a:rPr lang="de-AT" dirty="0"/>
              <a:t> to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pre</a:t>
            </a:r>
            <a:r>
              <a:rPr lang="de-AT" dirty="0"/>
              <a:t>-shock-</a:t>
            </a:r>
            <a:r>
              <a:rPr lang="de-AT" dirty="0" err="1"/>
              <a:t>component</a:t>
            </a:r>
            <a:r>
              <a:rPr lang="de-AT" dirty="0"/>
              <a:t>: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have</a:t>
            </a:r>
            <a:r>
              <a:rPr lang="de-AT" dirty="0"/>
              <a:t> a nice </a:t>
            </a:r>
            <a:r>
              <a:rPr lang="de-AT" dirty="0" err="1"/>
              <a:t>decay</a:t>
            </a:r>
            <a:r>
              <a:rPr lang="de-AT" dirty="0"/>
              <a:t> in </a:t>
            </a:r>
            <a:r>
              <a:rPr lang="de-AT" dirty="0" err="1"/>
              <a:t>the</a:t>
            </a:r>
            <a:r>
              <a:rPr lang="de-AT" dirty="0"/>
              <a:t> ACF a </a:t>
            </a:r>
            <a:r>
              <a:rPr lang="de-AT" dirty="0" err="1"/>
              <a:t>significant</a:t>
            </a:r>
            <a:r>
              <a:rPr lang="de-AT" dirty="0"/>
              <a:t> </a:t>
            </a:r>
            <a:r>
              <a:rPr lang="de-AT" dirty="0" err="1"/>
              <a:t>coefficient</a:t>
            </a:r>
            <a:r>
              <a:rPr lang="de-AT" dirty="0"/>
              <a:t> at lag 1 and a negative </a:t>
            </a:r>
            <a:r>
              <a:rPr lang="de-AT" dirty="0" err="1"/>
              <a:t>one</a:t>
            </a:r>
            <a:r>
              <a:rPr lang="de-AT" dirty="0"/>
              <a:t> at lag 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implies</a:t>
            </a:r>
            <a:r>
              <a:rPr lang="de-AT" dirty="0"/>
              <a:t> a AR </a:t>
            </a:r>
            <a:r>
              <a:rPr lang="de-AT" dirty="0" err="1"/>
              <a:t>model</a:t>
            </a:r>
            <a:r>
              <a:rPr lang="de-AT" dirty="0"/>
              <a:t>, but </a:t>
            </a:r>
            <a:r>
              <a:rPr lang="de-AT" dirty="0" err="1"/>
              <a:t>the</a:t>
            </a:r>
            <a:r>
              <a:rPr lang="de-AT" dirty="0"/>
              <a:t> negative lag 4 </a:t>
            </a:r>
            <a:r>
              <a:rPr lang="de-AT" dirty="0" err="1"/>
              <a:t>muddies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waters</a:t>
            </a:r>
            <a:r>
              <a:rPr lang="de-AT" dirty="0"/>
              <a:t> a </a:t>
            </a:r>
            <a:r>
              <a:rPr lang="de-AT" dirty="0" err="1"/>
              <a:t>bit</a:t>
            </a:r>
            <a:r>
              <a:rPr lang="de-AT" dirty="0"/>
              <a:t>.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it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there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a </a:t>
            </a:r>
            <a:r>
              <a:rPr lang="de-AT" dirty="0" err="1"/>
              <a:t>seasonal</a:t>
            </a:r>
            <a:r>
              <a:rPr lang="de-AT" dirty="0"/>
              <a:t> </a:t>
            </a:r>
            <a:r>
              <a:rPr lang="de-AT" dirty="0" err="1"/>
              <a:t>component</a:t>
            </a:r>
            <a:r>
              <a:rPr lang="de-AT" dirty="0"/>
              <a:t> in </a:t>
            </a:r>
            <a:r>
              <a:rPr lang="de-AT" dirty="0" err="1"/>
              <a:t>there</a:t>
            </a:r>
            <a:r>
              <a:rPr lang="de-AT" dirty="0"/>
              <a:t>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it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a </a:t>
            </a:r>
            <a:r>
              <a:rPr lang="de-AT" dirty="0" err="1"/>
              <a:t>weak</a:t>
            </a:r>
            <a:r>
              <a:rPr lang="de-AT" dirty="0"/>
              <a:t> </a:t>
            </a:r>
            <a:r>
              <a:rPr lang="de-AT" dirty="0" err="1"/>
              <a:t>seasonal</a:t>
            </a:r>
            <a:r>
              <a:rPr lang="de-AT" dirty="0"/>
              <a:t> </a:t>
            </a:r>
            <a:r>
              <a:rPr lang="de-AT" dirty="0" err="1"/>
              <a:t>signal</a:t>
            </a:r>
            <a:r>
              <a:rPr lang="de-AT" dirty="0"/>
              <a:t>, </a:t>
            </a:r>
            <a:r>
              <a:rPr lang="de-AT" dirty="0" err="1"/>
              <a:t>maybe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some</a:t>
            </a:r>
            <a:r>
              <a:rPr lang="de-AT" dirty="0"/>
              <a:t> </a:t>
            </a:r>
            <a:r>
              <a:rPr lang="de-AT" dirty="0" err="1"/>
              <a:t>practice</a:t>
            </a:r>
            <a:r>
              <a:rPr lang="de-AT" dirty="0"/>
              <a:t> in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electricity</a:t>
            </a:r>
            <a:r>
              <a:rPr lang="de-AT" dirty="0"/>
              <a:t> </a:t>
            </a:r>
            <a:r>
              <a:rPr lang="de-AT" dirty="0" err="1"/>
              <a:t>market</a:t>
            </a:r>
            <a:r>
              <a:rPr lang="de-AT" dirty="0"/>
              <a:t> </a:t>
            </a:r>
            <a:r>
              <a:rPr lang="de-AT" dirty="0" err="1"/>
              <a:t>where</a:t>
            </a:r>
            <a:r>
              <a:rPr lang="de-AT" dirty="0"/>
              <a:t> </a:t>
            </a:r>
            <a:r>
              <a:rPr lang="de-AT" dirty="0" err="1"/>
              <a:t>you</a:t>
            </a:r>
            <a:r>
              <a:rPr lang="de-AT" dirty="0"/>
              <a:t> </a:t>
            </a:r>
            <a:r>
              <a:rPr lang="de-AT" dirty="0" err="1"/>
              <a:t>buy</a:t>
            </a:r>
            <a:r>
              <a:rPr lang="de-AT" dirty="0"/>
              <a:t> different </a:t>
            </a:r>
            <a:r>
              <a:rPr lang="de-AT" dirty="0" err="1"/>
              <a:t>products</a:t>
            </a:r>
            <a:r>
              <a:rPr lang="de-AT" dirty="0"/>
              <a:t> at </a:t>
            </a:r>
            <a:r>
              <a:rPr lang="de-AT" dirty="0" err="1"/>
              <a:t>the</a:t>
            </a:r>
            <a:r>
              <a:rPr lang="de-AT" dirty="0"/>
              <a:t> end of a </a:t>
            </a:r>
            <a:r>
              <a:rPr lang="de-AT" dirty="0" err="1"/>
              <a:t>business</a:t>
            </a:r>
            <a:r>
              <a:rPr lang="de-AT" dirty="0"/>
              <a:t> </a:t>
            </a:r>
            <a:r>
              <a:rPr lang="de-AT" dirty="0" err="1"/>
              <a:t>quarter</a:t>
            </a:r>
            <a:r>
              <a:rPr lang="de-AT" dirty="0"/>
              <a:t>, i </a:t>
            </a:r>
            <a:r>
              <a:rPr lang="de-AT" dirty="0" err="1"/>
              <a:t>couldn´t</a:t>
            </a:r>
            <a:r>
              <a:rPr lang="de-AT" dirty="0"/>
              <a:t> </a:t>
            </a:r>
            <a:r>
              <a:rPr lang="de-AT" dirty="0" err="1"/>
              <a:t>spot</a:t>
            </a:r>
            <a:r>
              <a:rPr lang="de-AT" dirty="0"/>
              <a:t> </a:t>
            </a:r>
            <a:r>
              <a:rPr lang="de-AT" dirty="0" err="1"/>
              <a:t>it</a:t>
            </a:r>
            <a:r>
              <a:rPr lang="de-AT" dirty="0"/>
              <a:t> in </a:t>
            </a:r>
            <a:r>
              <a:rPr lang="de-AT" dirty="0" err="1"/>
              <a:t>my</a:t>
            </a:r>
            <a:r>
              <a:rPr lang="de-AT" dirty="0"/>
              <a:t> EDA.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Also, i </a:t>
            </a:r>
            <a:r>
              <a:rPr lang="de-AT" dirty="0" err="1"/>
              <a:t>needed</a:t>
            </a:r>
            <a:r>
              <a:rPr lang="de-AT" dirty="0"/>
              <a:t> to </a:t>
            </a:r>
            <a:r>
              <a:rPr lang="de-AT" dirty="0" err="1"/>
              <a:t>account</a:t>
            </a:r>
            <a:r>
              <a:rPr lang="de-AT" dirty="0"/>
              <a:t> for </a:t>
            </a:r>
            <a:r>
              <a:rPr lang="de-AT" dirty="0" err="1"/>
              <a:t>the</a:t>
            </a:r>
            <a:r>
              <a:rPr lang="de-AT" dirty="0"/>
              <a:t> non-</a:t>
            </a:r>
            <a:r>
              <a:rPr lang="de-AT" dirty="0" err="1"/>
              <a:t>stationary</a:t>
            </a:r>
            <a:r>
              <a:rPr lang="de-AT" dirty="0"/>
              <a:t> </a:t>
            </a:r>
            <a:r>
              <a:rPr lang="de-AT" dirty="0" err="1"/>
              <a:t>component</a:t>
            </a:r>
            <a:r>
              <a:rPr lang="de-AT" dirty="0"/>
              <a:t> in </a:t>
            </a:r>
            <a:r>
              <a:rPr lang="de-AT" dirty="0" err="1"/>
              <a:t>my</a:t>
            </a:r>
            <a:r>
              <a:rPr lang="de-AT" dirty="0"/>
              <a:t> </a:t>
            </a:r>
            <a:r>
              <a:rPr lang="de-AT" dirty="0" err="1"/>
              <a:t>training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So </a:t>
            </a:r>
            <a:r>
              <a:rPr lang="de-AT" dirty="0" err="1"/>
              <a:t>once</a:t>
            </a:r>
            <a:r>
              <a:rPr lang="de-AT" dirty="0"/>
              <a:t> </a:t>
            </a:r>
            <a:r>
              <a:rPr lang="de-AT" dirty="0" err="1"/>
              <a:t>again</a:t>
            </a:r>
            <a:r>
              <a:rPr lang="de-AT" dirty="0"/>
              <a:t>,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rule</a:t>
            </a:r>
            <a:r>
              <a:rPr lang="de-AT" dirty="0"/>
              <a:t>-of-</a:t>
            </a:r>
            <a:r>
              <a:rPr lang="de-AT" dirty="0" err="1"/>
              <a:t>thumb</a:t>
            </a:r>
            <a:r>
              <a:rPr lang="de-AT" dirty="0"/>
              <a:t> </a:t>
            </a:r>
            <a:r>
              <a:rPr lang="de-AT" dirty="0" err="1"/>
              <a:t>wasn´t</a:t>
            </a:r>
            <a:r>
              <a:rPr lang="de-AT" dirty="0"/>
              <a:t> </a:t>
            </a:r>
            <a:r>
              <a:rPr lang="de-AT" dirty="0" err="1"/>
              <a:t>too</a:t>
            </a:r>
            <a:r>
              <a:rPr lang="de-AT" dirty="0"/>
              <a:t> </a:t>
            </a:r>
            <a:r>
              <a:rPr lang="de-AT" dirty="0" err="1"/>
              <a:t>helpful</a:t>
            </a:r>
            <a:r>
              <a:rPr lang="de-AT" dirty="0"/>
              <a:t>, </a:t>
            </a:r>
            <a:r>
              <a:rPr lang="de-AT" dirty="0" err="1"/>
              <a:t>because</a:t>
            </a:r>
            <a:r>
              <a:rPr lang="de-AT" dirty="0"/>
              <a:t> of </a:t>
            </a:r>
            <a:r>
              <a:rPr lang="de-AT" dirty="0" err="1"/>
              <a:t>my</a:t>
            </a:r>
            <a:r>
              <a:rPr lang="de-AT" dirty="0"/>
              <a:t> </a:t>
            </a:r>
            <a:r>
              <a:rPr lang="de-AT" dirty="0" err="1"/>
              <a:t>messy</a:t>
            </a:r>
            <a:r>
              <a:rPr lang="de-AT" dirty="0"/>
              <a:t> real-</a:t>
            </a:r>
            <a:r>
              <a:rPr lang="de-AT" dirty="0" err="1"/>
              <a:t>world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. </a:t>
            </a:r>
            <a:br>
              <a:rPr lang="de-AT" dirty="0"/>
            </a:br>
            <a:br>
              <a:rPr lang="de-AT" dirty="0"/>
            </a:br>
            <a:r>
              <a:rPr lang="de-AT" dirty="0"/>
              <a:t>So in </a:t>
            </a:r>
            <a:r>
              <a:rPr lang="de-AT" dirty="0" err="1"/>
              <a:t>the</a:t>
            </a:r>
            <a:r>
              <a:rPr lang="de-AT" dirty="0"/>
              <a:t> end i </a:t>
            </a:r>
            <a:r>
              <a:rPr lang="de-AT" dirty="0" err="1"/>
              <a:t>decided</a:t>
            </a:r>
            <a:r>
              <a:rPr lang="de-AT" dirty="0"/>
              <a:t> to do a </a:t>
            </a:r>
            <a:r>
              <a:rPr lang="de-AT" dirty="0" err="1"/>
              <a:t>grid</a:t>
            </a:r>
            <a:r>
              <a:rPr lang="de-AT" dirty="0"/>
              <a:t> </a:t>
            </a:r>
            <a:r>
              <a:rPr lang="de-AT" dirty="0" err="1"/>
              <a:t>search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would</a:t>
            </a:r>
            <a:r>
              <a:rPr lang="de-AT" dirty="0"/>
              <a:t> </a:t>
            </a:r>
            <a:r>
              <a:rPr lang="de-AT" dirty="0" err="1"/>
              <a:t>ensure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i </a:t>
            </a:r>
            <a:r>
              <a:rPr lang="de-AT" dirty="0" err="1"/>
              <a:t>accounted</a:t>
            </a:r>
            <a:r>
              <a:rPr lang="de-AT" dirty="0"/>
              <a:t> for </a:t>
            </a:r>
            <a:r>
              <a:rPr lang="de-AT" dirty="0" err="1"/>
              <a:t>both</a:t>
            </a:r>
            <a:r>
              <a:rPr lang="de-AT" dirty="0"/>
              <a:t> AR </a:t>
            </a:r>
            <a:r>
              <a:rPr lang="de-AT" dirty="0" err="1"/>
              <a:t>terms</a:t>
            </a:r>
            <a:r>
              <a:rPr lang="de-AT" dirty="0"/>
              <a:t> </a:t>
            </a:r>
            <a:r>
              <a:rPr lang="de-AT" dirty="0" err="1"/>
              <a:t>up</a:t>
            </a:r>
            <a:r>
              <a:rPr lang="de-AT" dirty="0"/>
              <a:t> to 3 and </a:t>
            </a:r>
            <a:r>
              <a:rPr lang="de-AT" dirty="0" err="1"/>
              <a:t>differencing</a:t>
            </a:r>
            <a:r>
              <a:rPr lang="de-AT" dirty="0"/>
              <a:t> </a:t>
            </a:r>
            <a:r>
              <a:rPr lang="de-AT" dirty="0" err="1"/>
              <a:t>terms</a:t>
            </a:r>
            <a:r>
              <a:rPr lang="de-AT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A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And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got</a:t>
            </a:r>
            <a:r>
              <a:rPr lang="de-AT" dirty="0"/>
              <a:t> </a:t>
            </a:r>
            <a:r>
              <a:rPr lang="de-AT" dirty="0" err="1"/>
              <a:t>me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differenced</a:t>
            </a:r>
            <a:r>
              <a:rPr lang="de-AT" dirty="0"/>
              <a:t> ARIMA(2,1,0) for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complete</a:t>
            </a:r>
            <a:r>
              <a:rPr lang="de-AT" dirty="0"/>
              <a:t> time-</a:t>
            </a:r>
            <a:r>
              <a:rPr lang="de-AT" dirty="0" err="1"/>
              <a:t>series</a:t>
            </a:r>
            <a:r>
              <a:rPr lang="de-AT" dirty="0"/>
              <a:t> (not </a:t>
            </a:r>
            <a:r>
              <a:rPr lang="de-AT" dirty="0" err="1"/>
              <a:t>very</a:t>
            </a:r>
            <a:r>
              <a:rPr lang="de-AT" dirty="0"/>
              <a:t> </a:t>
            </a:r>
            <a:r>
              <a:rPr lang="de-AT" dirty="0" err="1"/>
              <a:t>good</a:t>
            </a:r>
            <a:r>
              <a:rPr lang="de-AT" dirty="0"/>
              <a:t> at </a:t>
            </a:r>
            <a:r>
              <a:rPr lang="de-AT" dirty="0" err="1"/>
              <a:t>dealing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volatility</a:t>
            </a:r>
            <a:r>
              <a:rPr lang="de-AT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And </a:t>
            </a:r>
            <a:r>
              <a:rPr lang="de-AT" dirty="0" err="1"/>
              <a:t>the</a:t>
            </a:r>
            <a:r>
              <a:rPr lang="de-AT" dirty="0"/>
              <a:t> ARIMA(3,0,0) for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reduced</a:t>
            </a:r>
            <a:r>
              <a:rPr lang="de-AT" dirty="0"/>
              <a:t> </a:t>
            </a:r>
            <a:r>
              <a:rPr lang="de-AT" dirty="0" err="1"/>
              <a:t>model</a:t>
            </a:r>
            <a:r>
              <a:rPr lang="de-AT" dirty="0"/>
              <a:t> </a:t>
            </a:r>
            <a:r>
              <a:rPr lang="de-AT" dirty="0" err="1"/>
              <a:t>which</a:t>
            </a:r>
            <a:r>
              <a:rPr lang="de-AT" dirty="0"/>
              <a:t> to </a:t>
            </a:r>
            <a:r>
              <a:rPr lang="de-AT" dirty="0" err="1"/>
              <a:t>compare</a:t>
            </a:r>
            <a:r>
              <a:rPr lang="de-AT" dirty="0"/>
              <a:t> to </a:t>
            </a:r>
            <a:r>
              <a:rPr lang="de-AT" dirty="0" err="1"/>
              <a:t>the</a:t>
            </a:r>
            <a:r>
              <a:rPr lang="de-AT" dirty="0"/>
              <a:t> ARIMAX </a:t>
            </a:r>
            <a:r>
              <a:rPr lang="de-AT" dirty="0" err="1"/>
              <a:t>models</a:t>
            </a:r>
            <a:r>
              <a:rPr lang="de-AT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AT" dirty="0"/>
          </a:p>
          <a:p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(The </a:t>
            </a:r>
            <a:r>
              <a:rPr lang="de-A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</a:t>
            </a:r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prevalent</a:t>
            </a:r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rule</a:t>
            </a:r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de-A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thumb</a:t>
            </a:r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de-A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found</a:t>
            </a:r>
            <a:r>
              <a:rPr lang="de-A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was:</a:t>
            </a:r>
            <a:b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 AR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at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last lag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cuts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sharply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PACF,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ACF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decays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time.</a:t>
            </a:r>
          </a:p>
          <a:p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 MA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last lag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cuts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sharply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ACF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PACF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decays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ARMA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complex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behavior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decays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A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time.)</a:t>
            </a:r>
          </a:p>
          <a:p>
            <a:pPr marL="0" indent="0">
              <a:buFontTx/>
              <a:buNone/>
            </a:pP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CC170D-0A5B-7324-BFEC-D8A2D588C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13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82597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14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41145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13929-3CD4-4E13-B022-FAF4159C8639}" type="slidenum">
              <a:rPr lang="de-AT" smtClean="0"/>
              <a:t>15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25852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286000"/>
            <a:ext cx="2743200" cy="36576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5F6FA"/>
                </a:solidFill>
                <a:latin typeface="Aptos Display"/>
              </a:defRPr>
            </a:pPr>
            <a:r>
              <a:rPr lang="en-US" sz="2800" dirty="0"/>
              <a:t>Time series analysis and forecasting of Austrian electricity prices using ARIMA/ARIMAX modeling</a:t>
            </a:r>
            <a:endParaRPr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92011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5F6FA"/>
                </a:solidFill>
                <a:latin typeface="Aptos"/>
              </a:defRPr>
            </a:pPr>
            <a:r>
              <a:rPr lang="de-AT" dirty="0"/>
              <a:t>Capstone Project for </a:t>
            </a:r>
            <a:r>
              <a:rPr lang="de-AT" dirty="0" err="1"/>
              <a:t>the</a:t>
            </a:r>
            <a:r>
              <a:rPr lang="de-AT" dirty="0"/>
              <a:t> 2025 „Data </a:t>
            </a:r>
            <a:r>
              <a:rPr lang="de-AT" dirty="0" err="1"/>
              <a:t>Practicioner</a:t>
            </a:r>
            <a:r>
              <a:rPr lang="de-AT" dirty="0"/>
              <a:t>“ Class </a:t>
            </a:r>
          </a:p>
          <a:p>
            <a:pPr algn="l">
              <a:defRPr sz="2400">
                <a:solidFill>
                  <a:srgbClr val="F5F6FA"/>
                </a:solidFill>
                <a:latin typeface="Aptos"/>
              </a:defRPr>
            </a:pPr>
            <a:r>
              <a:rPr lang="de-AT" dirty="0"/>
              <a:t>at neuefische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590970" y="6217920"/>
            <a:ext cx="20958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5F6FA"/>
                </a:solidFill>
                <a:latin typeface="Aptos"/>
              </a:defRPr>
            </a:pPr>
            <a:r>
              <a:rPr lang="de-AT" dirty="0"/>
              <a:t>Paul Ringler </a:t>
            </a:r>
            <a:r>
              <a:rPr dirty="0"/>
              <a:t>| </a:t>
            </a:r>
            <a:r>
              <a:rPr lang="de-AT" dirty="0"/>
              <a:t>27.10.2025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29883-EDDB-C925-6F91-F21E56F1A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2F7E99-DA77-5434-7DC8-94340115FEB3}"/>
              </a:ext>
            </a:extLst>
          </p:cNvPr>
          <p:cNvSpPr txBox="1"/>
          <p:nvPr/>
        </p:nvSpPr>
        <p:spPr>
          <a:xfrm>
            <a:off x="731520" y="548640"/>
            <a:ext cx="687425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5F7C"/>
                </a:solidFill>
                <a:latin typeface="Aptos Display"/>
              </a:defRPr>
            </a:pPr>
            <a:r>
              <a:rPr lang="de-AT" dirty="0"/>
              <a:t>Business Case: Power </a:t>
            </a:r>
            <a:r>
              <a:rPr lang="de-AT" dirty="0" err="1"/>
              <a:t>Consumers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6A2EF1-3DCC-0096-9075-C839752EDE4E}"/>
              </a:ext>
            </a:extLst>
          </p:cNvPr>
          <p:cNvSpPr/>
          <p:nvPr/>
        </p:nvSpPr>
        <p:spPr>
          <a:xfrm>
            <a:off x="731520" y="1188720"/>
            <a:ext cx="7680960" cy="9144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2AC54-EE88-3954-1D4A-1F83639958A5}"/>
              </a:ext>
            </a:extLst>
          </p:cNvPr>
          <p:cNvSpPr txBox="1"/>
          <p:nvPr/>
        </p:nvSpPr>
        <p:spPr>
          <a:xfrm>
            <a:off x="719487" y="1260907"/>
            <a:ext cx="7680959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dirty="0" err="1"/>
              <a:t>Following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russian</a:t>
            </a:r>
            <a:r>
              <a:rPr lang="de-AT" dirty="0"/>
              <a:t> </a:t>
            </a:r>
            <a:r>
              <a:rPr lang="de-AT" dirty="0" err="1"/>
              <a:t>full-scale</a:t>
            </a:r>
            <a:r>
              <a:rPr lang="de-AT" dirty="0"/>
              <a:t> </a:t>
            </a:r>
            <a:r>
              <a:rPr lang="de-AT" dirty="0" err="1"/>
              <a:t>invasion</a:t>
            </a:r>
            <a:r>
              <a:rPr lang="de-AT" dirty="0"/>
              <a:t> of Ukraine in 02/2022, Austrian </a:t>
            </a:r>
            <a:r>
              <a:rPr lang="de-AT" dirty="0" err="1"/>
              <a:t>energy</a:t>
            </a:r>
            <a:r>
              <a:rPr lang="de-AT" dirty="0"/>
              <a:t> </a:t>
            </a:r>
            <a:r>
              <a:rPr lang="de-AT" dirty="0" err="1"/>
              <a:t>prices</a:t>
            </a:r>
            <a:r>
              <a:rPr lang="de-AT" dirty="0"/>
              <a:t> </a:t>
            </a:r>
            <a:r>
              <a:rPr lang="de-AT" dirty="0" err="1"/>
              <a:t>experienced</a:t>
            </a:r>
            <a:r>
              <a:rPr lang="de-AT" dirty="0"/>
              <a:t> </a:t>
            </a:r>
            <a:r>
              <a:rPr lang="de-AT" dirty="0" err="1"/>
              <a:t>significant</a:t>
            </a:r>
            <a:r>
              <a:rPr lang="de-AT" dirty="0"/>
              <a:t> </a:t>
            </a:r>
            <a:r>
              <a:rPr lang="de-AT" dirty="0" err="1"/>
              <a:t>increases</a:t>
            </a:r>
            <a:r>
              <a:rPr lang="de-AT" dirty="0"/>
              <a:t> and </a:t>
            </a:r>
            <a:r>
              <a:rPr lang="de-AT" dirty="0" err="1"/>
              <a:t>have</a:t>
            </a:r>
            <a:r>
              <a:rPr lang="de-AT" dirty="0"/>
              <a:t> also </a:t>
            </a:r>
            <a:r>
              <a:rPr lang="de-AT" dirty="0" err="1"/>
              <a:t>become</a:t>
            </a:r>
            <a:r>
              <a:rPr lang="de-AT" dirty="0"/>
              <a:t> </a:t>
            </a:r>
            <a:r>
              <a:rPr lang="de-AT" dirty="0" err="1"/>
              <a:t>very</a:t>
            </a:r>
            <a:r>
              <a:rPr lang="de-AT" dirty="0"/>
              <a:t> volatile.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dirty="0"/>
              <a:t>Large power </a:t>
            </a:r>
            <a:r>
              <a:rPr lang="de-AT" dirty="0" err="1"/>
              <a:t>producers</a:t>
            </a:r>
            <a:r>
              <a:rPr lang="de-AT" dirty="0"/>
              <a:t> (e.g. wind/solar </a:t>
            </a:r>
            <a:r>
              <a:rPr lang="de-AT" dirty="0" err="1"/>
              <a:t>parks</a:t>
            </a:r>
            <a:r>
              <a:rPr lang="de-AT" dirty="0"/>
              <a:t>, </a:t>
            </a:r>
            <a:r>
              <a:rPr lang="de-AT" dirty="0" err="1"/>
              <a:t>public</a:t>
            </a:r>
            <a:r>
              <a:rPr lang="de-AT" dirty="0"/>
              <a:t> </a:t>
            </a:r>
            <a:r>
              <a:rPr lang="de-AT" dirty="0" err="1"/>
              <a:t>utility</a:t>
            </a:r>
            <a:r>
              <a:rPr lang="de-AT" dirty="0"/>
              <a:t> </a:t>
            </a:r>
            <a:r>
              <a:rPr lang="de-AT" dirty="0" err="1"/>
              <a:t>companies</a:t>
            </a:r>
            <a:r>
              <a:rPr lang="de-AT" dirty="0"/>
              <a:t>) and power </a:t>
            </a:r>
            <a:r>
              <a:rPr lang="de-AT" dirty="0" err="1"/>
              <a:t>consumers</a:t>
            </a:r>
            <a:r>
              <a:rPr lang="de-AT" dirty="0"/>
              <a:t> (e.g. </a:t>
            </a:r>
            <a:r>
              <a:rPr lang="de-AT" dirty="0" err="1"/>
              <a:t>manufacturing</a:t>
            </a:r>
            <a:r>
              <a:rPr lang="de-AT" dirty="0"/>
              <a:t> </a:t>
            </a:r>
            <a:r>
              <a:rPr lang="de-AT" dirty="0" err="1"/>
              <a:t>companies</a:t>
            </a:r>
            <a:r>
              <a:rPr lang="de-AT" dirty="0"/>
              <a:t>,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centers</a:t>
            </a:r>
            <a:r>
              <a:rPr lang="de-AT" dirty="0"/>
              <a:t>) </a:t>
            </a:r>
            <a:r>
              <a:rPr lang="de-AT" dirty="0" err="1"/>
              <a:t>need</a:t>
            </a:r>
            <a:r>
              <a:rPr lang="de-AT" dirty="0"/>
              <a:t> </a:t>
            </a:r>
            <a:r>
              <a:rPr lang="de-AT" dirty="0" err="1"/>
              <a:t>planning</a:t>
            </a:r>
            <a:r>
              <a:rPr lang="de-AT" dirty="0"/>
              <a:t> </a:t>
            </a:r>
            <a:r>
              <a:rPr lang="de-AT" dirty="0" err="1"/>
              <a:t>security</a:t>
            </a:r>
            <a:r>
              <a:rPr lang="de-AT" dirty="0"/>
              <a:t>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dirty="0"/>
              <a:t>This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best</a:t>
            </a:r>
            <a:r>
              <a:rPr lang="de-AT" dirty="0"/>
              <a:t> </a:t>
            </a:r>
            <a:r>
              <a:rPr lang="de-AT" dirty="0" err="1"/>
              <a:t>achieved</a:t>
            </a:r>
            <a:r>
              <a:rPr lang="de-AT" dirty="0"/>
              <a:t> </a:t>
            </a:r>
            <a:r>
              <a:rPr lang="de-AT" dirty="0" err="1"/>
              <a:t>by</a:t>
            </a:r>
            <a:r>
              <a:rPr lang="de-AT" dirty="0"/>
              <a:t> </a:t>
            </a:r>
            <a:r>
              <a:rPr lang="de-AT" dirty="0" err="1"/>
              <a:t>securing</a:t>
            </a:r>
            <a:r>
              <a:rPr lang="de-AT" dirty="0"/>
              <a:t> </a:t>
            </a:r>
            <a:r>
              <a:rPr lang="de-AT" dirty="0" err="1"/>
              <a:t>over</a:t>
            </a:r>
            <a:r>
              <a:rPr lang="de-AT" dirty="0"/>
              <a:t>-</a:t>
            </a:r>
            <a:r>
              <a:rPr lang="de-AT" dirty="0" err="1"/>
              <a:t>the</a:t>
            </a:r>
            <a:r>
              <a:rPr lang="de-AT" dirty="0"/>
              <a:t>-counter </a:t>
            </a:r>
            <a:r>
              <a:rPr lang="de-AT" dirty="0" err="1"/>
              <a:t>supply</a:t>
            </a:r>
            <a:r>
              <a:rPr lang="de-AT" dirty="0"/>
              <a:t> </a:t>
            </a:r>
            <a:r>
              <a:rPr lang="de-AT" dirty="0" err="1"/>
              <a:t>contracts</a:t>
            </a:r>
            <a:r>
              <a:rPr lang="de-AT" dirty="0"/>
              <a:t>. These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sold</a:t>
            </a:r>
            <a:r>
              <a:rPr lang="de-AT" dirty="0"/>
              <a:t> at </a:t>
            </a:r>
            <a:r>
              <a:rPr lang="de-AT" dirty="0" err="1"/>
              <a:t>fixed</a:t>
            </a:r>
            <a:r>
              <a:rPr lang="de-AT" dirty="0"/>
              <a:t> </a:t>
            </a:r>
            <a:r>
              <a:rPr lang="de-AT" dirty="0" err="1"/>
              <a:t>prices</a:t>
            </a:r>
            <a:r>
              <a:rPr lang="de-AT" dirty="0"/>
              <a:t> for different </a:t>
            </a:r>
            <a:r>
              <a:rPr lang="de-AT" dirty="0" err="1"/>
              <a:t>durations</a:t>
            </a:r>
            <a:r>
              <a:rPr lang="de-AT" dirty="0"/>
              <a:t> (e.g. 1-6 </a:t>
            </a:r>
            <a:r>
              <a:rPr lang="de-AT" dirty="0" err="1"/>
              <a:t>months-ahead</a:t>
            </a:r>
            <a:r>
              <a:rPr lang="de-AT" dirty="0"/>
              <a:t>).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dirty="0"/>
              <a:t>Forecasting </a:t>
            </a:r>
            <a:r>
              <a:rPr lang="de-AT" dirty="0" err="1"/>
              <a:t>these</a:t>
            </a:r>
            <a:r>
              <a:rPr lang="de-AT" dirty="0"/>
              <a:t> </a:t>
            </a:r>
            <a:r>
              <a:rPr lang="de-AT" dirty="0" err="1"/>
              <a:t>prices</a:t>
            </a:r>
            <a:r>
              <a:rPr lang="de-AT" dirty="0"/>
              <a:t> </a:t>
            </a:r>
            <a:r>
              <a:rPr lang="de-AT" dirty="0" err="1"/>
              <a:t>yields</a:t>
            </a:r>
            <a:r>
              <a:rPr lang="de-AT" dirty="0"/>
              <a:t> </a:t>
            </a:r>
            <a:r>
              <a:rPr lang="de-AT" dirty="0" err="1"/>
              <a:t>benefits</a:t>
            </a:r>
            <a:r>
              <a:rPr lang="de-AT" dirty="0"/>
              <a:t> in </a:t>
            </a:r>
            <a:r>
              <a:rPr lang="de-AT" dirty="0" err="1"/>
              <a:t>terms</a:t>
            </a:r>
            <a:r>
              <a:rPr lang="de-AT" dirty="0"/>
              <a:t> of </a:t>
            </a:r>
            <a:r>
              <a:rPr lang="de-AT" dirty="0" err="1"/>
              <a:t>risk</a:t>
            </a:r>
            <a:r>
              <a:rPr lang="de-AT" dirty="0"/>
              <a:t>-management </a:t>
            </a:r>
            <a:r>
              <a:rPr lang="de-AT" dirty="0" err="1"/>
              <a:t>as</a:t>
            </a:r>
            <a:r>
              <a:rPr lang="de-AT" dirty="0"/>
              <a:t> </a:t>
            </a:r>
            <a:r>
              <a:rPr lang="de-AT" dirty="0" err="1">
                <a:solidFill>
                  <a:srgbClr val="2D3436"/>
                </a:solidFill>
                <a:latin typeface="Aptos"/>
              </a:rPr>
              <a:t>well</a:t>
            </a:r>
            <a:r>
              <a:rPr lang="de-AT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dirty="0" err="1">
                <a:solidFill>
                  <a:srgbClr val="2D3436"/>
                </a:solidFill>
                <a:latin typeface="Aptos"/>
              </a:rPr>
              <a:t>as</a:t>
            </a:r>
            <a:r>
              <a:rPr lang="de-AT" dirty="0">
                <a:solidFill>
                  <a:srgbClr val="2D3436"/>
                </a:solidFill>
                <a:latin typeface="Aptos"/>
              </a:rPr>
              <a:t> </a:t>
            </a:r>
            <a:r>
              <a:rPr lang="en-US" dirty="0">
                <a:solidFill>
                  <a:srgbClr val="2D3436"/>
                </a:solidFill>
                <a:latin typeface="Aptos"/>
              </a:rPr>
              <a:t>cost optimization in procurement planning for power consumers.</a:t>
            </a:r>
            <a:endParaRPr lang="de-AT" dirty="0">
              <a:solidFill>
                <a:srgbClr val="2D3436"/>
              </a:solidFill>
              <a:latin typeface="Aptos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dirty="0"/>
              <a:t>This </a:t>
            </a:r>
            <a:r>
              <a:rPr lang="de-AT" dirty="0" err="1"/>
              <a:t>project</a:t>
            </a:r>
            <a:r>
              <a:rPr lang="de-AT" dirty="0"/>
              <a:t> </a:t>
            </a:r>
            <a:r>
              <a:rPr lang="de-AT" dirty="0" err="1"/>
              <a:t>explores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cornerstones</a:t>
            </a:r>
            <a:r>
              <a:rPr lang="de-AT" dirty="0"/>
              <a:t> of a light-</a:t>
            </a:r>
            <a:r>
              <a:rPr lang="de-AT" dirty="0" err="1"/>
              <a:t>weight</a:t>
            </a:r>
            <a:r>
              <a:rPr lang="de-AT" dirty="0"/>
              <a:t>, </a:t>
            </a:r>
            <a:r>
              <a:rPr lang="de-AT" dirty="0" err="1"/>
              <a:t>continuous</a:t>
            </a:r>
            <a:r>
              <a:rPr lang="de-AT" dirty="0"/>
              <a:t> </a:t>
            </a:r>
            <a:r>
              <a:rPr lang="de-AT" dirty="0" err="1"/>
              <a:t>forecasting</a:t>
            </a:r>
            <a:r>
              <a:rPr lang="de-AT" dirty="0"/>
              <a:t> </a:t>
            </a:r>
            <a:r>
              <a:rPr lang="de-AT" dirty="0" err="1"/>
              <a:t>application</a:t>
            </a:r>
            <a:r>
              <a:rPr lang="de-AT" dirty="0"/>
              <a:t> </a:t>
            </a:r>
            <a:r>
              <a:rPr lang="de-AT" dirty="0" err="1"/>
              <a:t>designed</a:t>
            </a:r>
            <a:r>
              <a:rPr lang="de-AT" dirty="0"/>
              <a:t> for </a:t>
            </a:r>
            <a:r>
              <a:rPr lang="de-AT" dirty="0" err="1"/>
              <a:t>use</a:t>
            </a:r>
            <a:r>
              <a:rPr lang="de-AT" dirty="0"/>
              <a:t> </a:t>
            </a:r>
            <a:r>
              <a:rPr lang="de-AT" dirty="0" err="1"/>
              <a:t>by</a:t>
            </a:r>
            <a:r>
              <a:rPr lang="de-AT" dirty="0"/>
              <a:t> </a:t>
            </a:r>
            <a:r>
              <a:rPr lang="de-AT" dirty="0" err="1"/>
              <a:t>small-scale</a:t>
            </a:r>
            <a:r>
              <a:rPr lang="de-AT" dirty="0"/>
              <a:t> </a:t>
            </a:r>
            <a:r>
              <a:rPr lang="de-AT" dirty="0" err="1"/>
              <a:t>manufacturing</a:t>
            </a:r>
            <a:r>
              <a:rPr lang="de-AT" dirty="0"/>
              <a:t> </a:t>
            </a:r>
            <a:r>
              <a:rPr lang="de-AT" dirty="0" err="1"/>
              <a:t>companies</a:t>
            </a:r>
            <a:r>
              <a:rPr lang="de-AT" dirty="0"/>
              <a:t> in Austria.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2672C0-3A23-97B6-39CB-EAC0ED09349F}"/>
              </a:ext>
            </a:extLst>
          </p:cNvPr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7355"/>
                </a:solidFill>
                <a:latin typeface="Aptos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6971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AD6AD-5474-53D6-EF7B-8C03302A8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C9336C-5293-822D-A1ED-A555D4C84CA9}"/>
              </a:ext>
            </a:extLst>
          </p:cNvPr>
          <p:cNvSpPr txBox="1"/>
          <p:nvPr/>
        </p:nvSpPr>
        <p:spPr>
          <a:xfrm>
            <a:off x="731520" y="548640"/>
            <a:ext cx="290810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5F7C"/>
                </a:solidFill>
                <a:latin typeface="Aptos Display"/>
              </a:defRPr>
            </a:pPr>
            <a:r>
              <a:rPr lang="de-AT" dirty="0"/>
              <a:t>Project </a:t>
            </a:r>
            <a:r>
              <a:rPr lang="de-AT" dirty="0" err="1"/>
              <a:t>Scope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63F65A-9A4C-4105-DB3E-578CDC5AB65B}"/>
              </a:ext>
            </a:extLst>
          </p:cNvPr>
          <p:cNvSpPr/>
          <p:nvPr/>
        </p:nvSpPr>
        <p:spPr>
          <a:xfrm>
            <a:off x="731520" y="1188720"/>
            <a:ext cx="7680960" cy="9144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19EE9-460E-11C3-4CA1-CD136B466F34}"/>
              </a:ext>
            </a:extLst>
          </p:cNvPr>
          <p:cNvSpPr txBox="1"/>
          <p:nvPr/>
        </p:nvSpPr>
        <p:spPr>
          <a:xfrm>
            <a:off x="731520" y="1260967"/>
            <a:ext cx="8075596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b="1" dirty="0"/>
              <a:t>Data </a:t>
            </a:r>
            <a:r>
              <a:rPr lang="de-AT" b="1" dirty="0" err="1"/>
              <a:t>sources</a:t>
            </a:r>
            <a:r>
              <a:rPr lang="de-AT" dirty="0"/>
              <a:t>: </a:t>
            </a:r>
            <a:r>
              <a:rPr lang="de-AT" dirty="0" err="1"/>
              <a:t>Current</a:t>
            </a:r>
            <a:r>
              <a:rPr lang="de-AT" dirty="0"/>
              <a:t> real-</a:t>
            </a:r>
            <a:r>
              <a:rPr lang="de-AT" dirty="0" err="1"/>
              <a:t>world</a:t>
            </a:r>
            <a:r>
              <a:rPr lang="de-AT" dirty="0"/>
              <a:t> </a:t>
            </a:r>
            <a:r>
              <a:rPr lang="de-AT" dirty="0" err="1"/>
              <a:t>sources</a:t>
            </a:r>
            <a:r>
              <a:rPr lang="de-AT" dirty="0"/>
              <a:t> </a:t>
            </a:r>
            <a:r>
              <a:rPr lang="de-AT" dirty="0" err="1"/>
              <a:t>only</a:t>
            </a:r>
            <a:r>
              <a:rPr lang="de-AT" dirty="0"/>
              <a:t>! Historical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stand-in for </a:t>
            </a:r>
            <a:r>
              <a:rPr lang="de-AT" dirty="0" err="1"/>
              <a:t>daily-updated</a:t>
            </a:r>
            <a:r>
              <a:rPr lang="de-AT" dirty="0"/>
              <a:t> </a:t>
            </a:r>
            <a:r>
              <a:rPr lang="de-AT" dirty="0" err="1"/>
              <a:t>market</a:t>
            </a:r>
            <a:r>
              <a:rPr lang="de-AT" dirty="0"/>
              <a:t> </a:t>
            </a:r>
            <a:r>
              <a:rPr lang="de-AT" dirty="0" err="1"/>
              <a:t>data</a:t>
            </a:r>
            <a:endParaRPr lang="de-AT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b="1" dirty="0"/>
              <a:t>Data Engineering</a:t>
            </a:r>
            <a:r>
              <a:rPr lang="de-AT" dirty="0"/>
              <a:t>: Development of a semi-</a:t>
            </a:r>
            <a:r>
              <a:rPr lang="de-AT" dirty="0" err="1"/>
              <a:t>automatic</a:t>
            </a:r>
            <a:r>
              <a:rPr lang="de-AT" dirty="0"/>
              <a:t> ETL-pipeline prototype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b="1" dirty="0"/>
              <a:t>Data </a:t>
            </a:r>
            <a:r>
              <a:rPr lang="de-AT" b="1" dirty="0" err="1"/>
              <a:t>Preparation</a:t>
            </a:r>
            <a:r>
              <a:rPr lang="de-AT" b="1" dirty="0"/>
              <a:t> &amp; Analysis</a:t>
            </a:r>
            <a:r>
              <a:rPr lang="de-AT" dirty="0"/>
              <a:t>: EDA </a:t>
            </a:r>
            <a:r>
              <a:rPr lang="de-AT" dirty="0" err="1"/>
              <a:t>including</a:t>
            </a:r>
            <a:r>
              <a:rPr lang="de-AT" dirty="0"/>
              <a:t> time-</a:t>
            </a:r>
            <a:r>
              <a:rPr lang="de-AT" dirty="0" err="1"/>
              <a:t>series</a:t>
            </a:r>
            <a:r>
              <a:rPr lang="de-AT" dirty="0"/>
              <a:t> </a:t>
            </a:r>
            <a:r>
              <a:rPr lang="de-AT" dirty="0" err="1"/>
              <a:t>decomposition</a:t>
            </a:r>
            <a:r>
              <a:rPr lang="de-AT" dirty="0"/>
              <a:t> + </a:t>
            </a:r>
            <a:r>
              <a:rPr lang="de-AT" dirty="0" err="1"/>
              <a:t>basic</a:t>
            </a:r>
            <a:r>
              <a:rPr lang="de-AT" dirty="0"/>
              <a:t> Feature Engineering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b="1" dirty="0"/>
              <a:t>Model </a:t>
            </a:r>
            <a:r>
              <a:rPr lang="de-AT" b="1" dirty="0" err="1"/>
              <a:t>building</a:t>
            </a:r>
            <a:r>
              <a:rPr lang="de-AT" dirty="0"/>
              <a:t>: Design and Evaluation of </a:t>
            </a:r>
            <a:r>
              <a:rPr lang="de-AT" dirty="0" err="1"/>
              <a:t>prognosis</a:t>
            </a:r>
            <a:r>
              <a:rPr lang="de-AT" dirty="0"/>
              <a:t> </a:t>
            </a:r>
            <a:r>
              <a:rPr lang="de-AT" dirty="0" err="1"/>
              <a:t>model</a:t>
            </a:r>
            <a:r>
              <a:rPr lang="de-AT" dirty="0"/>
              <a:t> (ARIMAX &amp; Regression).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b="1" dirty="0"/>
              <a:t>Tableau Story for </a:t>
            </a:r>
            <a:r>
              <a:rPr lang="de-AT" b="1" dirty="0" err="1"/>
              <a:t>Visualisation</a:t>
            </a:r>
            <a:endParaRPr lang="de-AT" b="1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en-US" b="1" dirty="0"/>
              <a:t>Architecture, analytics, methodology, model building decisions by author.</a:t>
            </a:r>
            <a:r>
              <a:rPr lang="en-US" dirty="0"/>
              <a:t> Code developed using AI-assisted pair programming (AI-generated, manually validated and documented code). </a:t>
            </a:r>
            <a:endParaRPr lang="de-AT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87F098-E162-73DC-313C-E7E4DBE7F14D}"/>
              </a:ext>
            </a:extLst>
          </p:cNvPr>
          <p:cNvSpPr txBox="1"/>
          <p:nvPr/>
        </p:nvSpPr>
        <p:spPr>
          <a:xfrm>
            <a:off x="8420381" y="6400800"/>
            <a:ext cx="2664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7355"/>
                </a:solidFill>
                <a:latin typeface="Aptos"/>
              </a:defRPr>
            </a:pPr>
            <a:r>
              <a:rPr lang="de-AT" dirty="0"/>
              <a:t>3</a:t>
            </a:r>
            <a:endParaRPr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6FAE701-D0EA-2914-2F29-EC634ACF5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89" y="5503315"/>
            <a:ext cx="5943600" cy="9525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28C2CC4-5CB9-6EEC-FF78-9650A4BB104D}"/>
              </a:ext>
            </a:extLst>
          </p:cNvPr>
          <p:cNvSpPr txBox="1"/>
          <p:nvPr/>
        </p:nvSpPr>
        <p:spPr>
          <a:xfrm>
            <a:off x="1619541" y="5641588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3200" dirty="0">
                <a:solidFill>
                  <a:srgbClr val="5A9E6F"/>
                </a:solidFill>
                <a:sym typeface="Wingdings" panose="05000000000000000000" pitchFamily="2" charset="2"/>
              </a:rPr>
              <a:t></a:t>
            </a:r>
            <a:endParaRPr lang="de-AT" sz="3200" dirty="0">
              <a:solidFill>
                <a:srgbClr val="5A9E6F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A26DF40-A31C-1D17-56DA-12DCD580E881}"/>
              </a:ext>
            </a:extLst>
          </p:cNvPr>
          <p:cNvSpPr txBox="1"/>
          <p:nvPr/>
        </p:nvSpPr>
        <p:spPr>
          <a:xfrm>
            <a:off x="2650397" y="5649974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3200" dirty="0">
                <a:solidFill>
                  <a:srgbClr val="5A9E6F"/>
                </a:solidFill>
                <a:sym typeface="Wingdings" panose="05000000000000000000" pitchFamily="2" charset="2"/>
              </a:rPr>
              <a:t></a:t>
            </a:r>
            <a:endParaRPr lang="de-AT" sz="3200" dirty="0">
              <a:solidFill>
                <a:srgbClr val="5A9E6F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6D05D7D-EF38-86E8-14C8-8F46B42F275C}"/>
              </a:ext>
            </a:extLst>
          </p:cNvPr>
          <p:cNvSpPr txBox="1"/>
          <p:nvPr/>
        </p:nvSpPr>
        <p:spPr>
          <a:xfrm>
            <a:off x="3668312" y="5658360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3200" dirty="0">
                <a:solidFill>
                  <a:srgbClr val="5A9E6F"/>
                </a:solidFill>
                <a:sym typeface="Wingdings" panose="05000000000000000000" pitchFamily="2" charset="2"/>
              </a:rPr>
              <a:t></a:t>
            </a:r>
            <a:endParaRPr lang="de-AT" sz="3200" dirty="0">
              <a:solidFill>
                <a:srgbClr val="5A9E6F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ECDD641-D2CB-CF3E-F70C-18CFB42AA709}"/>
              </a:ext>
            </a:extLst>
          </p:cNvPr>
          <p:cNvSpPr txBox="1"/>
          <p:nvPr/>
        </p:nvSpPr>
        <p:spPr>
          <a:xfrm>
            <a:off x="4733675" y="5658360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3200" dirty="0">
                <a:solidFill>
                  <a:srgbClr val="5A9E6F"/>
                </a:solidFill>
                <a:sym typeface="Wingdings" panose="05000000000000000000" pitchFamily="2" charset="2"/>
              </a:rPr>
              <a:t></a:t>
            </a:r>
            <a:endParaRPr lang="de-AT" sz="3200" dirty="0">
              <a:solidFill>
                <a:srgbClr val="5A9E6F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C6A08A9-68BF-199E-6EB9-6050A976718B}"/>
              </a:ext>
            </a:extLst>
          </p:cNvPr>
          <p:cNvSpPr txBox="1"/>
          <p:nvPr/>
        </p:nvSpPr>
        <p:spPr>
          <a:xfrm>
            <a:off x="1073989" y="6454100"/>
            <a:ext cx="45720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600" dirty="0"/>
              <a:t>Source: https://www.mlsysbook.ai/contents/core/workflow/workflow_files/mediabag/9b58b3aa72de00d638019e0cdf45f488ecf3911f.svg</a:t>
            </a:r>
          </a:p>
        </p:txBody>
      </p:sp>
    </p:spTree>
    <p:extLst>
      <p:ext uri="{BB962C8B-B14F-4D97-AF65-F5344CB8AC3E}">
        <p14:creationId xmlns:p14="http://schemas.microsoft.com/office/powerpoint/2010/main" val="2962558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836AAD-53AA-5B11-DBC7-CEED06D8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AE5D89-E160-23E6-B43F-457E5F6D3660}"/>
              </a:ext>
            </a:extLst>
          </p:cNvPr>
          <p:cNvSpPr txBox="1"/>
          <p:nvPr/>
        </p:nvSpPr>
        <p:spPr>
          <a:xfrm>
            <a:off x="731520" y="548640"/>
            <a:ext cx="693696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5F7C"/>
                </a:solidFill>
                <a:latin typeface="Aptos Display"/>
              </a:defRPr>
            </a:pPr>
            <a:r>
              <a:rPr lang="de-AT" dirty="0"/>
              <a:t>Project Workflow and Architecture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7F0B23-379B-A566-1A75-37F9CFDA4D81}"/>
              </a:ext>
            </a:extLst>
          </p:cNvPr>
          <p:cNvSpPr/>
          <p:nvPr/>
        </p:nvSpPr>
        <p:spPr>
          <a:xfrm>
            <a:off x="731520" y="1188720"/>
            <a:ext cx="7680960" cy="9144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E12BF-BB20-FBBC-37D1-1ED1E974D288}"/>
              </a:ext>
            </a:extLst>
          </p:cNvPr>
          <p:cNvSpPr txBox="1"/>
          <p:nvPr/>
        </p:nvSpPr>
        <p:spPr>
          <a:xfrm>
            <a:off x="8420381" y="6400800"/>
            <a:ext cx="2664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7355"/>
                </a:solidFill>
                <a:latin typeface="Aptos"/>
              </a:defRPr>
            </a:pPr>
            <a:r>
              <a:rPr lang="de-AT" dirty="0"/>
              <a:t>4</a:t>
            </a:r>
            <a:endParaRPr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47C89EA4-7346-6FA1-4C9D-7C94CF4B86B2}"/>
              </a:ext>
            </a:extLst>
          </p:cNvPr>
          <p:cNvSpPr/>
          <p:nvPr/>
        </p:nvSpPr>
        <p:spPr>
          <a:xfrm>
            <a:off x="731266" y="1572601"/>
            <a:ext cx="2527540" cy="952356"/>
          </a:xfrm>
          <a:prstGeom prst="roundRect">
            <a:avLst/>
          </a:prstGeom>
          <a:solidFill>
            <a:srgbClr val="F5F6FA"/>
          </a:solidFill>
          <a:ln w="25400">
            <a:solidFill>
              <a:srgbClr val="2C5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sz="1600" dirty="0"/>
              <a:t>1. Dat</a:t>
            </a:r>
            <a:r>
              <a:rPr lang="de-AT" sz="1600" dirty="0"/>
              <a:t>a Ac</a:t>
            </a:r>
            <a:r>
              <a:rPr sz="1600" dirty="0" err="1"/>
              <a:t>quis</a:t>
            </a:r>
            <a:r>
              <a:rPr lang="de-AT" sz="1600" dirty="0" err="1"/>
              <a:t>ition</a:t>
            </a:r>
            <a:br>
              <a:rPr sz="1200" dirty="0"/>
            </a:br>
            <a:r>
              <a:rPr sz="1050" dirty="0"/>
              <a:t>EXAA, ICAP, EUROSTAT</a:t>
            </a:r>
            <a:r>
              <a:rPr lang="de-AT" sz="1050" dirty="0"/>
              <a:t>, E-Control, AUSTRIAN ENERGY AGENCY</a:t>
            </a:r>
            <a:endParaRPr sz="1200" dirty="0"/>
          </a:p>
        </p:txBody>
      </p:sp>
      <p:cxnSp>
        <p:nvCxnSpPr>
          <p:cNvPr id="12" name="Connector 4">
            <a:extLst>
              <a:ext uri="{FF2B5EF4-FFF2-40B4-BE49-F238E27FC236}">
                <a16:creationId xmlns:a16="http://schemas.microsoft.com/office/drawing/2014/main" id="{5F343CB2-7668-CA53-4EC9-F4F1B88A39DA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 flipV="1">
            <a:off x="3258806" y="2046150"/>
            <a:ext cx="1220640" cy="2629"/>
          </a:xfrm>
          <a:prstGeom prst="line">
            <a:avLst/>
          </a:prstGeom>
          <a:ln w="38100">
            <a:solidFill>
              <a:srgbClr val="5A9E6F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BAD15895-0C13-126D-6767-1D06D69D879D}"/>
              </a:ext>
            </a:extLst>
          </p:cNvPr>
          <p:cNvSpPr>
            <a:spLocks/>
          </p:cNvSpPr>
          <p:nvPr/>
        </p:nvSpPr>
        <p:spPr>
          <a:xfrm>
            <a:off x="4479446" y="1569150"/>
            <a:ext cx="2527200" cy="954000"/>
          </a:xfrm>
          <a:prstGeom prst="roundRect">
            <a:avLst/>
          </a:prstGeom>
          <a:solidFill>
            <a:srgbClr val="F5F6FA"/>
          </a:solidFill>
          <a:ln w="25400">
            <a:solidFill>
              <a:srgbClr val="2C5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dirty="0"/>
              <a:t>2. </a:t>
            </a:r>
            <a:r>
              <a:rPr lang="de-AT" dirty="0"/>
              <a:t>Technical </a:t>
            </a:r>
            <a:r>
              <a:rPr lang="de-AT" dirty="0" err="1"/>
              <a:t>Planning</a:t>
            </a:r>
            <a:br>
              <a:rPr lang="de-AT" dirty="0"/>
            </a:br>
            <a:r>
              <a:rPr lang="de-AT" sz="1050" dirty="0"/>
              <a:t>Understanding </a:t>
            </a:r>
            <a:r>
              <a:rPr lang="de-AT" sz="1050" dirty="0" err="1"/>
              <a:t>data</a:t>
            </a:r>
            <a:r>
              <a:rPr lang="de-AT" sz="1050" dirty="0"/>
              <a:t>, </a:t>
            </a:r>
            <a:r>
              <a:rPr lang="de-AT" sz="1050" dirty="0" err="1"/>
              <a:t>planning</a:t>
            </a:r>
            <a:r>
              <a:rPr lang="de-AT" sz="1050" dirty="0"/>
              <a:t> </a:t>
            </a:r>
            <a:r>
              <a:rPr lang="de-AT" sz="1050" dirty="0" err="1"/>
              <a:t>data</a:t>
            </a:r>
            <a:r>
              <a:rPr lang="de-AT" sz="1050" dirty="0"/>
              <a:t> </a:t>
            </a:r>
            <a:r>
              <a:rPr lang="de-AT" sz="1050" dirty="0" err="1"/>
              <a:t>model</a:t>
            </a:r>
            <a:r>
              <a:rPr lang="de-AT" sz="1050" dirty="0"/>
              <a:t> &amp; </a:t>
            </a:r>
            <a:r>
              <a:rPr lang="de-AT" sz="1050" dirty="0" err="1"/>
              <a:t>analysis</a:t>
            </a:r>
            <a:endParaRPr sz="1050" dirty="0"/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8A65926C-4464-6A38-6105-34215EA0C03E}"/>
              </a:ext>
            </a:extLst>
          </p:cNvPr>
          <p:cNvSpPr/>
          <p:nvPr/>
        </p:nvSpPr>
        <p:spPr>
          <a:xfrm>
            <a:off x="731606" y="4334850"/>
            <a:ext cx="2527200" cy="954000"/>
          </a:xfrm>
          <a:prstGeom prst="roundRect">
            <a:avLst/>
          </a:prstGeom>
          <a:solidFill>
            <a:srgbClr val="F5F6FA"/>
          </a:solidFill>
          <a:ln w="25400">
            <a:solidFill>
              <a:srgbClr val="2C5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de-AT" dirty="0"/>
              <a:t>5</a:t>
            </a:r>
            <a:r>
              <a:rPr dirty="0"/>
              <a:t>. </a:t>
            </a:r>
            <a:r>
              <a:rPr lang="de-AT" dirty="0"/>
              <a:t>EDA</a:t>
            </a:r>
          </a:p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de-AT" sz="1100" dirty="0" err="1"/>
              <a:t>Visualisations</a:t>
            </a:r>
            <a:r>
              <a:rPr lang="de-AT" sz="1100" dirty="0"/>
              <a:t>, Time Series </a:t>
            </a:r>
            <a:r>
              <a:rPr lang="de-AT" sz="1100" dirty="0" err="1"/>
              <a:t>Decomposition</a:t>
            </a:r>
            <a:r>
              <a:rPr lang="de-AT" sz="1100" dirty="0"/>
              <a:t>, </a:t>
            </a:r>
            <a:r>
              <a:rPr lang="de-AT" sz="1100" dirty="0" err="1"/>
              <a:t>Structural</a:t>
            </a:r>
            <a:r>
              <a:rPr lang="de-AT" sz="1100" dirty="0"/>
              <a:t> Breaks, </a:t>
            </a:r>
            <a:r>
              <a:rPr lang="de-AT" sz="1100" dirty="0" err="1"/>
              <a:t>Multicollinearity</a:t>
            </a:r>
            <a:r>
              <a:rPr lang="de-AT" dirty="0"/>
              <a:t> </a:t>
            </a:r>
            <a:endParaRPr dirty="0"/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486DD50D-223C-E9C2-DCFB-C76765185749}"/>
              </a:ext>
            </a:extLst>
          </p:cNvPr>
          <p:cNvSpPr>
            <a:spLocks/>
          </p:cNvSpPr>
          <p:nvPr/>
        </p:nvSpPr>
        <p:spPr>
          <a:xfrm>
            <a:off x="731266" y="2952000"/>
            <a:ext cx="2527200" cy="954000"/>
          </a:xfrm>
          <a:prstGeom prst="roundRect">
            <a:avLst/>
          </a:prstGeom>
          <a:solidFill>
            <a:srgbClr val="F5F6FA"/>
          </a:solidFill>
          <a:ln w="25400">
            <a:solidFill>
              <a:srgbClr val="2C5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de-AT" dirty="0"/>
              <a:t>3</a:t>
            </a:r>
            <a:r>
              <a:rPr dirty="0"/>
              <a:t>. </a:t>
            </a:r>
            <a:r>
              <a:rPr lang="de-AT" dirty="0"/>
              <a:t>Building Data Pipeline </a:t>
            </a:r>
            <a:br>
              <a:rPr lang="de-AT" dirty="0"/>
            </a:br>
            <a:r>
              <a:rPr lang="de-AT" sz="1100" dirty="0"/>
              <a:t>DRY, </a:t>
            </a:r>
            <a:r>
              <a:rPr lang="de-AT" sz="1100" dirty="0" err="1"/>
              <a:t>Scalability</a:t>
            </a:r>
            <a:r>
              <a:rPr lang="de-AT" sz="1100" dirty="0"/>
              <a:t>, Future-</a:t>
            </a:r>
            <a:r>
              <a:rPr lang="de-AT" sz="1100" dirty="0" err="1"/>
              <a:t>Proofing</a:t>
            </a:r>
            <a:endParaRPr sz="1050" dirty="0"/>
          </a:p>
        </p:txBody>
      </p:sp>
      <p:cxnSp>
        <p:nvCxnSpPr>
          <p:cNvPr id="26" name="Verbinder: gewinkelt 25">
            <a:extLst>
              <a:ext uri="{FF2B5EF4-FFF2-40B4-BE49-F238E27FC236}">
                <a16:creationId xmlns:a16="http://schemas.microsoft.com/office/drawing/2014/main" id="{02566DE7-3BC7-3BCF-B582-372BCFCD5C0F}"/>
              </a:ext>
            </a:extLst>
          </p:cNvPr>
          <p:cNvCxnSpPr>
            <a:cxnSpLocks/>
            <a:stCxn id="14" idx="3"/>
            <a:endCxn id="24" idx="0"/>
          </p:cNvCxnSpPr>
          <p:nvPr/>
        </p:nvCxnSpPr>
        <p:spPr>
          <a:xfrm flipH="1">
            <a:off x="1994866" y="2046150"/>
            <a:ext cx="5011780" cy="905850"/>
          </a:xfrm>
          <a:prstGeom prst="bentConnector4">
            <a:avLst>
              <a:gd name="adj1" fmla="val -4561"/>
              <a:gd name="adj2" fmla="val 76329"/>
            </a:avLst>
          </a:prstGeom>
          <a:ln w="38100">
            <a:solidFill>
              <a:srgbClr val="5A9E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4">
            <a:extLst>
              <a:ext uri="{FF2B5EF4-FFF2-40B4-BE49-F238E27FC236}">
                <a16:creationId xmlns:a16="http://schemas.microsoft.com/office/drawing/2014/main" id="{CD7F4293-D9FF-00A0-102F-49650A72EA5F}"/>
              </a:ext>
            </a:extLst>
          </p:cNvPr>
          <p:cNvCxnSpPr>
            <a:cxnSpLocks/>
            <a:stCxn id="24" idx="3"/>
            <a:endCxn id="34" idx="1"/>
          </p:cNvCxnSpPr>
          <p:nvPr/>
        </p:nvCxnSpPr>
        <p:spPr>
          <a:xfrm>
            <a:off x="3258466" y="3429000"/>
            <a:ext cx="1220980" cy="0"/>
          </a:xfrm>
          <a:prstGeom prst="line">
            <a:avLst/>
          </a:prstGeom>
          <a:ln w="38100">
            <a:solidFill>
              <a:srgbClr val="5A9E6F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5">
            <a:extLst>
              <a:ext uri="{FF2B5EF4-FFF2-40B4-BE49-F238E27FC236}">
                <a16:creationId xmlns:a16="http://schemas.microsoft.com/office/drawing/2014/main" id="{A2C09AF8-C4C6-8440-A8B8-15D27E8DE936}"/>
              </a:ext>
            </a:extLst>
          </p:cNvPr>
          <p:cNvSpPr/>
          <p:nvPr/>
        </p:nvSpPr>
        <p:spPr>
          <a:xfrm>
            <a:off x="4479446" y="2952000"/>
            <a:ext cx="2527200" cy="954000"/>
          </a:xfrm>
          <a:prstGeom prst="roundRect">
            <a:avLst/>
          </a:prstGeom>
          <a:solidFill>
            <a:srgbClr val="F5F6FA"/>
          </a:solidFill>
          <a:ln w="25400">
            <a:solidFill>
              <a:srgbClr val="2C5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de-AT" dirty="0"/>
              <a:t>4</a:t>
            </a:r>
            <a:r>
              <a:rPr dirty="0"/>
              <a:t>. </a:t>
            </a:r>
            <a:r>
              <a:rPr lang="de-AT" dirty="0" err="1"/>
              <a:t>Missing</a:t>
            </a:r>
            <a:r>
              <a:rPr lang="de-AT" dirty="0"/>
              <a:t> Values Treatment:</a:t>
            </a:r>
            <a:br>
              <a:rPr lang="de-AT" dirty="0"/>
            </a:br>
            <a:r>
              <a:rPr lang="de-AT" sz="1200" dirty="0"/>
              <a:t>„</a:t>
            </a:r>
            <a:r>
              <a:rPr lang="de-AT" sz="1200" dirty="0" err="1"/>
              <a:t>price_combined</a:t>
            </a:r>
            <a:r>
              <a:rPr lang="de-AT" sz="1200" dirty="0"/>
              <a:t>“, </a:t>
            </a:r>
            <a:r>
              <a:rPr lang="de-AT" sz="1200" dirty="0" err="1"/>
              <a:t>climate</a:t>
            </a:r>
            <a:r>
              <a:rPr lang="de-AT" sz="1200" dirty="0"/>
              <a:t> </a:t>
            </a:r>
            <a:r>
              <a:rPr lang="de-AT" sz="1200" dirty="0" err="1"/>
              <a:t>data</a:t>
            </a:r>
            <a:r>
              <a:rPr lang="de-AT" sz="1200" dirty="0"/>
              <a:t>,  </a:t>
            </a:r>
            <a:r>
              <a:rPr lang="de-AT" sz="1200" dirty="0" err="1"/>
              <a:t>dropping</a:t>
            </a:r>
            <a:r>
              <a:rPr lang="de-AT" sz="1200" dirty="0"/>
              <a:t> non-</a:t>
            </a:r>
            <a:r>
              <a:rPr lang="de-AT" sz="1200" dirty="0" err="1"/>
              <a:t>usable</a:t>
            </a:r>
            <a:r>
              <a:rPr lang="de-AT" sz="1200" dirty="0"/>
              <a:t>-</a:t>
            </a:r>
            <a:r>
              <a:rPr lang="de-AT" sz="1200" dirty="0" err="1"/>
              <a:t>columns</a:t>
            </a:r>
            <a:endParaRPr sz="1050" dirty="0"/>
          </a:p>
        </p:txBody>
      </p:sp>
      <p:cxnSp>
        <p:nvCxnSpPr>
          <p:cNvPr id="39" name="Verbinder: gewinkelt 38">
            <a:extLst>
              <a:ext uri="{FF2B5EF4-FFF2-40B4-BE49-F238E27FC236}">
                <a16:creationId xmlns:a16="http://schemas.microsoft.com/office/drawing/2014/main" id="{88299F98-0460-3D3A-73B9-3909F50CEBFD}"/>
              </a:ext>
            </a:extLst>
          </p:cNvPr>
          <p:cNvCxnSpPr>
            <a:cxnSpLocks/>
            <a:stCxn id="34" idx="3"/>
            <a:endCxn id="16" idx="0"/>
          </p:cNvCxnSpPr>
          <p:nvPr/>
        </p:nvCxnSpPr>
        <p:spPr>
          <a:xfrm flipH="1">
            <a:off x="1995206" y="3429000"/>
            <a:ext cx="5011440" cy="905850"/>
          </a:xfrm>
          <a:prstGeom prst="bentConnector4">
            <a:avLst>
              <a:gd name="adj1" fmla="val -4562"/>
              <a:gd name="adj2" fmla="val 76329"/>
            </a:avLst>
          </a:prstGeom>
          <a:ln w="38100">
            <a:solidFill>
              <a:srgbClr val="5A9E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7">
            <a:extLst>
              <a:ext uri="{FF2B5EF4-FFF2-40B4-BE49-F238E27FC236}">
                <a16:creationId xmlns:a16="http://schemas.microsoft.com/office/drawing/2014/main" id="{2BA455BF-ED91-DEE8-6CEC-516196F2BA86}"/>
              </a:ext>
            </a:extLst>
          </p:cNvPr>
          <p:cNvSpPr/>
          <p:nvPr/>
        </p:nvSpPr>
        <p:spPr>
          <a:xfrm>
            <a:off x="4500756" y="4334850"/>
            <a:ext cx="2527200" cy="954000"/>
          </a:xfrm>
          <a:prstGeom prst="roundRect">
            <a:avLst/>
          </a:prstGeom>
          <a:solidFill>
            <a:srgbClr val="F5F6FA"/>
          </a:solidFill>
          <a:ln w="25400">
            <a:solidFill>
              <a:srgbClr val="2C5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de-AT" dirty="0"/>
              <a:t>6</a:t>
            </a:r>
            <a:r>
              <a:rPr dirty="0"/>
              <a:t>. </a:t>
            </a:r>
            <a:r>
              <a:rPr lang="de-AT" dirty="0"/>
              <a:t>Model-Building &amp;</a:t>
            </a:r>
            <a:br>
              <a:rPr dirty="0"/>
            </a:br>
            <a:r>
              <a:rPr lang="de-AT" dirty="0"/>
              <a:t>Evaluation</a:t>
            </a:r>
          </a:p>
        </p:txBody>
      </p:sp>
      <p:cxnSp>
        <p:nvCxnSpPr>
          <p:cNvPr id="64" name="Connector 4">
            <a:extLst>
              <a:ext uri="{FF2B5EF4-FFF2-40B4-BE49-F238E27FC236}">
                <a16:creationId xmlns:a16="http://schemas.microsoft.com/office/drawing/2014/main" id="{DB63DC6D-6B7E-4282-5A5A-CC10B7827CD9}"/>
              </a:ext>
            </a:extLst>
          </p:cNvPr>
          <p:cNvCxnSpPr>
            <a:cxnSpLocks/>
            <a:stCxn id="16" idx="3"/>
            <a:endCxn id="53" idx="1"/>
          </p:cNvCxnSpPr>
          <p:nvPr/>
        </p:nvCxnSpPr>
        <p:spPr>
          <a:xfrm>
            <a:off x="3258806" y="4811850"/>
            <a:ext cx="1241950" cy="0"/>
          </a:xfrm>
          <a:prstGeom prst="line">
            <a:avLst/>
          </a:prstGeom>
          <a:ln w="38100">
            <a:solidFill>
              <a:srgbClr val="5A9E6F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hteck: abgerundete Ecken 70">
            <a:extLst>
              <a:ext uri="{FF2B5EF4-FFF2-40B4-BE49-F238E27FC236}">
                <a16:creationId xmlns:a16="http://schemas.microsoft.com/office/drawing/2014/main" id="{472B7E39-7736-AA19-D2D4-088B707E36B5}"/>
              </a:ext>
            </a:extLst>
          </p:cNvPr>
          <p:cNvSpPr/>
          <p:nvPr/>
        </p:nvSpPr>
        <p:spPr>
          <a:xfrm>
            <a:off x="342139" y="2643702"/>
            <a:ext cx="8517776" cy="2924780"/>
          </a:xfrm>
          <a:prstGeom prst="roundRect">
            <a:avLst/>
          </a:prstGeom>
          <a:noFill/>
          <a:ln w="38100">
            <a:solidFill>
              <a:srgbClr val="8B7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6397ED01-8E26-5D23-77C5-5F1DF08607B1}"/>
              </a:ext>
            </a:extLst>
          </p:cNvPr>
          <p:cNvSpPr txBox="1"/>
          <p:nvPr/>
        </p:nvSpPr>
        <p:spPr>
          <a:xfrm>
            <a:off x="7401377" y="3447994"/>
            <a:ext cx="1379352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sz="1200" u="sng" dirty="0">
                <a:solidFill>
                  <a:srgbClr val="8B7355"/>
                </a:solidFill>
              </a:rPr>
              <a:t>Mid-September to </a:t>
            </a:r>
            <a:br>
              <a:rPr lang="de-AT" sz="1200" u="sng" dirty="0">
                <a:solidFill>
                  <a:srgbClr val="8B7355"/>
                </a:solidFill>
              </a:rPr>
            </a:br>
            <a:r>
              <a:rPr lang="de-AT" sz="1200" u="sng" dirty="0">
                <a:solidFill>
                  <a:srgbClr val="8B7355"/>
                </a:solidFill>
              </a:rPr>
              <a:t>End of </a:t>
            </a:r>
            <a:r>
              <a:rPr lang="de-AT" sz="1200" u="sng" dirty="0" err="1">
                <a:solidFill>
                  <a:srgbClr val="8B7355"/>
                </a:solidFill>
              </a:rPr>
              <a:t>October</a:t>
            </a:r>
            <a:endParaRPr lang="de-AT" sz="1200" u="sng" dirty="0">
              <a:solidFill>
                <a:srgbClr val="8B7355"/>
              </a:solidFill>
            </a:endParaRPr>
          </a:p>
          <a:p>
            <a:pPr algn="ctr"/>
            <a:endParaRPr lang="de-AT" sz="500" u="sng" dirty="0">
              <a:solidFill>
                <a:srgbClr val="8B7355"/>
              </a:solidFill>
            </a:endParaRPr>
          </a:p>
          <a:p>
            <a:r>
              <a:rPr lang="de-AT" sz="1200" dirty="0">
                <a:solidFill>
                  <a:srgbClr val="8B7355"/>
                </a:solidFill>
              </a:rPr>
              <a:t>4 </a:t>
            </a:r>
            <a:r>
              <a:rPr lang="de-AT" sz="1200" dirty="0" err="1">
                <a:solidFill>
                  <a:srgbClr val="8B7355"/>
                </a:solidFill>
              </a:rPr>
              <a:t>Weeks</a:t>
            </a:r>
            <a:r>
              <a:rPr lang="de-AT" sz="1200" dirty="0">
                <a:solidFill>
                  <a:srgbClr val="8B7355"/>
                </a:solidFill>
              </a:rPr>
              <a:t> </a:t>
            </a:r>
          </a:p>
          <a:p>
            <a:r>
              <a:rPr lang="de-AT" sz="1200" dirty="0">
                <a:solidFill>
                  <a:srgbClr val="8B7355"/>
                </a:solidFill>
              </a:rPr>
              <a:t>+ </a:t>
            </a:r>
          </a:p>
          <a:p>
            <a:r>
              <a:rPr lang="de-AT" sz="1200" dirty="0">
                <a:solidFill>
                  <a:srgbClr val="8B7355"/>
                </a:solidFill>
              </a:rPr>
              <a:t>~2 </a:t>
            </a:r>
            <a:r>
              <a:rPr lang="de-AT" sz="1200" dirty="0" err="1">
                <a:solidFill>
                  <a:srgbClr val="8B7355"/>
                </a:solidFill>
              </a:rPr>
              <a:t>Weeks</a:t>
            </a:r>
            <a:r>
              <a:rPr lang="de-AT" sz="1200" dirty="0">
                <a:solidFill>
                  <a:srgbClr val="8B7355"/>
                </a:solidFill>
              </a:rPr>
              <a:t> for</a:t>
            </a:r>
          </a:p>
          <a:p>
            <a:r>
              <a:rPr lang="de-AT" sz="1200" dirty="0" err="1">
                <a:solidFill>
                  <a:srgbClr val="8B7355"/>
                </a:solidFill>
              </a:rPr>
              <a:t>documentation</a:t>
            </a:r>
            <a:endParaRPr lang="de-AT" sz="1200" dirty="0">
              <a:solidFill>
                <a:srgbClr val="8B7355"/>
              </a:solidFill>
            </a:endParaRP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0A269601-DE5E-8708-60C9-8DCBF5542DBC}"/>
              </a:ext>
            </a:extLst>
          </p:cNvPr>
          <p:cNvSpPr txBox="1"/>
          <p:nvPr/>
        </p:nvSpPr>
        <p:spPr>
          <a:xfrm>
            <a:off x="7386084" y="1665651"/>
            <a:ext cx="1409938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sz="1200" u="sng" dirty="0">
                <a:solidFill>
                  <a:srgbClr val="8B7355"/>
                </a:solidFill>
              </a:rPr>
              <a:t>Start of September:</a:t>
            </a:r>
          </a:p>
          <a:p>
            <a:endParaRPr lang="de-AT" sz="500" u="sng" dirty="0">
              <a:solidFill>
                <a:srgbClr val="8B7355"/>
              </a:solidFill>
            </a:endParaRPr>
          </a:p>
          <a:p>
            <a:r>
              <a:rPr lang="de-AT" sz="1200" dirty="0">
                <a:solidFill>
                  <a:srgbClr val="8B7355"/>
                </a:solidFill>
              </a:rPr>
              <a:t>Development</a:t>
            </a:r>
          </a:p>
          <a:p>
            <a:r>
              <a:rPr lang="de-AT" sz="1200" dirty="0">
                <a:solidFill>
                  <a:srgbClr val="8B7355"/>
                </a:solidFill>
              </a:rPr>
              <a:t>Phase ~2 </a:t>
            </a:r>
            <a:r>
              <a:rPr lang="de-AT" sz="1200" dirty="0" err="1">
                <a:solidFill>
                  <a:srgbClr val="8B7355"/>
                </a:solidFill>
              </a:rPr>
              <a:t>Weeks</a:t>
            </a:r>
            <a:endParaRPr lang="de-AT" sz="1200" dirty="0">
              <a:solidFill>
                <a:srgbClr val="8B7355"/>
              </a:solidFill>
            </a:endParaRP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017A26D3-903E-F41D-45EA-2F28C7908CC6}"/>
              </a:ext>
            </a:extLst>
          </p:cNvPr>
          <p:cNvSpPr txBox="1"/>
          <p:nvPr/>
        </p:nvSpPr>
        <p:spPr>
          <a:xfrm>
            <a:off x="7336349" y="2775684"/>
            <a:ext cx="15235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600" dirty="0">
                <a:solidFill>
                  <a:srgbClr val="8B7355"/>
                </a:solidFill>
              </a:rPr>
              <a:t>Development</a:t>
            </a:r>
          </a:p>
          <a:p>
            <a:r>
              <a:rPr lang="de-AT" sz="1600" dirty="0">
                <a:solidFill>
                  <a:srgbClr val="8B7355"/>
                </a:solidFill>
              </a:rPr>
              <a:t>Phase</a:t>
            </a:r>
            <a:endParaRPr lang="de-AT" sz="1600" dirty="0"/>
          </a:p>
        </p:txBody>
      </p:sp>
    </p:spTree>
    <p:extLst>
      <p:ext uri="{BB962C8B-B14F-4D97-AF65-F5344CB8AC3E}">
        <p14:creationId xmlns:p14="http://schemas.microsoft.com/office/powerpoint/2010/main" val="46657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4AB1-AB45-A3F1-50DE-489D6254D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672A67-CA30-EA94-BDC5-791B0A94EAE4}"/>
              </a:ext>
            </a:extLst>
          </p:cNvPr>
          <p:cNvSpPr txBox="1"/>
          <p:nvPr/>
        </p:nvSpPr>
        <p:spPr>
          <a:xfrm>
            <a:off x="731520" y="548640"/>
            <a:ext cx="305769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5F7C"/>
                </a:solidFill>
                <a:latin typeface="Aptos Display"/>
              </a:defRPr>
            </a:pPr>
            <a:r>
              <a:rPr lang="de-AT" dirty="0"/>
              <a:t>Data </a:t>
            </a:r>
            <a:r>
              <a:rPr lang="de-AT" dirty="0" err="1"/>
              <a:t>Overview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861A69-D05A-10D0-4C89-5B6E53EEA1DC}"/>
              </a:ext>
            </a:extLst>
          </p:cNvPr>
          <p:cNvSpPr/>
          <p:nvPr/>
        </p:nvSpPr>
        <p:spPr>
          <a:xfrm>
            <a:off x="731520" y="1188720"/>
            <a:ext cx="7680960" cy="9144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B8D4E-37AA-E66F-F6E8-BC4437399E8D}"/>
              </a:ext>
            </a:extLst>
          </p:cNvPr>
          <p:cNvSpPr txBox="1"/>
          <p:nvPr/>
        </p:nvSpPr>
        <p:spPr>
          <a:xfrm>
            <a:off x="914399" y="1645920"/>
            <a:ext cx="814537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b="1" dirty="0"/>
              <a:t>Data </a:t>
            </a:r>
            <a:r>
              <a:rPr lang="de-AT" b="1" dirty="0" err="1"/>
              <a:t>granularity</a:t>
            </a:r>
            <a:r>
              <a:rPr lang="de-AT" b="1" dirty="0"/>
              <a:t>: Monthly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b="1" dirty="0"/>
              <a:t>Outcome Variable: </a:t>
            </a:r>
            <a:r>
              <a:rPr lang="de-AT" dirty="0"/>
              <a:t>Average of </a:t>
            </a:r>
            <a:r>
              <a:rPr lang="de-AT" dirty="0" err="1"/>
              <a:t>day-ahead</a:t>
            </a:r>
            <a:r>
              <a:rPr lang="de-AT" dirty="0"/>
              <a:t> </a:t>
            </a:r>
            <a:r>
              <a:rPr lang="de-AT" dirty="0" err="1"/>
              <a:t>electricity</a:t>
            </a:r>
            <a:r>
              <a:rPr lang="de-AT" dirty="0"/>
              <a:t> </a:t>
            </a:r>
            <a:r>
              <a:rPr lang="de-AT" dirty="0" err="1"/>
              <a:t>prices</a:t>
            </a:r>
            <a:r>
              <a:rPr lang="de-AT" dirty="0"/>
              <a:t> (EXAA / Vienna Stock Exchange)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b="1" dirty="0"/>
              <a:t>Input Variables</a:t>
            </a:r>
            <a:r>
              <a:rPr lang="de-AT" dirty="0"/>
              <a:t>: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dirty="0"/>
              <a:t>Natural gas </a:t>
            </a:r>
            <a:r>
              <a:rPr lang="de-AT" dirty="0" err="1"/>
              <a:t>prices</a:t>
            </a:r>
            <a:r>
              <a:rPr lang="de-AT" dirty="0"/>
              <a:t>  - Average of 1-month </a:t>
            </a:r>
            <a:r>
              <a:rPr lang="de-AT" dirty="0" err="1"/>
              <a:t>ahead</a:t>
            </a:r>
            <a:r>
              <a:rPr lang="de-AT" dirty="0"/>
              <a:t> </a:t>
            </a:r>
            <a:r>
              <a:rPr lang="de-AT" dirty="0" err="1"/>
              <a:t>futures</a:t>
            </a:r>
            <a:r>
              <a:rPr lang="de-AT" dirty="0"/>
              <a:t> (Austrian Energy Agency)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dirty="0"/>
              <a:t>Price of </a:t>
            </a:r>
            <a:r>
              <a:rPr lang="de-AT" dirty="0" err="1"/>
              <a:t>carbon</a:t>
            </a:r>
            <a:r>
              <a:rPr lang="de-AT" dirty="0"/>
              <a:t> </a:t>
            </a:r>
            <a:r>
              <a:rPr lang="de-AT" dirty="0" err="1"/>
              <a:t>emission</a:t>
            </a:r>
            <a:r>
              <a:rPr lang="de-AT" dirty="0"/>
              <a:t> </a:t>
            </a:r>
            <a:r>
              <a:rPr lang="de-AT" dirty="0" err="1"/>
              <a:t>credits</a:t>
            </a:r>
            <a:r>
              <a:rPr lang="de-AT" dirty="0"/>
              <a:t> in European Trading Area (ICAP)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dirty="0"/>
              <a:t>Climate </a:t>
            </a:r>
            <a:r>
              <a:rPr lang="de-AT" dirty="0" err="1"/>
              <a:t>data</a:t>
            </a:r>
            <a:r>
              <a:rPr lang="de-AT" dirty="0"/>
              <a:t> for </a:t>
            </a:r>
            <a:r>
              <a:rPr lang="de-AT" dirty="0" err="1"/>
              <a:t>austria</a:t>
            </a:r>
            <a:r>
              <a:rPr lang="de-AT" dirty="0"/>
              <a:t> (EUROSTAT)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dirty="0"/>
              <a:t>Proportion of </a:t>
            </a:r>
            <a:r>
              <a:rPr lang="de-AT" dirty="0" err="1"/>
              <a:t>renewables</a:t>
            </a:r>
            <a:r>
              <a:rPr lang="de-AT" dirty="0"/>
              <a:t> in </a:t>
            </a:r>
            <a:r>
              <a:rPr lang="de-AT" dirty="0" err="1"/>
              <a:t>energy</a:t>
            </a:r>
            <a:r>
              <a:rPr lang="de-AT" dirty="0"/>
              <a:t> </a:t>
            </a:r>
            <a:r>
              <a:rPr lang="de-AT" dirty="0" err="1"/>
              <a:t>production</a:t>
            </a:r>
            <a:r>
              <a:rPr lang="de-AT" dirty="0"/>
              <a:t> (E-Control)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dirty="0" err="1"/>
              <a:t>Economic</a:t>
            </a:r>
            <a:r>
              <a:rPr lang="de-AT" dirty="0"/>
              <a:t> </a:t>
            </a:r>
            <a:r>
              <a:rPr lang="de-AT" dirty="0" err="1"/>
              <a:t>indicators</a:t>
            </a:r>
            <a:r>
              <a:rPr lang="de-AT" dirty="0"/>
              <a:t> (STATISTIK Austria)</a:t>
            </a:r>
          </a:p>
          <a:p>
            <a:pPr lvl="1">
              <a:spcAft>
                <a:spcPts val="1200"/>
              </a:spcAft>
              <a:defRPr sz="1800">
                <a:solidFill>
                  <a:srgbClr val="2D3436"/>
                </a:solidFill>
                <a:latin typeface="Aptos"/>
              </a:defRPr>
            </a:pPr>
            <a:endParaRPr lang="de-AT" dirty="0"/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  <a:defRPr sz="1800">
                <a:solidFill>
                  <a:srgbClr val="2D3436"/>
                </a:solidFill>
                <a:latin typeface="Aptos"/>
              </a:defRPr>
            </a:pPr>
            <a:endParaRPr lang="de-A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2643B-367E-0FFF-A9FB-3E52E233AE4A}"/>
              </a:ext>
            </a:extLst>
          </p:cNvPr>
          <p:cNvSpPr txBox="1"/>
          <p:nvPr/>
        </p:nvSpPr>
        <p:spPr>
          <a:xfrm>
            <a:off x="8420381" y="6400800"/>
            <a:ext cx="2664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7355"/>
                </a:solidFill>
                <a:latin typeface="Aptos"/>
              </a:defRPr>
            </a:pPr>
            <a:r>
              <a:rPr lang="de-AT" dirty="0"/>
              <a:t>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564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190D1-5675-D18B-BF78-762E37F4C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BC2AC3-1D5B-5F97-8EC7-FB9BDB78F739}"/>
              </a:ext>
            </a:extLst>
          </p:cNvPr>
          <p:cNvSpPr txBox="1"/>
          <p:nvPr/>
        </p:nvSpPr>
        <p:spPr>
          <a:xfrm>
            <a:off x="731520" y="548640"/>
            <a:ext cx="408233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5F7C"/>
                </a:solidFill>
                <a:latin typeface="Aptos Display"/>
              </a:defRPr>
            </a:pPr>
            <a:r>
              <a:rPr lang="de-AT" dirty="0"/>
              <a:t>Central EDA </a:t>
            </a:r>
            <a:r>
              <a:rPr lang="de-AT" dirty="0" err="1"/>
              <a:t>Finding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717F5C-BC95-4E5B-36CB-A84C9C77A6B8}"/>
              </a:ext>
            </a:extLst>
          </p:cNvPr>
          <p:cNvSpPr/>
          <p:nvPr/>
        </p:nvSpPr>
        <p:spPr>
          <a:xfrm>
            <a:off x="731520" y="1188720"/>
            <a:ext cx="7680960" cy="9144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DD01E-4AB7-F876-BE6D-99AC3DB60D07}"/>
              </a:ext>
            </a:extLst>
          </p:cNvPr>
          <p:cNvSpPr txBox="1"/>
          <p:nvPr/>
        </p:nvSpPr>
        <p:spPr>
          <a:xfrm>
            <a:off x="517357" y="1380608"/>
            <a:ext cx="814537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b="1" dirty="0" err="1"/>
              <a:t>Three</a:t>
            </a:r>
            <a:r>
              <a:rPr lang="de-AT" b="1" dirty="0"/>
              <a:t> </a:t>
            </a:r>
            <a:r>
              <a:rPr lang="de-AT" b="1" dirty="0" err="1"/>
              <a:t>distinct</a:t>
            </a:r>
            <a:r>
              <a:rPr lang="de-AT" b="1" dirty="0"/>
              <a:t> </a:t>
            </a:r>
            <a:r>
              <a:rPr lang="de-AT" b="1" dirty="0" err="1"/>
              <a:t>periods</a:t>
            </a:r>
            <a:r>
              <a:rPr lang="de-AT" b="1" dirty="0"/>
              <a:t> in </a:t>
            </a:r>
            <a:r>
              <a:rPr lang="de-AT" b="1" dirty="0" err="1"/>
              <a:t>electricity</a:t>
            </a:r>
            <a:r>
              <a:rPr lang="de-AT" b="1" dirty="0"/>
              <a:t> </a:t>
            </a:r>
            <a:r>
              <a:rPr lang="de-AT" b="1" dirty="0" err="1"/>
              <a:t>price</a:t>
            </a:r>
            <a:r>
              <a:rPr lang="de-AT" b="1" dirty="0"/>
              <a:t> </a:t>
            </a:r>
            <a:r>
              <a:rPr lang="de-AT" b="1" dirty="0" err="1"/>
              <a:t>data</a:t>
            </a:r>
            <a:r>
              <a:rPr lang="de-AT" b="1" dirty="0"/>
              <a:t>: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  <a:defRPr sz="1800">
                <a:solidFill>
                  <a:srgbClr val="2D3436"/>
                </a:solidFill>
                <a:latin typeface="Aptos"/>
              </a:defRPr>
            </a:pPr>
            <a:endParaRPr lang="de-A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F3570-5781-F1A9-8FBB-830A19BFD93F}"/>
              </a:ext>
            </a:extLst>
          </p:cNvPr>
          <p:cNvSpPr txBox="1"/>
          <p:nvPr/>
        </p:nvSpPr>
        <p:spPr>
          <a:xfrm>
            <a:off x="8420381" y="6400800"/>
            <a:ext cx="2664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7355"/>
                </a:solidFill>
                <a:latin typeface="Aptos"/>
              </a:defRPr>
            </a:pPr>
            <a:r>
              <a:rPr lang="de-AT" dirty="0"/>
              <a:t>6</a:t>
            </a:r>
            <a:endParaRPr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A8798878-9FF6-F4B9-6A71-48A30541F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220442"/>
              </p:ext>
            </p:extLst>
          </p:nvPr>
        </p:nvGraphicFramePr>
        <p:xfrm>
          <a:off x="481264" y="1721536"/>
          <a:ext cx="8325854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799">
                  <a:extLst>
                    <a:ext uri="{9D8B030D-6E8A-4147-A177-3AD203B41FA5}">
                      <a16:colId xmlns:a16="http://schemas.microsoft.com/office/drawing/2014/main" val="837934747"/>
                    </a:ext>
                  </a:extLst>
                </a:gridCol>
                <a:gridCol w="1395799">
                  <a:extLst>
                    <a:ext uri="{9D8B030D-6E8A-4147-A177-3AD203B41FA5}">
                      <a16:colId xmlns:a16="http://schemas.microsoft.com/office/drawing/2014/main" val="2823163308"/>
                    </a:ext>
                  </a:extLst>
                </a:gridCol>
                <a:gridCol w="1346860">
                  <a:extLst>
                    <a:ext uri="{9D8B030D-6E8A-4147-A177-3AD203B41FA5}">
                      <a16:colId xmlns:a16="http://schemas.microsoft.com/office/drawing/2014/main" val="4182519786"/>
                    </a:ext>
                  </a:extLst>
                </a:gridCol>
                <a:gridCol w="1346860">
                  <a:extLst>
                    <a:ext uri="{9D8B030D-6E8A-4147-A177-3AD203B41FA5}">
                      <a16:colId xmlns:a16="http://schemas.microsoft.com/office/drawing/2014/main" val="605764998"/>
                    </a:ext>
                  </a:extLst>
                </a:gridCol>
                <a:gridCol w="879386">
                  <a:extLst>
                    <a:ext uri="{9D8B030D-6E8A-4147-A177-3AD203B41FA5}">
                      <a16:colId xmlns:a16="http://schemas.microsoft.com/office/drawing/2014/main" val="4243998089"/>
                    </a:ext>
                  </a:extLst>
                </a:gridCol>
                <a:gridCol w="1961150">
                  <a:extLst>
                    <a:ext uri="{9D8B030D-6E8A-4147-A177-3AD203B41FA5}">
                      <a16:colId xmlns:a16="http://schemas.microsoft.com/office/drawing/2014/main" val="3339375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err="1"/>
                        <a:t>Period</a:t>
                      </a:r>
                      <a:endParaRPr lang="de-AT" dirty="0"/>
                    </a:p>
                  </a:txBody>
                  <a:tcPr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baseline="0" dirty="0"/>
                        <a:t>~</a:t>
                      </a:r>
                      <a:r>
                        <a:rPr lang="de-AT" dirty="0"/>
                        <a:t> </a:t>
                      </a:r>
                      <a:r>
                        <a:rPr lang="de-AT" dirty="0" err="1"/>
                        <a:t>Timespan</a:t>
                      </a:r>
                      <a:endParaRPr lang="de-AT" dirty="0"/>
                    </a:p>
                  </a:txBody>
                  <a:tcPr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 err="1"/>
                        <a:t>No</a:t>
                      </a:r>
                      <a:r>
                        <a:rPr lang="de-AT" dirty="0"/>
                        <a:t>. of </a:t>
                      </a:r>
                      <a:r>
                        <a:rPr lang="de-AT" dirty="0" err="1"/>
                        <a:t>months</a:t>
                      </a:r>
                      <a:endParaRPr lang="de-AT" dirty="0"/>
                    </a:p>
                  </a:txBody>
                  <a:tcPr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Mean (EUR/MWh)</a:t>
                      </a:r>
                    </a:p>
                  </a:txBody>
                  <a:tcPr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SD</a:t>
                      </a:r>
                    </a:p>
                  </a:txBody>
                  <a:tcPr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 err="1"/>
                        <a:t>Stationary</a:t>
                      </a:r>
                      <a:r>
                        <a:rPr lang="de-AT" dirty="0"/>
                        <a:t>?</a:t>
                      </a:r>
                    </a:p>
                  </a:txBody>
                  <a:tcPr>
                    <a:solidFill>
                      <a:srgbClr val="2C5F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67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err="1"/>
                        <a:t>Pre</a:t>
                      </a:r>
                      <a:r>
                        <a:rPr lang="de-AT" dirty="0"/>
                        <a:t>-Shock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2015-2020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72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35,94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9,6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Yes (ADF p= ,034)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008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Price Shock</a:t>
                      </a:r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2021-2023</a:t>
                      </a:r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26</a:t>
                      </a:r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181,92</a:t>
                      </a:r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112,44</a:t>
                      </a:r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 err="1"/>
                        <a:t>No</a:t>
                      </a:r>
                      <a:endParaRPr lang="de-AT" dirty="0"/>
                    </a:p>
                  </a:txBody>
                  <a:tcPr>
                    <a:solidFill>
                      <a:srgbClr val="E3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57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Post-Shock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2023-2025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30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89,27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22,7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Yes (ADF p= ,027) 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163791"/>
                  </a:ext>
                </a:extLst>
              </a:tr>
            </a:tbl>
          </a:graphicData>
        </a:graphic>
      </p:graphicFrame>
      <p:sp>
        <p:nvSpPr>
          <p:cNvPr id="7" name="TextBox 3">
            <a:extLst>
              <a:ext uri="{FF2B5EF4-FFF2-40B4-BE49-F238E27FC236}">
                <a16:creationId xmlns:a16="http://schemas.microsoft.com/office/drawing/2014/main" id="{E85314AD-D581-2683-ED29-D451CA8D48CC}"/>
              </a:ext>
            </a:extLst>
          </p:cNvPr>
          <p:cNvSpPr txBox="1"/>
          <p:nvPr/>
        </p:nvSpPr>
        <p:spPr>
          <a:xfrm>
            <a:off x="481263" y="3614029"/>
            <a:ext cx="8506325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b="1" dirty="0" err="1"/>
              <a:t>Why</a:t>
            </a:r>
            <a:r>
              <a:rPr lang="de-AT" sz="1600" b="1" dirty="0"/>
              <a:t> </a:t>
            </a:r>
            <a:r>
              <a:rPr lang="de-AT" sz="1600" b="1" dirty="0" err="1"/>
              <a:t>is</a:t>
            </a:r>
            <a:r>
              <a:rPr lang="de-AT" sz="1600" b="1" dirty="0"/>
              <a:t> </a:t>
            </a:r>
            <a:r>
              <a:rPr lang="de-AT" sz="1600" b="1" dirty="0" err="1"/>
              <a:t>stationarity</a:t>
            </a:r>
            <a:r>
              <a:rPr lang="de-AT" sz="1600" b="1" dirty="0"/>
              <a:t> relevant?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 err="1"/>
              <a:t>Stationarity</a:t>
            </a:r>
            <a:r>
              <a:rPr lang="de-AT" sz="1600" dirty="0"/>
              <a:t> = Constant </a:t>
            </a:r>
            <a:r>
              <a:rPr lang="de-AT" sz="1600" dirty="0" err="1"/>
              <a:t>mean</a:t>
            </a:r>
            <a:r>
              <a:rPr lang="de-AT" sz="1600" dirty="0"/>
              <a:t>, </a:t>
            </a:r>
            <a:r>
              <a:rPr lang="de-AT" sz="1600" dirty="0" err="1"/>
              <a:t>variance</a:t>
            </a:r>
            <a:r>
              <a:rPr lang="de-AT" sz="1600" dirty="0"/>
              <a:t>, </a:t>
            </a:r>
            <a:r>
              <a:rPr lang="de-AT" sz="1600" dirty="0" err="1"/>
              <a:t>autocorrelation</a:t>
            </a:r>
            <a:r>
              <a:rPr lang="de-AT" sz="1600" dirty="0"/>
              <a:t> </a:t>
            </a:r>
            <a:r>
              <a:rPr lang="de-AT" sz="1600" dirty="0" err="1"/>
              <a:t>structure</a:t>
            </a:r>
            <a:r>
              <a:rPr lang="de-AT" sz="1600" dirty="0"/>
              <a:t> </a:t>
            </a:r>
            <a:r>
              <a:rPr lang="de-AT" sz="1600" dirty="0" err="1"/>
              <a:t>over</a:t>
            </a:r>
            <a:r>
              <a:rPr lang="de-AT" sz="1600" dirty="0"/>
              <a:t> time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en-US" sz="1600" dirty="0"/>
              <a:t>ARIMA models need stable patterns from the past</a:t>
            </a:r>
            <a:endParaRPr lang="de-AT" sz="16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 err="1"/>
              <a:t>Stationarity</a:t>
            </a:r>
            <a:r>
              <a:rPr lang="de-AT" sz="1600" dirty="0"/>
              <a:t> was </a:t>
            </a:r>
            <a:r>
              <a:rPr lang="de-AT" sz="1600" dirty="0" err="1"/>
              <a:t>detected</a:t>
            </a:r>
            <a:r>
              <a:rPr lang="de-AT" sz="1600" dirty="0"/>
              <a:t> </a:t>
            </a:r>
            <a:r>
              <a:rPr lang="de-AT" sz="1600" dirty="0" err="1"/>
              <a:t>using</a:t>
            </a:r>
            <a:r>
              <a:rPr lang="de-AT" sz="1600" dirty="0"/>
              <a:t> </a:t>
            </a:r>
            <a:r>
              <a:rPr lang="de-AT" sz="1600" dirty="0" err="1"/>
              <a:t>forwards</a:t>
            </a:r>
            <a:r>
              <a:rPr lang="de-AT" sz="1600" dirty="0"/>
              <a:t>/</a:t>
            </a:r>
            <a:r>
              <a:rPr lang="de-AT" sz="1600" dirty="0" err="1"/>
              <a:t>backwards</a:t>
            </a:r>
            <a:r>
              <a:rPr lang="de-AT" sz="1600" dirty="0"/>
              <a:t> </a:t>
            </a:r>
            <a:r>
              <a:rPr lang="de-AT" sz="1600" dirty="0" err="1"/>
              <a:t>expanding</a:t>
            </a:r>
            <a:r>
              <a:rPr lang="de-AT" sz="1600" dirty="0"/>
              <a:t> ADF and KPSS </a:t>
            </a:r>
            <a:r>
              <a:rPr lang="de-AT" sz="1600" dirty="0" err="1"/>
              <a:t>tests</a:t>
            </a:r>
            <a:endParaRPr lang="de-AT" sz="16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endParaRPr lang="de-AT" sz="600" dirty="0"/>
          </a:p>
          <a:p>
            <a:pPr>
              <a:spcAft>
                <a:spcPts val="1200"/>
              </a:spcAft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b="1" dirty="0" err="1"/>
              <a:t>Sparse</a:t>
            </a:r>
            <a:r>
              <a:rPr lang="de-AT" sz="1600" b="1" dirty="0"/>
              <a:t> Data! Most </a:t>
            </a:r>
            <a:r>
              <a:rPr lang="de-AT" sz="1600" b="1" dirty="0" err="1"/>
              <a:t>important</a:t>
            </a:r>
            <a:r>
              <a:rPr lang="de-AT" sz="1600" b="1" dirty="0"/>
              <a:t> </a:t>
            </a:r>
            <a:r>
              <a:rPr lang="de-AT" sz="1600" b="1" dirty="0" err="1"/>
              <a:t>exogenous</a:t>
            </a:r>
            <a:r>
              <a:rPr lang="de-AT" sz="1600" b="1" dirty="0"/>
              <a:t> variable (gas </a:t>
            </a:r>
            <a:r>
              <a:rPr lang="de-AT" sz="1600" b="1" dirty="0" err="1"/>
              <a:t>price</a:t>
            </a:r>
            <a:r>
              <a:rPr lang="de-AT" sz="1600" b="1" dirty="0"/>
              <a:t>) </a:t>
            </a:r>
            <a:r>
              <a:rPr lang="de-AT" sz="1600" b="1" dirty="0" err="1"/>
              <a:t>available</a:t>
            </a:r>
            <a:r>
              <a:rPr lang="de-AT" sz="1600" b="1" dirty="0"/>
              <a:t> </a:t>
            </a:r>
            <a:r>
              <a:rPr lang="de-AT" sz="1600" b="1" dirty="0" err="1"/>
              <a:t>only</a:t>
            </a:r>
            <a:r>
              <a:rPr lang="de-AT" sz="1600" b="1" dirty="0"/>
              <a:t> </a:t>
            </a:r>
            <a:r>
              <a:rPr lang="de-AT" sz="1600" b="1" dirty="0" err="1"/>
              <a:t>from</a:t>
            </a:r>
            <a:r>
              <a:rPr lang="de-AT" sz="1600" b="1" dirty="0"/>
              <a:t> 2020</a:t>
            </a:r>
            <a:br>
              <a:rPr lang="de-AT" sz="1600" b="1" dirty="0"/>
            </a:br>
            <a:r>
              <a:rPr lang="de-AT" sz="1600" dirty="0" err="1"/>
              <a:t>Trained</a:t>
            </a:r>
            <a:r>
              <a:rPr lang="de-AT" sz="1600" dirty="0"/>
              <a:t> on all </a:t>
            </a:r>
            <a:r>
              <a:rPr lang="de-AT" sz="1600" dirty="0" err="1"/>
              <a:t>three</a:t>
            </a:r>
            <a:r>
              <a:rPr lang="de-AT" sz="1600" dirty="0"/>
              <a:t> </a:t>
            </a:r>
            <a:r>
              <a:rPr lang="de-AT" sz="1600" dirty="0" err="1"/>
              <a:t>Periods</a:t>
            </a:r>
            <a:r>
              <a:rPr lang="de-AT" sz="1600" dirty="0"/>
              <a:t> (n=108 / n=48), </a:t>
            </a:r>
            <a:r>
              <a:rPr lang="de-AT" sz="1600" dirty="0" err="1"/>
              <a:t>tested</a:t>
            </a:r>
            <a:r>
              <a:rPr lang="de-AT" sz="1600" dirty="0"/>
              <a:t> on Post Shock (2024+ n=18)</a:t>
            </a:r>
          </a:p>
        </p:txBody>
      </p:sp>
    </p:spTree>
    <p:extLst>
      <p:ext uri="{BB962C8B-B14F-4D97-AF65-F5344CB8AC3E}">
        <p14:creationId xmlns:p14="http://schemas.microsoft.com/office/powerpoint/2010/main" val="1628991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D802-08BC-49BE-24BA-7C0FD2103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37F638-B82F-156B-6906-0B8D0758C91A}"/>
              </a:ext>
            </a:extLst>
          </p:cNvPr>
          <p:cNvSpPr txBox="1"/>
          <p:nvPr/>
        </p:nvSpPr>
        <p:spPr>
          <a:xfrm>
            <a:off x="731520" y="548640"/>
            <a:ext cx="633224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5F7C"/>
                </a:solidFill>
                <a:latin typeface="Aptos Display"/>
              </a:defRPr>
            </a:pPr>
            <a:r>
              <a:rPr lang="de-AT" dirty="0"/>
              <a:t>Model </a:t>
            </a:r>
            <a:r>
              <a:rPr lang="de-AT" dirty="0" err="1"/>
              <a:t>Comparion</a:t>
            </a:r>
            <a:r>
              <a:rPr lang="de-AT" dirty="0"/>
              <a:t> &amp; Evaluation 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2654E0-9C70-EA99-24B1-6AB2EE2E4981}"/>
              </a:ext>
            </a:extLst>
          </p:cNvPr>
          <p:cNvSpPr/>
          <p:nvPr/>
        </p:nvSpPr>
        <p:spPr>
          <a:xfrm>
            <a:off x="731520" y="1188720"/>
            <a:ext cx="7680960" cy="9144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6BD71-9661-DF92-63AD-AC1D348FB7DC}"/>
              </a:ext>
            </a:extLst>
          </p:cNvPr>
          <p:cNvSpPr txBox="1"/>
          <p:nvPr/>
        </p:nvSpPr>
        <p:spPr>
          <a:xfrm>
            <a:off x="8420381" y="6400800"/>
            <a:ext cx="2664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7355"/>
                </a:solidFill>
                <a:latin typeface="Aptos"/>
              </a:defRPr>
            </a:pPr>
            <a:r>
              <a:rPr lang="de-AT" dirty="0"/>
              <a:t>7</a:t>
            </a:r>
            <a:endParaRPr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F40F845C-4A5B-1A29-186C-01FDBD750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78871"/>
              </p:ext>
            </p:extLst>
          </p:nvPr>
        </p:nvGraphicFramePr>
        <p:xfrm>
          <a:off x="745094" y="1350743"/>
          <a:ext cx="7808496" cy="258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342">
                  <a:extLst>
                    <a:ext uri="{9D8B030D-6E8A-4147-A177-3AD203B41FA5}">
                      <a16:colId xmlns:a16="http://schemas.microsoft.com/office/drawing/2014/main" val="3740841414"/>
                    </a:ext>
                  </a:extLst>
                </a:gridCol>
                <a:gridCol w="3568938">
                  <a:extLst>
                    <a:ext uri="{9D8B030D-6E8A-4147-A177-3AD203B41FA5}">
                      <a16:colId xmlns:a16="http://schemas.microsoft.com/office/drawing/2014/main" val="837934747"/>
                    </a:ext>
                  </a:extLst>
                </a:gridCol>
                <a:gridCol w="2139216">
                  <a:extLst>
                    <a:ext uri="{9D8B030D-6E8A-4147-A177-3AD203B41FA5}">
                      <a16:colId xmlns:a16="http://schemas.microsoft.com/office/drawing/2014/main" val="2823163308"/>
                    </a:ext>
                  </a:extLst>
                </a:gridCol>
              </a:tblGrid>
              <a:tr h="363936">
                <a:tc>
                  <a:txBody>
                    <a:bodyPr/>
                    <a:lstStyle/>
                    <a:p>
                      <a:r>
                        <a:rPr lang="de-AT" dirty="0"/>
                        <a:t>Training </a:t>
                      </a:r>
                      <a:r>
                        <a:rPr lang="de-AT" dirty="0" err="1"/>
                        <a:t>Period</a:t>
                      </a:r>
                      <a:endParaRPr lang="de-AT" dirty="0"/>
                    </a:p>
                  </a:txBody>
                  <a:tcPr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Model</a:t>
                      </a:r>
                    </a:p>
                  </a:txBody>
                  <a:tcPr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RMSE (Test n=18)</a:t>
                      </a:r>
                    </a:p>
                  </a:txBody>
                  <a:tcPr>
                    <a:solidFill>
                      <a:srgbClr val="2C5F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673726"/>
                  </a:ext>
                </a:extLst>
              </a:tr>
              <a:tr h="349499">
                <a:tc rowSpan="3">
                  <a:txBody>
                    <a:bodyPr/>
                    <a:lstStyle/>
                    <a:p>
                      <a:pPr algn="ctr"/>
                      <a:r>
                        <a:rPr lang="de-AT" dirty="0"/>
                        <a:t>2015-2023</a:t>
                      </a:r>
                    </a:p>
                    <a:p>
                      <a:pPr algn="ctr"/>
                      <a:r>
                        <a:rPr lang="de-AT" dirty="0"/>
                        <a:t>(n=108)</a:t>
                      </a:r>
                    </a:p>
                  </a:txBody>
                  <a:tcPr anchor="ctr"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 err="1"/>
                        <a:t>Persistence</a:t>
                      </a:r>
                      <a:r>
                        <a:rPr lang="de-AT" dirty="0"/>
                        <a:t> (B)</a:t>
                      </a:r>
                    </a:p>
                  </a:txBody>
                  <a:tcPr>
                    <a:solidFill>
                      <a:srgbClr val="A2C9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43,84</a:t>
                      </a:r>
                    </a:p>
                  </a:txBody>
                  <a:tcPr>
                    <a:solidFill>
                      <a:srgbClr val="A2C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0085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 err="1"/>
                        <a:t>Seasonal</a:t>
                      </a:r>
                      <a:r>
                        <a:rPr lang="de-AT" dirty="0"/>
                        <a:t> Naive (B)</a:t>
                      </a:r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56,42</a:t>
                      </a:r>
                    </a:p>
                  </a:txBody>
                  <a:tcPr>
                    <a:solidFill>
                      <a:srgbClr val="E3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5700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b="1" dirty="0"/>
                        <a:t>ARIMA (2,1,0)</a:t>
                      </a:r>
                    </a:p>
                  </a:txBody>
                  <a:tcPr>
                    <a:solidFill>
                      <a:srgbClr val="A2C9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b="1" dirty="0"/>
                        <a:t>28,40</a:t>
                      </a:r>
                    </a:p>
                  </a:txBody>
                  <a:tcPr>
                    <a:solidFill>
                      <a:srgbClr val="A2C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236303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de-AT" dirty="0"/>
                        <a:t>2020-2023</a:t>
                      </a:r>
                      <a:br>
                        <a:rPr lang="de-AT" dirty="0"/>
                      </a:br>
                      <a:r>
                        <a:rPr lang="de-AT" dirty="0"/>
                        <a:t>(n=48)</a:t>
                      </a:r>
                    </a:p>
                  </a:txBody>
                  <a:tcPr anchor="ctr"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ARIMA (3,0,0) (B)</a:t>
                      </a:r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26,23</a:t>
                      </a:r>
                    </a:p>
                  </a:txBody>
                  <a:tcPr>
                    <a:solidFill>
                      <a:srgbClr val="E3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7878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AT" dirty="0"/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b="1" dirty="0"/>
                        <a:t>ARIMAX (3,0,1) + Gas </a:t>
                      </a:r>
                      <a:r>
                        <a:rPr lang="de-AT" b="1" dirty="0" err="1"/>
                        <a:t>price</a:t>
                      </a:r>
                      <a:endParaRPr lang="de-AT" b="1" dirty="0"/>
                    </a:p>
                  </a:txBody>
                  <a:tcPr>
                    <a:solidFill>
                      <a:srgbClr val="A2C9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b="1" dirty="0"/>
                        <a:t>21,56</a:t>
                      </a:r>
                    </a:p>
                  </a:txBody>
                  <a:tcPr>
                    <a:solidFill>
                      <a:srgbClr val="A2C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20536"/>
                  </a:ext>
                </a:extLst>
              </a:tr>
              <a:tr h="201563">
                <a:tc vMerge="1">
                  <a:txBody>
                    <a:bodyPr/>
                    <a:lstStyle/>
                    <a:p>
                      <a:endParaRPr lang="de-AT" dirty="0"/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b="1" dirty="0"/>
                        <a:t>ARIMAX (0,0,0) + Gas </a:t>
                      </a:r>
                      <a:r>
                        <a:rPr lang="de-AT" b="1" dirty="0" err="1"/>
                        <a:t>price</a:t>
                      </a:r>
                      <a:endParaRPr lang="de-AT" b="1" dirty="0"/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b="1" dirty="0"/>
                        <a:t>21,14</a:t>
                      </a:r>
                    </a:p>
                  </a:txBody>
                  <a:tcPr>
                    <a:solidFill>
                      <a:srgbClr val="E3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381505"/>
                  </a:ext>
                </a:extLst>
              </a:tr>
            </a:tbl>
          </a:graphicData>
        </a:graphic>
      </p:graphicFrame>
      <p:sp>
        <p:nvSpPr>
          <p:cNvPr id="7" name="TextBox 3">
            <a:extLst>
              <a:ext uri="{FF2B5EF4-FFF2-40B4-BE49-F238E27FC236}">
                <a16:creationId xmlns:a16="http://schemas.microsoft.com/office/drawing/2014/main" id="{BC533E22-68F1-AC83-8E75-AD6010F8535B}"/>
              </a:ext>
            </a:extLst>
          </p:cNvPr>
          <p:cNvSpPr txBox="1"/>
          <p:nvPr/>
        </p:nvSpPr>
        <p:spPr>
          <a:xfrm>
            <a:off x="481263" y="3638093"/>
            <a:ext cx="8506325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6"/>
                </a:solidFill>
                <a:latin typeface="Aptos"/>
              </a:defRPr>
            </a:pPr>
            <a:endParaRPr lang="de-AT" b="1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 err="1"/>
              <a:t>Longer</a:t>
            </a:r>
            <a:r>
              <a:rPr lang="de-AT" sz="1600" dirty="0"/>
              <a:t> </a:t>
            </a:r>
            <a:r>
              <a:rPr lang="de-AT" sz="1600" dirty="0" err="1"/>
              <a:t>training</a:t>
            </a:r>
            <a:r>
              <a:rPr lang="de-AT" sz="1600" dirty="0"/>
              <a:t> </a:t>
            </a:r>
            <a:r>
              <a:rPr lang="de-AT" sz="1600" dirty="0" err="1"/>
              <a:t>periods</a:t>
            </a:r>
            <a:r>
              <a:rPr lang="de-AT" sz="1600" dirty="0"/>
              <a:t> </a:t>
            </a:r>
            <a:r>
              <a:rPr lang="de-AT" sz="1600" dirty="0" err="1"/>
              <a:t>bad</a:t>
            </a:r>
            <a:r>
              <a:rPr lang="de-AT" sz="1600" dirty="0"/>
              <a:t> for </a:t>
            </a:r>
            <a:r>
              <a:rPr lang="de-AT" sz="1600" dirty="0" err="1"/>
              <a:t>prediction</a:t>
            </a:r>
            <a:r>
              <a:rPr lang="de-AT" sz="1600" dirty="0"/>
              <a:t> (</a:t>
            </a:r>
            <a:r>
              <a:rPr lang="de-AT" sz="1600" dirty="0" err="1"/>
              <a:t>structural</a:t>
            </a:r>
            <a:r>
              <a:rPr lang="de-AT" sz="1600" dirty="0"/>
              <a:t> </a:t>
            </a:r>
            <a:r>
              <a:rPr lang="de-AT" sz="1600" dirty="0" err="1"/>
              <a:t>breaks</a:t>
            </a:r>
            <a:r>
              <a:rPr lang="de-AT" sz="1600" dirty="0"/>
              <a:t>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/>
              <a:t>Best </a:t>
            </a:r>
            <a:r>
              <a:rPr lang="de-AT" sz="1600" dirty="0" err="1"/>
              <a:t>true</a:t>
            </a:r>
            <a:r>
              <a:rPr lang="de-AT" sz="1600" dirty="0"/>
              <a:t> ARIMAX </a:t>
            </a:r>
            <a:r>
              <a:rPr lang="de-AT" sz="1600" dirty="0" err="1"/>
              <a:t>model</a:t>
            </a:r>
            <a:r>
              <a:rPr lang="de-AT" sz="1600" dirty="0"/>
              <a:t> still </a:t>
            </a:r>
            <a:r>
              <a:rPr lang="de-AT" sz="1600" dirty="0" err="1"/>
              <a:t>worse</a:t>
            </a:r>
            <a:r>
              <a:rPr lang="de-AT" sz="1600" dirty="0"/>
              <a:t> </a:t>
            </a:r>
            <a:r>
              <a:rPr lang="de-AT" sz="1600" dirty="0" err="1"/>
              <a:t>than</a:t>
            </a:r>
            <a:r>
              <a:rPr lang="de-AT" sz="1600" dirty="0"/>
              <a:t> pure </a:t>
            </a:r>
            <a:r>
              <a:rPr lang="de-AT" sz="1600" dirty="0" err="1"/>
              <a:t>regression</a:t>
            </a:r>
            <a:r>
              <a:rPr lang="de-AT" sz="1600" dirty="0"/>
              <a:t> (ARIMA </a:t>
            </a:r>
            <a:r>
              <a:rPr lang="de-AT" sz="1600" dirty="0" err="1"/>
              <a:t>is</a:t>
            </a:r>
            <a:r>
              <a:rPr lang="de-AT" sz="1600" dirty="0"/>
              <a:t> </a:t>
            </a:r>
            <a:r>
              <a:rPr lang="de-AT" sz="1600" dirty="0" err="1"/>
              <a:t>overfitting</a:t>
            </a:r>
            <a:r>
              <a:rPr lang="de-AT" sz="1600" dirty="0"/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/>
              <a:t>ARIMAX (0,0,0) / OLS + Gas </a:t>
            </a:r>
            <a:r>
              <a:rPr lang="de-AT" sz="1600" dirty="0" err="1"/>
              <a:t>wins</a:t>
            </a:r>
            <a:r>
              <a:rPr lang="de-AT" sz="1600" dirty="0"/>
              <a:t>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/>
              <a:t>RMSE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 err="1"/>
              <a:t>Parsimoniousness</a:t>
            </a:r>
            <a:r>
              <a:rPr lang="de-AT" sz="1600" dirty="0"/>
              <a:t> (OLS 16 </a:t>
            </a:r>
            <a:r>
              <a:rPr lang="de-AT" sz="1600" dirty="0" err="1"/>
              <a:t>obs</a:t>
            </a:r>
            <a:r>
              <a:rPr lang="de-AT" sz="1600" dirty="0"/>
              <a:t>./</a:t>
            </a:r>
            <a:r>
              <a:rPr lang="de-AT" sz="1600" dirty="0" err="1"/>
              <a:t>parameter</a:t>
            </a:r>
            <a:r>
              <a:rPr lang="de-AT" sz="1600" dirty="0"/>
              <a:t> v ARIMAX 8 </a:t>
            </a:r>
            <a:r>
              <a:rPr lang="de-AT" sz="1600" dirty="0" err="1"/>
              <a:t>obs</a:t>
            </a:r>
            <a:r>
              <a:rPr lang="de-AT" sz="1600" dirty="0"/>
              <a:t>./</a:t>
            </a:r>
            <a:r>
              <a:rPr lang="de-AT" sz="1600" dirty="0" err="1"/>
              <a:t>parameter</a:t>
            </a:r>
            <a:r>
              <a:rPr lang="de-AT" sz="1600" dirty="0"/>
              <a:t>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48A16DC-09B7-17E7-6057-04E858B98D2C}"/>
              </a:ext>
            </a:extLst>
          </p:cNvPr>
          <p:cNvSpPr txBox="1"/>
          <p:nvPr/>
        </p:nvSpPr>
        <p:spPr>
          <a:xfrm>
            <a:off x="6973487" y="3467729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3200" dirty="0">
                <a:solidFill>
                  <a:srgbClr val="5A9E6F"/>
                </a:solidFill>
                <a:sym typeface="Wingdings" panose="05000000000000000000" pitchFamily="2" charset="2"/>
              </a:rPr>
              <a:t></a:t>
            </a:r>
            <a:endParaRPr lang="de-AT" sz="3200" dirty="0">
              <a:solidFill>
                <a:srgbClr val="5A9E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626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64945E-003E-D99C-84BA-EB9AFDC87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1960-BD3C-6B94-167D-F20170FAC6B3}"/>
              </a:ext>
            </a:extLst>
          </p:cNvPr>
          <p:cNvSpPr txBox="1"/>
          <p:nvPr/>
        </p:nvSpPr>
        <p:spPr>
          <a:xfrm>
            <a:off x="731520" y="548640"/>
            <a:ext cx="452880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5F7C"/>
                </a:solidFill>
                <a:latin typeface="Aptos Display"/>
              </a:defRPr>
            </a:pPr>
            <a:r>
              <a:rPr lang="de-AT" dirty="0"/>
              <a:t>Details of Final Model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364395-FBF9-D834-AFF9-933DD7E3382C}"/>
              </a:ext>
            </a:extLst>
          </p:cNvPr>
          <p:cNvSpPr/>
          <p:nvPr/>
        </p:nvSpPr>
        <p:spPr>
          <a:xfrm>
            <a:off x="731520" y="1188720"/>
            <a:ext cx="7680960" cy="9144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23B81-3EAC-1F0B-F8EA-FE8A15ED2F4B}"/>
              </a:ext>
            </a:extLst>
          </p:cNvPr>
          <p:cNvSpPr txBox="1"/>
          <p:nvPr/>
        </p:nvSpPr>
        <p:spPr>
          <a:xfrm>
            <a:off x="8420380" y="6400800"/>
            <a:ext cx="26642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7355"/>
                </a:solidFill>
                <a:latin typeface="Aptos"/>
              </a:defRPr>
            </a:pPr>
            <a:r>
              <a:rPr lang="de-AT" dirty="0"/>
              <a:t>8</a:t>
            </a:r>
            <a:endParaRPr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28ECBF2-57CD-9164-9B34-6940C3524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242240"/>
              </p:ext>
            </p:extLst>
          </p:nvPr>
        </p:nvGraphicFramePr>
        <p:xfrm>
          <a:off x="493293" y="1729906"/>
          <a:ext cx="700238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799">
                  <a:extLst>
                    <a:ext uri="{9D8B030D-6E8A-4147-A177-3AD203B41FA5}">
                      <a16:colId xmlns:a16="http://schemas.microsoft.com/office/drawing/2014/main" val="837934747"/>
                    </a:ext>
                  </a:extLst>
                </a:gridCol>
                <a:gridCol w="1395799">
                  <a:extLst>
                    <a:ext uri="{9D8B030D-6E8A-4147-A177-3AD203B41FA5}">
                      <a16:colId xmlns:a16="http://schemas.microsoft.com/office/drawing/2014/main" val="2823163308"/>
                    </a:ext>
                  </a:extLst>
                </a:gridCol>
                <a:gridCol w="1346860">
                  <a:extLst>
                    <a:ext uri="{9D8B030D-6E8A-4147-A177-3AD203B41FA5}">
                      <a16:colId xmlns:a16="http://schemas.microsoft.com/office/drawing/2014/main" val="4182519786"/>
                    </a:ext>
                  </a:extLst>
                </a:gridCol>
                <a:gridCol w="902773">
                  <a:extLst>
                    <a:ext uri="{9D8B030D-6E8A-4147-A177-3AD203B41FA5}">
                      <a16:colId xmlns:a16="http://schemas.microsoft.com/office/drawing/2014/main" val="605764998"/>
                    </a:ext>
                  </a:extLst>
                </a:gridCol>
                <a:gridCol w="1961150">
                  <a:extLst>
                    <a:ext uri="{9D8B030D-6E8A-4147-A177-3AD203B41FA5}">
                      <a16:colId xmlns:a16="http://schemas.microsoft.com/office/drawing/2014/main" val="3339375568"/>
                    </a:ext>
                  </a:extLst>
                </a:gridCol>
              </a:tblGrid>
              <a:tr h="363936">
                <a:tc>
                  <a:txBody>
                    <a:bodyPr/>
                    <a:lstStyle/>
                    <a:p>
                      <a:r>
                        <a:rPr lang="de-AT" dirty="0"/>
                        <a:t>Variable</a:t>
                      </a:r>
                    </a:p>
                  </a:txBody>
                  <a:tcPr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 err="1"/>
                        <a:t>Coef</a:t>
                      </a:r>
                      <a:endParaRPr lang="de-AT" dirty="0"/>
                    </a:p>
                  </a:txBody>
                  <a:tcPr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Std </a:t>
                      </a:r>
                      <a:r>
                        <a:rPr lang="de-AT" dirty="0" err="1"/>
                        <a:t>Err</a:t>
                      </a:r>
                      <a:endParaRPr lang="de-AT" dirty="0"/>
                    </a:p>
                  </a:txBody>
                  <a:tcPr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Beta</a:t>
                      </a:r>
                    </a:p>
                  </a:txBody>
                  <a:tcPr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 err="1"/>
                        <a:t>Significant</a:t>
                      </a:r>
                      <a:r>
                        <a:rPr lang="de-AT" dirty="0"/>
                        <a:t>?</a:t>
                      </a:r>
                    </a:p>
                  </a:txBody>
                  <a:tcPr>
                    <a:solidFill>
                      <a:srgbClr val="2C5F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673726"/>
                  </a:ext>
                </a:extLst>
              </a:tr>
              <a:tr h="349499">
                <a:tc>
                  <a:txBody>
                    <a:bodyPr/>
                    <a:lstStyle/>
                    <a:p>
                      <a:r>
                        <a:rPr lang="de-AT" dirty="0"/>
                        <a:t>Constant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33,47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27,20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-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 err="1"/>
                        <a:t>No</a:t>
                      </a:r>
                      <a:r>
                        <a:rPr lang="de-AT" dirty="0"/>
                        <a:t> (p = ,219)</a:t>
                      </a:r>
                    </a:p>
                  </a:txBody>
                  <a:tcPr>
                    <a:solidFill>
                      <a:srgbClr val="C4D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008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Gas </a:t>
                      </a:r>
                      <a:r>
                        <a:rPr lang="de-AT" dirty="0" err="1"/>
                        <a:t>price</a:t>
                      </a:r>
                      <a:endParaRPr lang="de-AT" dirty="0"/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1,61</a:t>
                      </a:r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0,179</a:t>
                      </a:r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0,83</a:t>
                      </a:r>
                    </a:p>
                  </a:txBody>
                  <a:tcPr>
                    <a:solidFill>
                      <a:srgbClr val="E3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/>
                        <a:t>Yes (p = &lt; ,001)</a:t>
                      </a:r>
                    </a:p>
                  </a:txBody>
                  <a:tcPr>
                    <a:solidFill>
                      <a:srgbClr val="E3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570008"/>
                  </a:ext>
                </a:extLst>
              </a:tr>
            </a:tbl>
          </a:graphicData>
        </a:graphic>
      </p:graphicFrame>
      <p:sp>
        <p:nvSpPr>
          <p:cNvPr id="6" name="TextBox 3">
            <a:extLst>
              <a:ext uri="{FF2B5EF4-FFF2-40B4-BE49-F238E27FC236}">
                <a16:creationId xmlns:a16="http://schemas.microsoft.com/office/drawing/2014/main" id="{4A9D5294-3144-04F0-2F27-B28C1EE1530B}"/>
              </a:ext>
            </a:extLst>
          </p:cNvPr>
          <p:cNvSpPr txBox="1"/>
          <p:nvPr/>
        </p:nvSpPr>
        <p:spPr>
          <a:xfrm>
            <a:off x="288758" y="2871255"/>
            <a:ext cx="885524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 err="1">
                <a:solidFill>
                  <a:srgbClr val="2D3436"/>
                </a:solidFill>
                <a:latin typeface="Aptos"/>
              </a:rPr>
              <a:t>Adjusted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r² = 0.688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/>
              <a:t>RMSE = 21.14 (</a:t>
            </a:r>
            <a:r>
              <a:rPr lang="de-AT" sz="1600" dirty="0" err="1"/>
              <a:t>only</a:t>
            </a:r>
            <a:r>
              <a:rPr lang="de-AT" sz="1600" dirty="0"/>
              <a:t> 0,42 </a:t>
            </a:r>
            <a:r>
              <a:rPr lang="de-AT" sz="1600" dirty="0" err="1"/>
              <a:t>better</a:t>
            </a:r>
            <a:r>
              <a:rPr lang="de-AT" sz="1600" dirty="0"/>
              <a:t> </a:t>
            </a:r>
            <a:r>
              <a:rPr lang="de-AT" sz="1600" dirty="0" err="1"/>
              <a:t>than</a:t>
            </a:r>
            <a:r>
              <a:rPr lang="de-AT" sz="1600" dirty="0"/>
              <a:t> </a:t>
            </a:r>
            <a:r>
              <a:rPr lang="de-AT" sz="1600" dirty="0" err="1"/>
              <a:t>true</a:t>
            </a:r>
            <a:r>
              <a:rPr lang="de-AT" sz="1600" dirty="0"/>
              <a:t> ARIMAX, but </a:t>
            </a:r>
            <a:r>
              <a:rPr lang="de-AT" sz="1600" dirty="0" err="1"/>
              <a:t>wins</a:t>
            </a:r>
            <a:r>
              <a:rPr lang="de-AT" sz="1600" dirty="0"/>
              <a:t> on </a:t>
            </a:r>
            <a:r>
              <a:rPr lang="de-AT" sz="1600" dirty="0" err="1"/>
              <a:t>parsimonousness</a:t>
            </a:r>
            <a:r>
              <a:rPr lang="de-AT" sz="1600" dirty="0"/>
              <a:t>) </a:t>
            </a:r>
          </a:p>
          <a:p>
            <a:pPr>
              <a:defRPr sz="1800">
                <a:solidFill>
                  <a:srgbClr val="2D3436"/>
                </a:solidFill>
                <a:latin typeface="Aptos"/>
              </a:defRPr>
            </a:pPr>
            <a:endParaRPr lang="de-AT" sz="1600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 err="1"/>
              <a:t>Ljung</a:t>
            </a:r>
            <a:r>
              <a:rPr lang="de-AT" sz="1600" dirty="0"/>
              <a:t>-Box: </a:t>
            </a:r>
            <a:r>
              <a:rPr lang="de-AT" sz="1600" dirty="0" err="1"/>
              <a:t>no</a:t>
            </a:r>
            <a:r>
              <a:rPr lang="de-AT" sz="1600" dirty="0"/>
              <a:t> </a:t>
            </a:r>
            <a:r>
              <a:rPr lang="de-AT" sz="1600" dirty="0" err="1"/>
              <a:t>significant</a:t>
            </a:r>
            <a:r>
              <a:rPr lang="de-AT" sz="1600" dirty="0"/>
              <a:t> </a:t>
            </a:r>
            <a:r>
              <a:rPr lang="de-AT" sz="1600" dirty="0" err="1"/>
              <a:t>autocorrelations</a:t>
            </a:r>
            <a:r>
              <a:rPr lang="de-AT" sz="1600" dirty="0"/>
              <a:t> 	= </a:t>
            </a:r>
            <a:r>
              <a:rPr lang="de-AT" sz="1600" dirty="0" err="1"/>
              <a:t>no</a:t>
            </a:r>
            <a:r>
              <a:rPr lang="de-AT" sz="1600" dirty="0"/>
              <a:t> </a:t>
            </a:r>
            <a:r>
              <a:rPr lang="de-AT" sz="1600" dirty="0" err="1"/>
              <a:t>variance</a:t>
            </a:r>
            <a:r>
              <a:rPr lang="de-AT" sz="1600" dirty="0"/>
              <a:t> </a:t>
            </a:r>
            <a:r>
              <a:rPr lang="de-AT" sz="1600" dirty="0" err="1"/>
              <a:t>left</a:t>
            </a:r>
            <a:r>
              <a:rPr lang="de-AT" sz="1600" dirty="0"/>
              <a:t> to </a:t>
            </a:r>
            <a:r>
              <a:rPr lang="de-AT" sz="1600" dirty="0" err="1"/>
              <a:t>be</a:t>
            </a:r>
            <a:r>
              <a:rPr lang="de-AT" sz="1600" dirty="0"/>
              <a:t> </a:t>
            </a:r>
            <a:r>
              <a:rPr lang="de-AT" sz="1600" dirty="0" err="1"/>
              <a:t>explained</a:t>
            </a:r>
            <a:r>
              <a:rPr lang="de-AT" sz="1600" dirty="0"/>
              <a:t> </a:t>
            </a:r>
            <a:r>
              <a:rPr lang="de-AT" sz="1600" dirty="0" err="1"/>
              <a:t>by</a:t>
            </a:r>
            <a:r>
              <a:rPr lang="de-AT" sz="1600" dirty="0"/>
              <a:t> time </a:t>
            </a:r>
            <a:r>
              <a:rPr lang="de-AT" sz="1600" dirty="0" err="1"/>
              <a:t>series</a:t>
            </a:r>
            <a:endParaRPr lang="de-AT" sz="1600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/>
              <a:t>Jarque-</a:t>
            </a:r>
            <a:r>
              <a:rPr lang="de-AT" sz="1600" dirty="0" err="1"/>
              <a:t>Bera</a:t>
            </a:r>
            <a:r>
              <a:rPr lang="de-AT" sz="1600" dirty="0"/>
              <a:t>: p &lt; 0.001 					= Non-normal </a:t>
            </a:r>
            <a:r>
              <a:rPr lang="de-AT" sz="1600" dirty="0" err="1"/>
              <a:t>residuals</a:t>
            </a:r>
            <a:r>
              <a:rPr lang="de-AT" sz="1600" dirty="0"/>
              <a:t> (</a:t>
            </a:r>
            <a:r>
              <a:rPr lang="de-AT" sz="1600" dirty="0" err="1"/>
              <a:t>price</a:t>
            </a:r>
            <a:r>
              <a:rPr lang="de-AT" sz="1600" dirty="0"/>
              <a:t> </a:t>
            </a:r>
            <a:r>
              <a:rPr lang="de-AT" sz="1600" dirty="0" err="1"/>
              <a:t>shock</a:t>
            </a:r>
            <a:r>
              <a:rPr lang="de-AT" sz="1600" dirty="0"/>
              <a:t> </a:t>
            </a:r>
            <a:r>
              <a:rPr lang="de-AT" sz="1600" dirty="0" err="1"/>
              <a:t>volatility</a:t>
            </a:r>
            <a:r>
              <a:rPr lang="de-AT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 err="1"/>
              <a:t>Heteroskedasticity</a:t>
            </a:r>
            <a:r>
              <a:rPr lang="de-AT" sz="1600" dirty="0"/>
              <a:t>: H = 12.12, p &lt; 0.01 	= </a:t>
            </a:r>
            <a:r>
              <a:rPr lang="de-AT" sz="1600" dirty="0" err="1"/>
              <a:t>Residuals</a:t>
            </a:r>
            <a:r>
              <a:rPr lang="de-AT" sz="1600" dirty="0"/>
              <a:t> </a:t>
            </a:r>
            <a:r>
              <a:rPr lang="de-AT" sz="1600" dirty="0" err="1"/>
              <a:t>change</a:t>
            </a:r>
            <a:r>
              <a:rPr lang="de-AT" sz="1600" dirty="0"/>
              <a:t> </a:t>
            </a:r>
            <a:r>
              <a:rPr lang="de-AT" sz="1600" dirty="0" err="1"/>
              <a:t>over</a:t>
            </a:r>
            <a:r>
              <a:rPr lang="de-AT" sz="1600" dirty="0"/>
              <a:t> time 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(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price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shock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volatility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)</a:t>
            </a:r>
          </a:p>
          <a:p>
            <a:pPr>
              <a:defRPr sz="1800">
                <a:solidFill>
                  <a:srgbClr val="2D3436"/>
                </a:solidFill>
                <a:latin typeface="Aptos"/>
              </a:defRPr>
            </a:pPr>
            <a:endParaRPr lang="de-AT" sz="1600" dirty="0">
              <a:solidFill>
                <a:srgbClr val="2D3436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>
                <a:solidFill>
                  <a:srgbClr val="2D3436"/>
                </a:solidFill>
                <a:latin typeface="Aptos"/>
              </a:rPr>
              <a:t>Gas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price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accounts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for 69 % of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explained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variance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 (Beta² = 0,69) =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useful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predictor</a:t>
            </a:r>
            <a:endParaRPr lang="de-AT" sz="1600" dirty="0">
              <a:solidFill>
                <a:srgbClr val="2D3436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endParaRPr lang="de-AT" sz="1600" dirty="0">
              <a:solidFill>
                <a:srgbClr val="2D3436"/>
              </a:solidFill>
              <a:latin typeface="Aptos"/>
            </a:endParaRPr>
          </a:p>
          <a:p>
            <a:pPr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>
                <a:solidFill>
                  <a:srgbClr val="2D3436"/>
                </a:solidFill>
                <a:latin typeface="Aptos"/>
              </a:rPr>
              <a:t>Volatile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data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 err="1">
                <a:solidFill>
                  <a:srgbClr val="2D3436"/>
                </a:solidFill>
                <a:latin typeface="Aptos"/>
              </a:rPr>
              <a:t>Intercept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is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not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significant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,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mean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is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no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useful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predictor</a:t>
            </a:r>
            <a:endParaRPr lang="de-AT" sz="1600" dirty="0">
              <a:solidFill>
                <a:srgbClr val="2D3436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>
                <a:solidFill>
                  <a:srgbClr val="2D3436"/>
                </a:solidFill>
                <a:latin typeface="Aptos"/>
              </a:rPr>
              <a:t>Confidence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intervals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likely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underestimated</a:t>
            </a:r>
            <a:endParaRPr lang="de-AT" sz="1600" dirty="0">
              <a:solidFill>
                <a:srgbClr val="2D3436"/>
              </a:solidFill>
              <a:latin typeface="Aptos"/>
            </a:endParaRPr>
          </a:p>
          <a:p>
            <a:pPr>
              <a:defRPr sz="1800">
                <a:solidFill>
                  <a:srgbClr val="2D3436"/>
                </a:solidFill>
                <a:latin typeface="Aptos"/>
              </a:defRPr>
            </a:pPr>
            <a:endParaRPr lang="de-AT" sz="1600" b="1" dirty="0">
              <a:highlight>
                <a:srgbClr val="FFFF00"/>
              </a:highlight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75177C3F-06EF-E0DC-F801-CC3F9F0D90BE}"/>
              </a:ext>
            </a:extLst>
          </p:cNvPr>
          <p:cNvSpPr txBox="1"/>
          <p:nvPr/>
        </p:nvSpPr>
        <p:spPr>
          <a:xfrm>
            <a:off x="731520" y="1329796"/>
            <a:ext cx="814537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b="1" dirty="0"/>
              <a:t>ARIMAX (0,0,0) + </a:t>
            </a:r>
            <a:r>
              <a:rPr lang="de-AT" b="1" dirty="0" err="1"/>
              <a:t>Indexed</a:t>
            </a:r>
            <a:r>
              <a:rPr lang="de-AT" b="1" dirty="0"/>
              <a:t> Gas Price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  <a:defRPr sz="1800">
                <a:solidFill>
                  <a:srgbClr val="2D3436"/>
                </a:solidFill>
                <a:latin typeface="Aptos"/>
              </a:defRPr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9756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2C41393-97CA-3F01-9221-825E5115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EF0339-BB0B-15D4-CBCB-EEF97F2295D3}"/>
              </a:ext>
            </a:extLst>
          </p:cNvPr>
          <p:cNvSpPr txBox="1"/>
          <p:nvPr/>
        </p:nvSpPr>
        <p:spPr>
          <a:xfrm>
            <a:off x="731520" y="548640"/>
            <a:ext cx="442941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5F7C"/>
                </a:solidFill>
                <a:latin typeface="Aptos Display"/>
              </a:defRPr>
            </a:pPr>
            <a:r>
              <a:rPr lang="de-AT" dirty="0"/>
              <a:t>Details of Final Model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9F3200-4678-8228-5201-89F10CA95E87}"/>
              </a:ext>
            </a:extLst>
          </p:cNvPr>
          <p:cNvSpPr/>
          <p:nvPr/>
        </p:nvSpPr>
        <p:spPr>
          <a:xfrm>
            <a:off x="731520" y="1188720"/>
            <a:ext cx="7680960" cy="9144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E4959E-A094-CFB4-973B-007C5D30E77A}"/>
              </a:ext>
            </a:extLst>
          </p:cNvPr>
          <p:cNvSpPr txBox="1"/>
          <p:nvPr/>
        </p:nvSpPr>
        <p:spPr>
          <a:xfrm>
            <a:off x="8420381" y="6400800"/>
            <a:ext cx="2664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7355"/>
                </a:solidFill>
                <a:latin typeface="Aptos"/>
              </a:defRPr>
            </a:pPr>
            <a:r>
              <a:rPr lang="de-AT" dirty="0"/>
              <a:t>9</a:t>
            </a:r>
            <a:endParaRPr dirty="0"/>
          </a:p>
        </p:txBody>
      </p:sp>
      <p:pic>
        <p:nvPicPr>
          <p:cNvPr id="9" name="Grafik 8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68D8E43D-D277-0120-FB7A-975FD6FD4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20" y="1319407"/>
            <a:ext cx="7348359" cy="521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66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E41A4-0456-49E8-A054-5A988E38E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B74394-9AF0-3931-A5DE-A535BC81D4FB}"/>
              </a:ext>
            </a:extLst>
          </p:cNvPr>
          <p:cNvSpPr txBox="1"/>
          <p:nvPr/>
        </p:nvSpPr>
        <p:spPr>
          <a:xfrm>
            <a:off x="731520" y="548640"/>
            <a:ext cx="693035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5F7C"/>
                </a:solidFill>
                <a:latin typeface="Aptos Display"/>
              </a:defRPr>
            </a:pPr>
            <a:r>
              <a:rPr lang="de-AT" dirty="0"/>
              <a:t>Key Findings &amp; </a:t>
            </a:r>
            <a:r>
              <a:rPr lang="de-AT" dirty="0" err="1"/>
              <a:t>Recommendations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2D1BE4-749D-8EDE-DC4D-BF2038702829}"/>
              </a:ext>
            </a:extLst>
          </p:cNvPr>
          <p:cNvSpPr/>
          <p:nvPr/>
        </p:nvSpPr>
        <p:spPr>
          <a:xfrm>
            <a:off x="731520" y="1188720"/>
            <a:ext cx="7680960" cy="9144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903717-9425-4DF2-32EE-BB9008DE478B}"/>
              </a:ext>
            </a:extLst>
          </p:cNvPr>
          <p:cNvSpPr txBox="1"/>
          <p:nvPr/>
        </p:nvSpPr>
        <p:spPr>
          <a:xfrm>
            <a:off x="8338628" y="6400800"/>
            <a:ext cx="34817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7355"/>
                </a:solidFill>
                <a:latin typeface="Aptos"/>
              </a:defRPr>
            </a:pPr>
            <a:r>
              <a:rPr lang="de-AT" dirty="0"/>
              <a:t>10</a:t>
            </a:r>
            <a:endParaRPr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2A42EAAE-1E96-4DCC-9EE0-753360A84F6A}"/>
              </a:ext>
            </a:extLst>
          </p:cNvPr>
          <p:cNvSpPr txBox="1"/>
          <p:nvPr/>
        </p:nvSpPr>
        <p:spPr>
          <a:xfrm>
            <a:off x="719487" y="1252667"/>
            <a:ext cx="8424513" cy="5211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b="1" dirty="0">
                <a:solidFill>
                  <a:srgbClr val="2D3436"/>
                </a:solidFill>
                <a:latin typeface="Aptos"/>
              </a:rPr>
              <a:t>Key Findings: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>
                <a:solidFill>
                  <a:srgbClr val="2D3436"/>
                </a:solidFill>
                <a:latin typeface="Aptos"/>
              </a:rPr>
              <a:t>1 EUR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drop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in Gas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prices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 ≈ 1,3 – 1,9 EUR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drop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in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Electricity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Price (95% CI)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 err="1">
                <a:solidFill>
                  <a:srgbClr val="2D3436"/>
                </a:solidFill>
                <a:latin typeface="Aptos"/>
              </a:rPr>
              <a:t>Predicted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future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prices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≈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within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 +/- 17 EUR/MWh of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prediction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(95% CI)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>
                <a:solidFill>
                  <a:srgbClr val="2D3436"/>
                </a:solidFill>
                <a:latin typeface="Aptos"/>
              </a:rPr>
              <a:t>True CIs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likely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higher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,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no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verifiable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sz="1600" dirty="0" err="1">
                <a:solidFill>
                  <a:srgbClr val="2D3436"/>
                </a:solidFill>
                <a:latin typeface="Aptos"/>
              </a:rPr>
              <a:t>trend</a:t>
            </a:r>
            <a:r>
              <a:rPr lang="de-AT" sz="1600" dirty="0">
                <a:solidFill>
                  <a:srgbClr val="2D3436"/>
                </a:solidFill>
                <a:latin typeface="Aptos"/>
              </a:rPr>
              <a:t> </a:t>
            </a:r>
          </a:p>
          <a:p>
            <a:pPr>
              <a:spcAft>
                <a:spcPts val="1200"/>
              </a:spcAft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b="1" dirty="0" err="1"/>
              <a:t>Contracting</a:t>
            </a:r>
            <a:r>
              <a:rPr lang="de-AT" b="1" dirty="0"/>
              <a:t>: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/>
              <a:t>Monitor Gas Prices (OEGPI </a:t>
            </a:r>
            <a:r>
              <a:rPr lang="de-AT" sz="1600" dirty="0" err="1"/>
              <a:t>Indexed</a:t>
            </a:r>
            <a:r>
              <a:rPr lang="de-AT" sz="1600" dirty="0"/>
              <a:t> 1-month </a:t>
            </a:r>
            <a:r>
              <a:rPr lang="de-AT" sz="1600" dirty="0" err="1"/>
              <a:t>futures</a:t>
            </a:r>
            <a:r>
              <a:rPr lang="de-AT" sz="1600" dirty="0"/>
              <a:t>) </a:t>
            </a:r>
            <a:r>
              <a:rPr lang="de-AT" sz="1600" dirty="0" err="1"/>
              <a:t>as</a:t>
            </a:r>
            <a:r>
              <a:rPr lang="de-AT" sz="1600" dirty="0"/>
              <a:t> </a:t>
            </a:r>
            <a:r>
              <a:rPr lang="de-AT" sz="1600" dirty="0" err="1"/>
              <a:t>leading</a:t>
            </a:r>
            <a:r>
              <a:rPr lang="de-AT" sz="1600" dirty="0"/>
              <a:t> </a:t>
            </a:r>
            <a:r>
              <a:rPr lang="de-AT" sz="1600" dirty="0" err="1"/>
              <a:t>indicator</a:t>
            </a:r>
            <a:r>
              <a:rPr lang="de-AT" sz="1600" dirty="0"/>
              <a:t> for </a:t>
            </a:r>
            <a:r>
              <a:rPr lang="de-AT" sz="1600" dirty="0" err="1"/>
              <a:t>next</a:t>
            </a:r>
            <a:r>
              <a:rPr lang="de-AT" sz="1600" dirty="0"/>
              <a:t> 6 </a:t>
            </a:r>
            <a:r>
              <a:rPr lang="de-AT" sz="1600" dirty="0" err="1"/>
              <a:t>months</a:t>
            </a:r>
            <a:r>
              <a:rPr lang="de-AT" sz="1600" dirty="0"/>
              <a:t>.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/>
              <a:t>Secure </a:t>
            </a:r>
            <a:r>
              <a:rPr lang="de-AT" sz="1600" dirty="0" err="1"/>
              <a:t>next</a:t>
            </a:r>
            <a:r>
              <a:rPr lang="de-AT" sz="1600" dirty="0"/>
              <a:t> </a:t>
            </a:r>
            <a:r>
              <a:rPr lang="de-AT" sz="1600" dirty="0" err="1"/>
              <a:t>long</a:t>
            </a:r>
            <a:r>
              <a:rPr lang="de-AT" sz="1600" dirty="0"/>
              <a:t> </a:t>
            </a:r>
            <a:r>
              <a:rPr lang="de-AT" sz="1600" dirty="0" err="1"/>
              <a:t>term</a:t>
            </a:r>
            <a:r>
              <a:rPr lang="de-AT" sz="1600" dirty="0"/>
              <a:t> (6 </a:t>
            </a:r>
            <a:r>
              <a:rPr lang="de-AT" sz="1600" dirty="0" err="1"/>
              <a:t>months</a:t>
            </a:r>
            <a:r>
              <a:rPr lang="de-AT" sz="1600" dirty="0"/>
              <a:t>+) </a:t>
            </a:r>
            <a:r>
              <a:rPr lang="de-AT" sz="1600" dirty="0" err="1"/>
              <a:t>contract</a:t>
            </a:r>
            <a:r>
              <a:rPr lang="de-AT" sz="1600" dirty="0"/>
              <a:t> at </a:t>
            </a:r>
            <a:r>
              <a:rPr lang="de-AT" sz="1600" dirty="0" err="1"/>
              <a:t>price</a:t>
            </a:r>
            <a:r>
              <a:rPr lang="de-AT" sz="1600" dirty="0"/>
              <a:t> </a:t>
            </a:r>
            <a:r>
              <a:rPr lang="de-AT" sz="1600" dirty="0" err="1"/>
              <a:t>below</a:t>
            </a:r>
            <a:r>
              <a:rPr lang="de-AT" sz="1600" dirty="0"/>
              <a:t> 89 EUR/MWh (</a:t>
            </a:r>
            <a:r>
              <a:rPr lang="de-AT" sz="1600" dirty="0" err="1"/>
              <a:t>Current</a:t>
            </a:r>
            <a:r>
              <a:rPr lang="de-AT" sz="1600" dirty="0"/>
              <a:t> </a:t>
            </a:r>
            <a:r>
              <a:rPr lang="de-AT" sz="1600" dirty="0" err="1"/>
              <a:t>mean</a:t>
            </a:r>
            <a:r>
              <a:rPr lang="de-AT" sz="1600" dirty="0"/>
              <a:t>).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 err="1"/>
              <a:t>Avoid</a:t>
            </a:r>
            <a:r>
              <a:rPr lang="de-AT" sz="1600" dirty="0"/>
              <a:t> </a:t>
            </a:r>
            <a:r>
              <a:rPr lang="de-AT" sz="1600" dirty="0" err="1"/>
              <a:t>shorter</a:t>
            </a:r>
            <a:r>
              <a:rPr lang="de-AT" sz="1600" dirty="0"/>
              <a:t> </a:t>
            </a:r>
            <a:r>
              <a:rPr lang="de-AT" sz="1600" dirty="0" err="1"/>
              <a:t>term</a:t>
            </a:r>
            <a:r>
              <a:rPr lang="de-AT" sz="1600" dirty="0"/>
              <a:t> </a:t>
            </a:r>
            <a:r>
              <a:rPr lang="de-AT" sz="1600" dirty="0" err="1"/>
              <a:t>contracts</a:t>
            </a:r>
            <a:r>
              <a:rPr lang="de-AT" sz="1600" dirty="0"/>
              <a:t> due to </a:t>
            </a:r>
            <a:r>
              <a:rPr lang="de-AT" sz="1600" dirty="0" err="1"/>
              <a:t>volatility</a:t>
            </a:r>
            <a:endParaRPr lang="de-AT" sz="1600" dirty="0"/>
          </a:p>
          <a:p>
            <a:pPr>
              <a:spcAft>
                <a:spcPts val="1200"/>
              </a:spcAft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b="1" dirty="0">
                <a:solidFill>
                  <a:srgbClr val="2D3436"/>
                </a:solidFill>
                <a:latin typeface="Aptos"/>
              </a:rPr>
              <a:t>Test </a:t>
            </a:r>
            <a:r>
              <a:rPr lang="de-AT" b="1" dirty="0" err="1">
                <a:solidFill>
                  <a:srgbClr val="2D3436"/>
                </a:solidFill>
                <a:latin typeface="Aptos"/>
              </a:rPr>
              <a:t>against</a:t>
            </a:r>
            <a:r>
              <a:rPr lang="de-AT" b="1" dirty="0">
                <a:solidFill>
                  <a:srgbClr val="2D3436"/>
                </a:solidFill>
                <a:latin typeface="Aptos"/>
              </a:rPr>
              <a:t> (3,0,0) </a:t>
            </a:r>
            <a:r>
              <a:rPr lang="de-AT" b="1" dirty="0" err="1">
                <a:solidFill>
                  <a:srgbClr val="2D3436"/>
                </a:solidFill>
                <a:latin typeface="Aptos"/>
              </a:rPr>
              <a:t>model</a:t>
            </a:r>
            <a:r>
              <a:rPr lang="de-AT" b="1" dirty="0">
                <a:solidFill>
                  <a:srgbClr val="2D3436"/>
                </a:solidFill>
                <a:latin typeface="Aptos"/>
              </a:rPr>
              <a:t>, </a:t>
            </a:r>
            <a:r>
              <a:rPr lang="de-AT" b="1" dirty="0" err="1">
                <a:solidFill>
                  <a:srgbClr val="2D3436"/>
                </a:solidFill>
                <a:latin typeface="Aptos"/>
              </a:rPr>
              <a:t>retrain</a:t>
            </a:r>
            <a:r>
              <a:rPr lang="de-AT" b="1" dirty="0">
                <a:solidFill>
                  <a:srgbClr val="2D3436"/>
                </a:solidFill>
                <a:latin typeface="Aptos"/>
              </a:rPr>
              <a:t> in 12 </a:t>
            </a:r>
            <a:r>
              <a:rPr lang="de-AT" b="1" dirty="0" err="1">
                <a:solidFill>
                  <a:srgbClr val="2D3436"/>
                </a:solidFill>
                <a:latin typeface="Aptos"/>
              </a:rPr>
              <a:t>month</a:t>
            </a:r>
            <a:r>
              <a:rPr lang="de-AT" b="1" dirty="0">
                <a:solidFill>
                  <a:srgbClr val="2D3436"/>
                </a:solidFill>
                <a:latin typeface="Aptos"/>
              </a:rPr>
              <a:t> at </a:t>
            </a:r>
            <a:r>
              <a:rPr lang="de-AT" b="1" dirty="0" err="1">
                <a:solidFill>
                  <a:srgbClr val="2D3436"/>
                </a:solidFill>
                <a:latin typeface="Aptos"/>
              </a:rPr>
              <a:t>the</a:t>
            </a:r>
            <a:r>
              <a:rPr lang="de-AT" b="1" dirty="0">
                <a:solidFill>
                  <a:srgbClr val="2D3436"/>
                </a:solidFill>
                <a:latin typeface="Aptos"/>
              </a:rPr>
              <a:t> </a:t>
            </a:r>
            <a:r>
              <a:rPr lang="de-AT" b="1" dirty="0" err="1">
                <a:solidFill>
                  <a:srgbClr val="2D3436"/>
                </a:solidFill>
                <a:latin typeface="Aptos"/>
              </a:rPr>
              <a:t>latest</a:t>
            </a:r>
            <a:r>
              <a:rPr lang="de-AT" b="1" dirty="0">
                <a:solidFill>
                  <a:srgbClr val="2D3436"/>
                </a:solidFill>
                <a:latin typeface="Aptos"/>
              </a:rPr>
              <a:t>, log </a:t>
            </a:r>
            <a:r>
              <a:rPr lang="de-AT" b="1" dirty="0" err="1">
                <a:solidFill>
                  <a:srgbClr val="2D3436"/>
                </a:solidFill>
                <a:latin typeface="Aptos"/>
              </a:rPr>
              <a:t>transform</a:t>
            </a:r>
            <a:r>
              <a:rPr lang="de-AT" b="1" dirty="0">
                <a:solidFill>
                  <a:srgbClr val="2D3436"/>
                </a:solidFill>
                <a:latin typeface="Aptos"/>
              </a:rPr>
              <a:t>: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 err="1"/>
              <a:t>Current</a:t>
            </a:r>
            <a:r>
              <a:rPr lang="de-AT" sz="1600" dirty="0"/>
              <a:t> </a:t>
            </a:r>
            <a:r>
              <a:rPr lang="de-AT" sz="1600" dirty="0" err="1"/>
              <a:t>predictions</a:t>
            </a:r>
            <a:r>
              <a:rPr lang="de-AT" sz="1600" dirty="0"/>
              <a:t> </a:t>
            </a:r>
            <a:r>
              <a:rPr lang="de-AT" sz="1600" dirty="0" err="1"/>
              <a:t>are</a:t>
            </a:r>
            <a:r>
              <a:rPr lang="de-AT" sz="1600" dirty="0"/>
              <a:t> </a:t>
            </a:r>
            <a:r>
              <a:rPr lang="de-AT" sz="1600" dirty="0" err="1"/>
              <a:t>too</a:t>
            </a:r>
            <a:r>
              <a:rPr lang="de-AT" sz="1600" dirty="0"/>
              <a:t> </a:t>
            </a:r>
            <a:r>
              <a:rPr lang="de-AT" sz="1600" dirty="0" err="1"/>
              <a:t>inaccurate</a:t>
            </a:r>
            <a:r>
              <a:rPr lang="de-AT" sz="1600" dirty="0"/>
              <a:t> for </a:t>
            </a:r>
            <a:r>
              <a:rPr lang="de-AT" sz="1600" dirty="0" err="1"/>
              <a:t>precise</a:t>
            </a:r>
            <a:r>
              <a:rPr lang="de-AT" sz="1600" dirty="0"/>
              <a:t> </a:t>
            </a:r>
            <a:r>
              <a:rPr lang="de-AT" sz="1600" dirty="0" err="1"/>
              <a:t>forecasts</a:t>
            </a:r>
            <a:endParaRPr lang="de-AT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 err="1"/>
              <a:t>Changes</a:t>
            </a:r>
            <a:r>
              <a:rPr lang="de-AT" sz="1600" dirty="0"/>
              <a:t> in </a:t>
            </a:r>
            <a:r>
              <a:rPr lang="de-AT" sz="1600" dirty="0" err="1"/>
              <a:t>relationship</a:t>
            </a:r>
            <a:r>
              <a:rPr lang="de-AT" sz="1600" dirty="0"/>
              <a:t> </a:t>
            </a:r>
            <a:r>
              <a:rPr lang="de-AT" sz="1600" dirty="0" err="1"/>
              <a:t>between</a:t>
            </a:r>
            <a:r>
              <a:rPr lang="de-AT" sz="1600" dirty="0"/>
              <a:t> gas </a:t>
            </a:r>
            <a:r>
              <a:rPr lang="de-AT" sz="1600" dirty="0" err="1"/>
              <a:t>prices</a:t>
            </a:r>
            <a:r>
              <a:rPr lang="de-AT" sz="1600" dirty="0"/>
              <a:t> and </a:t>
            </a:r>
            <a:r>
              <a:rPr lang="de-AT" sz="1600" dirty="0" err="1"/>
              <a:t>electricity</a:t>
            </a:r>
            <a:r>
              <a:rPr lang="de-AT" sz="1600" dirty="0"/>
              <a:t> </a:t>
            </a:r>
            <a:r>
              <a:rPr lang="de-AT" sz="1600" dirty="0" err="1"/>
              <a:t>prices</a:t>
            </a:r>
            <a:r>
              <a:rPr lang="de-AT" sz="1600" dirty="0"/>
              <a:t> </a:t>
            </a:r>
            <a:r>
              <a:rPr lang="de-AT" sz="1600" dirty="0" err="1"/>
              <a:t>likely</a:t>
            </a:r>
            <a:r>
              <a:rPr lang="de-AT" sz="1600" dirty="0"/>
              <a:t> (</a:t>
            </a:r>
            <a:r>
              <a:rPr lang="de-AT" sz="1600" dirty="0" err="1"/>
              <a:t>regulatory</a:t>
            </a:r>
            <a:r>
              <a:rPr lang="de-AT" sz="1600" dirty="0"/>
              <a:t> </a:t>
            </a:r>
            <a:r>
              <a:rPr lang="de-AT" sz="1600" dirty="0" err="1"/>
              <a:t>changes</a:t>
            </a:r>
            <a:r>
              <a:rPr lang="de-AT" sz="1600" dirty="0"/>
              <a:t>, </a:t>
            </a:r>
            <a:r>
              <a:rPr lang="de-AT" sz="1600" dirty="0" err="1"/>
              <a:t>further</a:t>
            </a:r>
            <a:r>
              <a:rPr lang="de-AT" sz="1600" dirty="0"/>
              <a:t> </a:t>
            </a:r>
            <a:r>
              <a:rPr lang="de-AT" sz="1600" dirty="0" err="1"/>
              <a:t>exogenous</a:t>
            </a:r>
            <a:r>
              <a:rPr lang="de-AT" sz="1600" dirty="0"/>
              <a:t> </a:t>
            </a:r>
            <a:r>
              <a:rPr lang="de-AT" sz="1600" dirty="0" err="1"/>
              <a:t>shocks</a:t>
            </a:r>
            <a:r>
              <a:rPr lang="de-AT" sz="1600" dirty="0"/>
              <a:t>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 err="1"/>
              <a:t>Longer</a:t>
            </a:r>
            <a:r>
              <a:rPr lang="de-AT" sz="1600" dirty="0"/>
              <a:t> </a:t>
            </a:r>
            <a:r>
              <a:rPr lang="de-AT" sz="1600" dirty="0" err="1"/>
              <a:t>training</a:t>
            </a:r>
            <a:r>
              <a:rPr lang="de-AT" sz="1600" dirty="0"/>
              <a:t> </a:t>
            </a:r>
            <a:r>
              <a:rPr lang="de-AT" sz="1600" dirty="0" err="1"/>
              <a:t>period</a:t>
            </a:r>
            <a:r>
              <a:rPr lang="de-AT" sz="1600" dirty="0"/>
              <a:t> will </a:t>
            </a:r>
            <a:r>
              <a:rPr lang="de-AT" sz="1600" dirty="0" err="1"/>
              <a:t>increase</a:t>
            </a:r>
            <a:r>
              <a:rPr lang="de-AT" sz="1600" dirty="0"/>
              <a:t> </a:t>
            </a:r>
            <a:r>
              <a:rPr lang="de-AT" sz="1600" dirty="0" err="1"/>
              <a:t>value</a:t>
            </a:r>
            <a:r>
              <a:rPr lang="de-AT" sz="1600" dirty="0"/>
              <a:t> of ARIMA(X) </a:t>
            </a:r>
            <a:r>
              <a:rPr lang="de-AT" sz="1600" dirty="0" err="1"/>
              <a:t>model</a:t>
            </a:r>
            <a:r>
              <a:rPr lang="de-AT" sz="1600" dirty="0"/>
              <a:t> </a:t>
            </a:r>
            <a:r>
              <a:rPr lang="de-AT" sz="1600" dirty="0" err="1"/>
              <a:t>again</a:t>
            </a:r>
            <a:endParaRPr lang="de-AT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3436"/>
                </a:solidFill>
                <a:latin typeface="Aptos"/>
              </a:defRPr>
            </a:pPr>
            <a:r>
              <a:rPr lang="de-AT" sz="1600" dirty="0"/>
              <a:t>Try log-transformation </a:t>
            </a:r>
            <a:r>
              <a:rPr lang="de-AT" sz="1600" dirty="0" err="1"/>
              <a:t>next</a:t>
            </a:r>
            <a:r>
              <a:rPr lang="de-AT" sz="1600" dirty="0"/>
              <a:t> time to </a:t>
            </a:r>
            <a:r>
              <a:rPr lang="de-AT" sz="1600" dirty="0" err="1"/>
              <a:t>better</a:t>
            </a:r>
            <a:r>
              <a:rPr lang="de-AT" sz="1600" dirty="0"/>
              <a:t> deal </a:t>
            </a:r>
            <a:r>
              <a:rPr lang="de-AT" sz="1600" dirty="0" err="1"/>
              <a:t>with</a:t>
            </a:r>
            <a:r>
              <a:rPr lang="de-AT" sz="1600" dirty="0"/>
              <a:t> </a:t>
            </a:r>
            <a:r>
              <a:rPr lang="de-AT" sz="1600" dirty="0" err="1"/>
              <a:t>variance</a:t>
            </a:r>
            <a:endParaRPr lang="de-AT" sz="1600" dirty="0"/>
          </a:p>
        </p:txBody>
      </p:sp>
    </p:spTree>
    <p:extLst>
      <p:ext uri="{BB962C8B-B14F-4D97-AF65-F5344CB8AC3E}">
        <p14:creationId xmlns:p14="http://schemas.microsoft.com/office/powerpoint/2010/main" val="1160853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346E6D0-C98C-B905-A837-D6512519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E9B99-28CA-62A4-851E-8228EE12FD58}"/>
              </a:ext>
            </a:extLst>
          </p:cNvPr>
          <p:cNvSpPr txBox="1"/>
          <p:nvPr/>
        </p:nvSpPr>
        <p:spPr>
          <a:xfrm>
            <a:off x="731520" y="548640"/>
            <a:ext cx="564603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5F7C"/>
                </a:solidFill>
                <a:latin typeface="Aptos Display"/>
              </a:defRPr>
            </a:pPr>
            <a:r>
              <a:rPr lang="de-AT" dirty="0"/>
              <a:t>Time-Series </a:t>
            </a:r>
            <a:r>
              <a:rPr lang="de-AT" dirty="0" err="1"/>
              <a:t>Decomposition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85E37C-8321-7A36-57B0-5739625910E9}"/>
              </a:ext>
            </a:extLst>
          </p:cNvPr>
          <p:cNvSpPr/>
          <p:nvPr/>
        </p:nvSpPr>
        <p:spPr>
          <a:xfrm>
            <a:off x="731520" y="1188720"/>
            <a:ext cx="7680960" cy="9144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02BE5-CAF9-6C5B-5AAC-84BD0BCF3B55}"/>
              </a:ext>
            </a:extLst>
          </p:cNvPr>
          <p:cNvSpPr txBox="1"/>
          <p:nvPr/>
        </p:nvSpPr>
        <p:spPr>
          <a:xfrm>
            <a:off x="8338628" y="6400800"/>
            <a:ext cx="34817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7355"/>
                </a:solidFill>
                <a:latin typeface="Aptos"/>
              </a:defRPr>
            </a:pPr>
            <a:r>
              <a:rPr lang="de-AT" dirty="0"/>
              <a:t>11</a:t>
            </a:r>
            <a:endParaRPr dirty="0"/>
          </a:p>
        </p:txBody>
      </p:sp>
      <p:pic>
        <p:nvPicPr>
          <p:cNvPr id="6" name="Grafik 5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F099C630-CB98-E62E-CA88-375D2B8B1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797" y="1380976"/>
            <a:ext cx="6090812" cy="4830926"/>
          </a:xfrm>
          <a:prstGeom prst="rect">
            <a:avLst/>
          </a:prstGeom>
        </p:spPr>
      </p:pic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A487779-610B-3F9A-1DC1-224A8EABFCC0}"/>
              </a:ext>
            </a:extLst>
          </p:cNvPr>
          <p:cNvCxnSpPr>
            <a:cxnSpLocks/>
          </p:cNvCxnSpPr>
          <p:nvPr/>
        </p:nvCxnSpPr>
        <p:spPr>
          <a:xfrm>
            <a:off x="4415101" y="1562100"/>
            <a:ext cx="0" cy="4448175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EA0C0504-F85E-E745-61FB-66AABAAAC99C}"/>
              </a:ext>
            </a:extLst>
          </p:cNvPr>
          <p:cNvSpPr txBox="1"/>
          <p:nvPr/>
        </p:nvSpPr>
        <p:spPr>
          <a:xfrm>
            <a:off x="4947968" y="6123111"/>
            <a:ext cx="129234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sz="900" dirty="0"/>
              <a:t>&lt;&lt; </a:t>
            </a:r>
            <a:r>
              <a:rPr lang="de-AT" sz="900" dirty="0" err="1"/>
              <a:t>longest</a:t>
            </a:r>
            <a:r>
              <a:rPr lang="de-AT" sz="900" dirty="0"/>
              <a:t> possible &gt;&gt;</a:t>
            </a:r>
            <a:br>
              <a:rPr lang="de-AT" sz="900" dirty="0"/>
            </a:br>
            <a:r>
              <a:rPr lang="de-AT" sz="900" dirty="0" err="1"/>
              <a:t>training</a:t>
            </a:r>
            <a:r>
              <a:rPr lang="de-AT" sz="900" dirty="0"/>
              <a:t> </a:t>
            </a:r>
            <a:r>
              <a:rPr lang="de-AT" sz="900" dirty="0" err="1"/>
              <a:t>period</a:t>
            </a:r>
            <a:r>
              <a:rPr lang="de-AT" sz="900" dirty="0"/>
              <a:t> ARIMAX</a:t>
            </a:r>
          </a:p>
          <a:p>
            <a:pPr algn="ctr"/>
            <a:r>
              <a:rPr lang="de-AT" sz="900" dirty="0"/>
              <a:t>n=48 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551009A-0C64-3FC4-9FA2-0C91FB9B281B}"/>
              </a:ext>
            </a:extLst>
          </p:cNvPr>
          <p:cNvSpPr/>
          <p:nvPr/>
        </p:nvSpPr>
        <p:spPr>
          <a:xfrm>
            <a:off x="6610351" y="1511300"/>
            <a:ext cx="888257" cy="4622068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147772B-6531-CCE8-3E85-046706B5F50D}"/>
              </a:ext>
            </a:extLst>
          </p:cNvPr>
          <p:cNvSpPr txBox="1"/>
          <p:nvPr/>
        </p:nvSpPr>
        <p:spPr>
          <a:xfrm>
            <a:off x="6817951" y="6172635"/>
            <a:ext cx="51648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sz="900" dirty="0" err="1"/>
              <a:t>test</a:t>
            </a:r>
            <a:endParaRPr lang="de-AT" sz="900" dirty="0"/>
          </a:p>
          <a:p>
            <a:pPr algn="ctr"/>
            <a:r>
              <a:rPr lang="de-AT" sz="900" dirty="0" err="1"/>
              <a:t>Period</a:t>
            </a:r>
            <a:r>
              <a:rPr lang="de-AT" sz="900" dirty="0"/>
              <a:t> </a:t>
            </a:r>
            <a:br>
              <a:rPr lang="de-AT" sz="900" dirty="0"/>
            </a:br>
            <a:r>
              <a:rPr lang="de-AT" sz="900" dirty="0"/>
              <a:t>n=18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0EE7397-2203-CC9A-E3AB-F2F2471784E2}"/>
              </a:ext>
            </a:extLst>
          </p:cNvPr>
          <p:cNvCxnSpPr>
            <a:cxnSpLocks/>
          </p:cNvCxnSpPr>
          <p:nvPr/>
        </p:nvCxnSpPr>
        <p:spPr>
          <a:xfrm>
            <a:off x="6610351" y="1598246"/>
            <a:ext cx="0" cy="4448175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479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4966362-0D12-E26F-A562-798EC7E92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FF5F35-9B82-890A-6E59-381C3DA1E81D}"/>
              </a:ext>
            </a:extLst>
          </p:cNvPr>
          <p:cNvSpPr txBox="1"/>
          <p:nvPr/>
        </p:nvSpPr>
        <p:spPr>
          <a:xfrm>
            <a:off x="731520" y="548640"/>
            <a:ext cx="397538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5F7C"/>
                </a:solidFill>
                <a:latin typeface="Aptos Display"/>
              </a:defRPr>
            </a:pPr>
            <a:r>
              <a:rPr lang="de-AT" dirty="0" err="1"/>
              <a:t>Determining</a:t>
            </a:r>
            <a:r>
              <a:rPr lang="de-AT" dirty="0"/>
              <a:t> (</a:t>
            </a:r>
            <a:r>
              <a:rPr lang="de-AT" dirty="0" err="1"/>
              <a:t>p,d,q</a:t>
            </a:r>
            <a:r>
              <a:rPr lang="de-AT" dirty="0"/>
              <a:t>)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5BFECC-CDEF-AEEC-8EDD-89FDAEE9CECF}"/>
              </a:ext>
            </a:extLst>
          </p:cNvPr>
          <p:cNvSpPr/>
          <p:nvPr/>
        </p:nvSpPr>
        <p:spPr>
          <a:xfrm>
            <a:off x="731520" y="1188720"/>
            <a:ext cx="7680960" cy="9144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Grafik 9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73BF91EA-CA2B-F575-55B2-EB0C536AE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52" y="2226637"/>
            <a:ext cx="8821695" cy="247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37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2D690-6120-E696-D560-7569FBDCB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7CCA65-32BC-4C35-B37E-C5F6011890D6}"/>
              </a:ext>
            </a:extLst>
          </p:cNvPr>
          <p:cNvSpPr txBox="1"/>
          <p:nvPr/>
        </p:nvSpPr>
        <p:spPr>
          <a:xfrm>
            <a:off x="731520" y="548640"/>
            <a:ext cx="397538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5F7C"/>
                </a:solidFill>
                <a:latin typeface="Aptos Display"/>
              </a:defRPr>
            </a:pPr>
            <a:r>
              <a:rPr lang="de-AT" dirty="0" err="1"/>
              <a:t>Determining</a:t>
            </a:r>
            <a:r>
              <a:rPr lang="de-AT" dirty="0"/>
              <a:t> (</a:t>
            </a:r>
            <a:r>
              <a:rPr lang="de-AT" dirty="0" err="1"/>
              <a:t>p,d,q</a:t>
            </a:r>
            <a:r>
              <a:rPr lang="de-AT" dirty="0"/>
              <a:t>)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24DE3B-775B-4DF9-F446-C49A797A8B66}"/>
              </a:ext>
            </a:extLst>
          </p:cNvPr>
          <p:cNvSpPr/>
          <p:nvPr/>
        </p:nvSpPr>
        <p:spPr>
          <a:xfrm>
            <a:off x="731520" y="1188720"/>
            <a:ext cx="7680960" cy="9144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Grafik 4" descr="Ein Bild, das Text, Zahl, Reihe, parallel enthält.&#10;&#10;KI-generierte Inhalte können fehlerhaft sein.">
            <a:extLst>
              <a:ext uri="{FF2B5EF4-FFF2-40B4-BE49-F238E27FC236}">
                <a16:creationId xmlns:a16="http://schemas.microsoft.com/office/drawing/2014/main" id="{7AE2134A-13CB-E782-7AC8-ACFEC6D5D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630"/>
            <a:ext cx="9144000" cy="651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95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99BADB7-04B4-10E2-D39E-E9BCABA6D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DE0427-0076-4F08-B469-8EAB393E1246}"/>
              </a:ext>
            </a:extLst>
          </p:cNvPr>
          <p:cNvSpPr txBox="1"/>
          <p:nvPr/>
        </p:nvSpPr>
        <p:spPr>
          <a:xfrm>
            <a:off x="731520" y="548640"/>
            <a:ext cx="67349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5F7C"/>
                </a:solidFill>
                <a:latin typeface="Aptos Display"/>
              </a:defRPr>
            </a:pPr>
            <a:r>
              <a:rPr lang="de-AT" dirty="0"/>
              <a:t>Software Development – Pipeline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43FAC2-C359-8BDF-935A-56F32A8BFE00}"/>
              </a:ext>
            </a:extLst>
          </p:cNvPr>
          <p:cNvSpPr/>
          <p:nvPr/>
        </p:nvSpPr>
        <p:spPr>
          <a:xfrm>
            <a:off x="731520" y="1188720"/>
            <a:ext cx="7680960" cy="9144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E7134-C88C-AB89-ACA9-17D9137C1E23}"/>
              </a:ext>
            </a:extLst>
          </p:cNvPr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735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586C283-DDBD-0155-00B2-D5479B332D0C}"/>
              </a:ext>
            </a:extLst>
          </p:cNvPr>
          <p:cNvSpPr txBox="1"/>
          <p:nvPr/>
        </p:nvSpPr>
        <p:spPr>
          <a:xfrm>
            <a:off x="8338628" y="6400800"/>
            <a:ext cx="34817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7355"/>
                </a:solidFill>
                <a:latin typeface="Aptos"/>
              </a:defRPr>
            </a:pPr>
            <a:r>
              <a:rPr lang="de-AT" dirty="0"/>
              <a:t>12</a:t>
            </a:r>
            <a:endParaRPr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FDA5AC3-677C-7614-8872-09A8A6590678}"/>
              </a:ext>
            </a:extLst>
          </p:cNvPr>
          <p:cNvSpPr/>
          <p:nvPr/>
        </p:nvSpPr>
        <p:spPr>
          <a:xfrm>
            <a:off x="731266" y="1259775"/>
            <a:ext cx="2527540" cy="952356"/>
          </a:xfrm>
          <a:prstGeom prst="roundRect">
            <a:avLst/>
          </a:prstGeom>
          <a:solidFill>
            <a:srgbClr val="F5F6FA"/>
          </a:solidFill>
          <a:ln w="25400">
            <a:solidFill>
              <a:srgbClr val="2C5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de-AT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[01_electricity]</a:t>
            </a:r>
          </a:p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electricity_consolidated.csv </a:t>
            </a:r>
            <a:r>
              <a:rPr lang="en-US" sz="1200" dirty="0"/>
              <a:t>(daily + weekly + monthly)</a:t>
            </a:r>
            <a:endParaRPr sz="1050" dirty="0"/>
          </a:p>
        </p:txBody>
      </p:sp>
      <p:cxnSp>
        <p:nvCxnSpPr>
          <p:cNvPr id="10" name="Connector 4">
            <a:extLst>
              <a:ext uri="{FF2B5EF4-FFF2-40B4-BE49-F238E27FC236}">
                <a16:creationId xmlns:a16="http://schemas.microsoft.com/office/drawing/2014/main" id="{7726AA20-9768-09E9-2E29-3B3CF06AFA90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3258806" y="1733324"/>
            <a:ext cx="1220640" cy="2629"/>
          </a:xfrm>
          <a:prstGeom prst="line">
            <a:avLst/>
          </a:prstGeom>
          <a:ln w="38100">
            <a:solidFill>
              <a:srgbClr val="5A9E6F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58C0196D-BF96-AADA-C917-1F89D77F7D87}"/>
              </a:ext>
            </a:extLst>
          </p:cNvPr>
          <p:cNvSpPr>
            <a:spLocks/>
          </p:cNvSpPr>
          <p:nvPr/>
        </p:nvSpPr>
        <p:spPr>
          <a:xfrm>
            <a:off x="4479446" y="1256324"/>
            <a:ext cx="2527200" cy="954000"/>
          </a:xfrm>
          <a:prstGeom prst="roundRect">
            <a:avLst/>
          </a:prstGeom>
          <a:solidFill>
            <a:srgbClr val="F5F6FA"/>
          </a:solidFill>
          <a:ln w="25400">
            <a:solidFill>
              <a:srgbClr val="2C5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de-AT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[02_carbon]</a:t>
            </a:r>
            <a:r>
              <a:rPr lang="de-AT" sz="1600" dirty="0"/>
              <a:t> </a:t>
            </a:r>
            <a:r>
              <a:rPr lang="en-US" sz="1200" dirty="0"/>
              <a:t>+ electricity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data_consolidated.csv</a:t>
            </a:r>
            <a:r>
              <a:rPr lang="en-US" sz="1200" dirty="0"/>
              <a:t> (daily + weekly + monthly)</a:t>
            </a:r>
            <a:endParaRPr sz="900" dirty="0"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4CA40F73-7BE8-06D7-E3B7-A5AF4C7D3FA5}"/>
              </a:ext>
            </a:extLst>
          </p:cNvPr>
          <p:cNvSpPr/>
          <p:nvPr/>
        </p:nvSpPr>
        <p:spPr>
          <a:xfrm>
            <a:off x="731606" y="4022024"/>
            <a:ext cx="2527200" cy="954000"/>
          </a:xfrm>
          <a:prstGeom prst="roundRect">
            <a:avLst/>
          </a:prstGeom>
          <a:solidFill>
            <a:srgbClr val="F5F6FA"/>
          </a:solidFill>
          <a:ln w="25400">
            <a:solidFill>
              <a:srgbClr val="2C5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de-AT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[05_gas] </a:t>
            </a:r>
            <a:r>
              <a:rPr lang="en-US" sz="1200" dirty="0"/>
              <a:t>+ consolidated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data_consolidated.csv </a:t>
            </a:r>
            <a:r>
              <a:rPr lang="en-US" sz="1200" dirty="0"/>
              <a:t>(monthly only added)</a:t>
            </a:r>
            <a:endParaRPr dirty="0"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372C99D4-77B2-B3B1-BA19-D7F58B0FBB82}"/>
              </a:ext>
            </a:extLst>
          </p:cNvPr>
          <p:cNvSpPr>
            <a:spLocks/>
          </p:cNvSpPr>
          <p:nvPr/>
        </p:nvSpPr>
        <p:spPr>
          <a:xfrm>
            <a:off x="731266" y="2639174"/>
            <a:ext cx="2527200" cy="954000"/>
          </a:xfrm>
          <a:prstGeom prst="roundRect">
            <a:avLst/>
          </a:prstGeom>
          <a:solidFill>
            <a:srgbClr val="F5F6FA"/>
          </a:solidFill>
          <a:ln w="25400">
            <a:solidFill>
              <a:srgbClr val="2C5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de-AT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[03_climate]</a:t>
            </a:r>
          </a:p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en-US" sz="1200" dirty="0"/>
              <a:t>+ consolidated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data_consolidated.csv </a:t>
            </a:r>
            <a:r>
              <a:rPr lang="en-US" sz="1200" dirty="0"/>
              <a:t>(monthly only added)</a:t>
            </a:r>
            <a:endParaRPr sz="1050" dirty="0"/>
          </a:p>
        </p:txBody>
      </p: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71532226-C07C-63BC-66D5-8910724FA3E0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1994866" y="1733324"/>
            <a:ext cx="5011780" cy="905850"/>
          </a:xfrm>
          <a:prstGeom prst="bentConnector4">
            <a:avLst>
              <a:gd name="adj1" fmla="val -4561"/>
              <a:gd name="adj2" fmla="val 76329"/>
            </a:avLst>
          </a:prstGeom>
          <a:ln w="38100">
            <a:solidFill>
              <a:srgbClr val="5A9E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4">
            <a:extLst>
              <a:ext uri="{FF2B5EF4-FFF2-40B4-BE49-F238E27FC236}">
                <a16:creationId xmlns:a16="http://schemas.microsoft.com/office/drawing/2014/main" id="{EB86E9BE-728C-5B02-AA80-7A8DC10063D7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3258466" y="3116174"/>
            <a:ext cx="1220980" cy="0"/>
          </a:xfrm>
          <a:prstGeom prst="line">
            <a:avLst/>
          </a:prstGeom>
          <a:ln w="38100">
            <a:solidFill>
              <a:srgbClr val="5A9E6F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7FC60EA0-A121-23AD-48F2-633ACFD9A42B}"/>
              </a:ext>
            </a:extLst>
          </p:cNvPr>
          <p:cNvSpPr/>
          <p:nvPr/>
        </p:nvSpPr>
        <p:spPr>
          <a:xfrm>
            <a:off x="4479446" y="2639174"/>
            <a:ext cx="2527200" cy="954000"/>
          </a:xfrm>
          <a:prstGeom prst="roundRect">
            <a:avLst/>
          </a:prstGeom>
          <a:solidFill>
            <a:srgbClr val="F5F6FA"/>
          </a:solidFill>
          <a:ln w="25400">
            <a:solidFill>
              <a:srgbClr val="2C5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de-AT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[04_production]</a:t>
            </a:r>
            <a:r>
              <a:rPr lang="de-AT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dirty="0"/>
              <a:t>+ consolidated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data_consolidated.csv </a:t>
            </a:r>
            <a:r>
              <a:rPr lang="en-US" sz="1200" dirty="0"/>
              <a:t>(monthly only added)</a:t>
            </a:r>
            <a:endParaRPr sz="1050" dirty="0"/>
          </a:p>
        </p:txBody>
      </p: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D4CEC8A2-A88A-0ECE-90CB-E23CA134ED77}"/>
              </a:ext>
            </a:extLst>
          </p:cNvPr>
          <p:cNvCxnSpPr>
            <a:cxnSpLocks/>
            <a:stCxn id="16" idx="3"/>
            <a:endCxn id="12" idx="0"/>
          </p:cNvCxnSpPr>
          <p:nvPr/>
        </p:nvCxnSpPr>
        <p:spPr>
          <a:xfrm flipH="1">
            <a:off x="1995206" y="3116174"/>
            <a:ext cx="5011440" cy="905850"/>
          </a:xfrm>
          <a:prstGeom prst="bentConnector4">
            <a:avLst>
              <a:gd name="adj1" fmla="val -4562"/>
              <a:gd name="adj2" fmla="val 76329"/>
            </a:avLst>
          </a:prstGeom>
          <a:ln w="38100">
            <a:solidFill>
              <a:srgbClr val="5A9E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2BD7D538-4C15-71A9-ED6D-E795E8E80DC1}"/>
              </a:ext>
            </a:extLst>
          </p:cNvPr>
          <p:cNvSpPr/>
          <p:nvPr/>
        </p:nvSpPr>
        <p:spPr>
          <a:xfrm>
            <a:off x="4500756" y="4022024"/>
            <a:ext cx="2527200" cy="954000"/>
          </a:xfrm>
          <a:prstGeom prst="roundRect">
            <a:avLst/>
          </a:prstGeom>
          <a:solidFill>
            <a:srgbClr val="F5F6FA"/>
          </a:solidFill>
          <a:ln w="25400">
            <a:solidFill>
              <a:srgbClr val="2C5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de-AT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[06_economy] </a:t>
            </a:r>
            <a:r>
              <a:rPr lang="en-US" sz="1200" dirty="0"/>
              <a:t>+ consolidated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data_consolidated.csv </a:t>
            </a:r>
            <a:r>
              <a:rPr lang="en-US" sz="1200" dirty="0"/>
              <a:t>(monthly only added)</a:t>
            </a:r>
            <a:endParaRPr lang="de-AT" dirty="0"/>
          </a:p>
        </p:txBody>
      </p:sp>
      <p:cxnSp>
        <p:nvCxnSpPr>
          <p:cNvPr id="19" name="Connector 4">
            <a:extLst>
              <a:ext uri="{FF2B5EF4-FFF2-40B4-BE49-F238E27FC236}">
                <a16:creationId xmlns:a16="http://schemas.microsoft.com/office/drawing/2014/main" id="{15A2AB9A-04E3-7212-7A97-CA5409F4BD90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3258806" y="4499024"/>
            <a:ext cx="1241950" cy="0"/>
          </a:xfrm>
          <a:prstGeom prst="line">
            <a:avLst/>
          </a:prstGeom>
          <a:ln w="38100">
            <a:solidFill>
              <a:srgbClr val="5A9E6F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5B160BE0-A22B-4B58-F615-89046686AB2F}"/>
              </a:ext>
            </a:extLst>
          </p:cNvPr>
          <p:cNvSpPr/>
          <p:nvPr/>
        </p:nvSpPr>
        <p:spPr>
          <a:xfrm>
            <a:off x="731606" y="5677939"/>
            <a:ext cx="2527200" cy="954000"/>
          </a:xfrm>
          <a:prstGeom prst="roundRect">
            <a:avLst/>
          </a:prstGeom>
          <a:solidFill>
            <a:srgbClr val="F5F6FA"/>
          </a:solidFill>
          <a:ln w="25400">
            <a:solidFill>
              <a:srgbClr val="2C5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data_consolidated.csv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data_analysis_ready.csv </a:t>
            </a:r>
            <a:endParaRPr dirty="0"/>
          </a:p>
        </p:txBody>
      </p:sp>
      <p:cxnSp>
        <p:nvCxnSpPr>
          <p:cNvPr id="25" name="Verbinder: gewinkelt 24">
            <a:extLst>
              <a:ext uri="{FF2B5EF4-FFF2-40B4-BE49-F238E27FC236}">
                <a16:creationId xmlns:a16="http://schemas.microsoft.com/office/drawing/2014/main" id="{0E94FDD0-D52E-F6A9-37D7-1A23AC38786B}"/>
              </a:ext>
            </a:extLst>
          </p:cNvPr>
          <p:cNvCxnSpPr>
            <a:cxnSpLocks/>
            <a:stCxn id="18" idx="3"/>
            <a:endCxn id="6" idx="0"/>
          </p:cNvCxnSpPr>
          <p:nvPr/>
        </p:nvCxnSpPr>
        <p:spPr>
          <a:xfrm flipH="1">
            <a:off x="1995206" y="4499024"/>
            <a:ext cx="5032750" cy="1178915"/>
          </a:xfrm>
          <a:prstGeom prst="bentConnector4">
            <a:avLst>
              <a:gd name="adj1" fmla="val -4542"/>
              <a:gd name="adj2" fmla="val 70230"/>
            </a:avLst>
          </a:prstGeom>
          <a:ln w="5715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C5A8A65B-922D-FABC-E9C3-FD0EAE7FD721}"/>
              </a:ext>
            </a:extLst>
          </p:cNvPr>
          <p:cNvSpPr txBox="1"/>
          <p:nvPr/>
        </p:nvSpPr>
        <p:spPr>
          <a:xfrm>
            <a:off x="2596815" y="4983005"/>
            <a:ext cx="3358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[EDA]</a:t>
            </a:r>
            <a:r>
              <a:rPr lang="de-AT" sz="1800" dirty="0"/>
              <a:t> + </a:t>
            </a:r>
            <a:r>
              <a:rPr lang="de-AT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</a:t>
            </a:r>
            <a:r>
              <a:rPr lang="de-AT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feature_engineering</a:t>
            </a:r>
            <a:r>
              <a:rPr lang="de-AT" dirty="0">
                <a:solidFill>
                  <a:schemeClr val="tx2">
                    <a:lumMod val="60000"/>
                    <a:lumOff val="40000"/>
                  </a:schemeClr>
                </a:solidFill>
              </a:rPr>
              <a:t>]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53A7463-237B-2545-6BF7-52737BE15478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258806" y="6154939"/>
            <a:ext cx="1252775" cy="6980"/>
          </a:xfrm>
          <a:prstGeom prst="straightConnector1">
            <a:avLst/>
          </a:prstGeom>
          <a:ln w="5715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4EA99418-A29A-976F-C640-7291FECB7344}"/>
              </a:ext>
            </a:extLst>
          </p:cNvPr>
          <p:cNvSpPr txBox="1"/>
          <p:nvPr/>
        </p:nvSpPr>
        <p:spPr>
          <a:xfrm>
            <a:off x="7559714" y="1735953"/>
            <a:ext cx="14210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800" dirty="0">
                <a:solidFill>
                  <a:schemeClr val="accent6"/>
                </a:solidFill>
              </a:rPr>
              <a:t> </a:t>
            </a:r>
            <a:r>
              <a:rPr lang="de-AT" sz="1800" dirty="0" err="1">
                <a:solidFill>
                  <a:schemeClr val="accent6"/>
                </a:solidFill>
              </a:rPr>
              <a:t>data_file</a:t>
            </a:r>
            <a:endParaRPr lang="de-AT" sz="1800" dirty="0">
              <a:solidFill>
                <a:schemeClr val="accent6"/>
              </a:solidFill>
            </a:endParaRPr>
          </a:p>
          <a:p>
            <a:r>
              <a:rPr lang="de-AT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</a:t>
            </a:r>
            <a:r>
              <a:rPr lang="de-AT" sz="18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notebook</a:t>
            </a:r>
            <a:r>
              <a:rPr lang="de-AT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]</a:t>
            </a:r>
            <a:endParaRPr lang="de-AT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Rounded Rectangle 7">
            <a:extLst>
              <a:ext uri="{FF2B5EF4-FFF2-40B4-BE49-F238E27FC236}">
                <a16:creationId xmlns:a16="http://schemas.microsoft.com/office/drawing/2014/main" id="{02317C99-1A3D-19AE-9E6B-3E82336A2F3B}"/>
              </a:ext>
            </a:extLst>
          </p:cNvPr>
          <p:cNvSpPr/>
          <p:nvPr/>
        </p:nvSpPr>
        <p:spPr>
          <a:xfrm>
            <a:off x="4621596" y="5698807"/>
            <a:ext cx="2527200" cy="954000"/>
          </a:xfrm>
          <a:prstGeom prst="roundRect">
            <a:avLst/>
          </a:prstGeom>
          <a:solidFill>
            <a:srgbClr val="F5F6FA"/>
          </a:solidFill>
          <a:ln w="25400">
            <a:solidFill>
              <a:srgbClr val="2C5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  <a:latin typeface="Aptos"/>
              </a:defRPr>
            </a:pPr>
            <a:r>
              <a:rPr lang="de-AT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</a:t>
            </a:r>
            <a:r>
              <a:rPr lang="de-AT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model_building</a:t>
            </a:r>
            <a:r>
              <a:rPr lang="de-AT" dirty="0">
                <a:solidFill>
                  <a:schemeClr val="tx2">
                    <a:lumMod val="60000"/>
                    <a:lumOff val="40000"/>
                  </a:schemeClr>
                </a:solidFill>
              </a:rPr>
              <a:t>]</a:t>
            </a:r>
            <a:r>
              <a:rPr lang="de-AT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data_analysis_ready.csv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data_tableau.csv </a:t>
            </a:r>
            <a:endParaRPr dirty="0"/>
          </a:p>
        </p:txBody>
      </p:sp>
      <p:cxnSp>
        <p:nvCxnSpPr>
          <p:cNvPr id="46" name="Verbinder: gewinkelt 45">
            <a:extLst>
              <a:ext uri="{FF2B5EF4-FFF2-40B4-BE49-F238E27FC236}">
                <a16:creationId xmlns:a16="http://schemas.microsoft.com/office/drawing/2014/main" id="{B54FCA7A-5886-636C-6AF9-4DFF18D67D3F}"/>
              </a:ext>
            </a:extLst>
          </p:cNvPr>
          <p:cNvCxnSpPr>
            <a:cxnSpLocks/>
          </p:cNvCxnSpPr>
          <p:nvPr/>
        </p:nvCxnSpPr>
        <p:spPr>
          <a:xfrm>
            <a:off x="7498962" y="2510579"/>
            <a:ext cx="535774" cy="309706"/>
          </a:xfrm>
          <a:prstGeom prst="bentConnector3">
            <a:avLst>
              <a:gd name="adj1" fmla="val 50000"/>
            </a:avLst>
          </a:prstGeom>
          <a:ln w="38100">
            <a:solidFill>
              <a:srgbClr val="5A9E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F05CE762-E2F4-177D-2C8A-B6FCAE7A78EB}"/>
              </a:ext>
            </a:extLst>
          </p:cNvPr>
          <p:cNvSpPr txBox="1"/>
          <p:nvPr/>
        </p:nvSpPr>
        <p:spPr>
          <a:xfrm>
            <a:off x="7961528" y="2454508"/>
            <a:ext cx="1421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800" dirty="0"/>
              <a:t> script.py</a:t>
            </a:r>
            <a:endParaRPr lang="de-AT" dirty="0"/>
          </a:p>
        </p:txBody>
      </p:sp>
      <p:cxnSp>
        <p:nvCxnSpPr>
          <p:cNvPr id="50" name="Verbinder: gewinkelt 49">
            <a:extLst>
              <a:ext uri="{FF2B5EF4-FFF2-40B4-BE49-F238E27FC236}">
                <a16:creationId xmlns:a16="http://schemas.microsoft.com/office/drawing/2014/main" id="{47CB8C30-5207-09CF-C037-FEEBE171B1CC}"/>
              </a:ext>
            </a:extLst>
          </p:cNvPr>
          <p:cNvCxnSpPr>
            <a:cxnSpLocks/>
          </p:cNvCxnSpPr>
          <p:nvPr/>
        </p:nvCxnSpPr>
        <p:spPr>
          <a:xfrm>
            <a:off x="7572170" y="3162720"/>
            <a:ext cx="535774" cy="309706"/>
          </a:xfrm>
          <a:prstGeom prst="bentConnector3">
            <a:avLst>
              <a:gd name="adj1" fmla="val 50000"/>
            </a:avLst>
          </a:prstGeom>
          <a:ln w="38100">
            <a:solidFill>
              <a:srgbClr val="A2C9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9055B998-7340-750F-1EE3-D93F8207845A}"/>
              </a:ext>
            </a:extLst>
          </p:cNvPr>
          <p:cNvSpPr txBox="1"/>
          <p:nvPr/>
        </p:nvSpPr>
        <p:spPr>
          <a:xfrm>
            <a:off x="8006161" y="3128206"/>
            <a:ext cx="1421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800" dirty="0"/>
              <a:t> </a:t>
            </a:r>
            <a:r>
              <a:rPr lang="de-AT" sz="1800" dirty="0" err="1"/>
              <a:t>manual</a:t>
            </a:r>
            <a:endParaRPr lang="de-AT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25DA76A-CFD5-888C-E1B7-B4126B5765B7}"/>
              </a:ext>
            </a:extLst>
          </p:cNvPr>
          <p:cNvSpPr/>
          <p:nvPr/>
        </p:nvSpPr>
        <p:spPr>
          <a:xfrm>
            <a:off x="7405529" y="1681821"/>
            <a:ext cx="1584773" cy="227692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59100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77653" y="2286000"/>
            <a:ext cx="29887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5F6FA"/>
                </a:solidFill>
                <a:latin typeface="Aptos Display"/>
              </a:defRPr>
            </a:pPr>
            <a:r>
              <a:rPr lang="de-AT" dirty="0" err="1"/>
              <a:t>Thank</a:t>
            </a:r>
            <a:r>
              <a:rPr lang="de-AT" dirty="0"/>
              <a:t> </a:t>
            </a:r>
            <a:r>
              <a:rPr lang="de-AT" dirty="0" err="1"/>
              <a:t>you</a:t>
            </a:r>
            <a:r>
              <a:rPr lang="de-AT" dirty="0"/>
              <a:t>!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3200399" y="3036498"/>
            <a:ext cx="2743200" cy="18288"/>
          </a:xfrm>
          <a:prstGeom prst="rect">
            <a:avLst/>
          </a:prstGeom>
          <a:solidFill>
            <a:srgbClr val="5A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5516" y="4572000"/>
            <a:ext cx="709296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5F6FA"/>
                </a:solidFill>
                <a:latin typeface="Aptos"/>
              </a:defRPr>
            </a:pPr>
            <a:r>
              <a:rPr lang="de-AT" dirty="0"/>
              <a:t>paul.ringler@gmx.at</a:t>
            </a:r>
            <a:br>
              <a:rPr dirty="0"/>
            </a:br>
            <a:r>
              <a:rPr lang="de-AT" dirty="0"/>
              <a:t>https://github.com/Pringlebot/austrian_electricity_prices_capstone/tree/main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2968</Words>
  <Application>Microsoft Office PowerPoint</Application>
  <PresentationFormat>Bildschirmpräsentation (4:3)</PresentationFormat>
  <Paragraphs>304</Paragraphs>
  <Slides>15</Slides>
  <Notes>15</Notes>
  <HiddenSlides>6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Courier New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Paul Ringler</dc:creator>
  <cp:keywords/>
  <dc:description>generated using python-pptx</dc:description>
  <cp:lastModifiedBy>Paul Ringler (FORESIGHT)</cp:lastModifiedBy>
  <cp:revision>13</cp:revision>
  <dcterms:created xsi:type="dcterms:W3CDTF">2013-01-27T09:14:16Z</dcterms:created>
  <dcterms:modified xsi:type="dcterms:W3CDTF">2025-10-26T20:42:46Z</dcterms:modified>
  <cp:category/>
</cp:coreProperties>
</file>